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6858000" cy="9906000" type="A4"/>
  <p:notesSz cx="6858000"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24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AC57F34-DED1-4DEB-ACFA-04C34322BF99}" type="datetimeFigureOut">
              <a:rPr lang="de-DE" smtClean="0"/>
              <a:t>20.05.2026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172474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AC57F34-DED1-4DEB-ACFA-04C34322BF99}" type="datetimeFigureOut">
              <a:rPr lang="de-DE" smtClean="0"/>
              <a:t>20.05.2026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3081723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AC57F34-DED1-4DEB-ACFA-04C34322BF99}" type="datetimeFigureOut">
              <a:rPr lang="de-DE" smtClean="0"/>
              <a:t>20.05.2026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363986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AC57F34-DED1-4DEB-ACFA-04C34322BF99}" type="datetimeFigureOut">
              <a:rPr lang="de-DE" smtClean="0"/>
              <a:t>20.05.2026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2449806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AC57F34-DED1-4DEB-ACFA-04C34322BF99}" type="datetimeFigureOut">
              <a:rPr lang="de-DE" smtClean="0"/>
              <a:t>20.05.2026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1004044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AC57F34-DED1-4DEB-ACFA-04C34322BF99}" type="datetimeFigureOut">
              <a:rPr lang="de-DE" smtClean="0"/>
              <a:t>20.05.2026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3210991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C57F34-DED1-4DEB-ACFA-04C34322BF99}" type="datetimeFigureOut">
              <a:rPr lang="de-DE" smtClean="0"/>
              <a:t>20.05.2026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60085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AC57F34-DED1-4DEB-ACFA-04C34322BF99}" type="datetimeFigureOut">
              <a:rPr lang="de-DE" smtClean="0"/>
              <a:t>20.05.2026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2818615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AC57F34-DED1-4DEB-ACFA-04C34322BF99}" type="datetimeFigureOut">
              <a:rPr lang="de-DE" smtClean="0"/>
              <a:t>20.05.2026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361707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AC57F34-DED1-4DEB-ACFA-04C34322BF99}" type="datetimeFigureOut">
              <a:rPr lang="de-DE" smtClean="0"/>
              <a:t>20.05.2026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584693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AC57F34-DED1-4DEB-ACFA-04C34322BF99}" type="datetimeFigureOut">
              <a:rPr lang="de-DE" smtClean="0"/>
              <a:t>20.05.2026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A74C4A3-8C95-4759-85D6-72085CCAE65F}" type="slidenum">
              <a:rPr lang="de-DE" smtClean="0"/>
              <a:t>‹Nr.›</a:t>
            </a:fld>
            <a:endParaRPr lang="de-DE"/>
          </a:p>
        </p:txBody>
      </p:sp>
    </p:spTree>
    <p:extLst>
      <p:ext uri="{BB962C8B-B14F-4D97-AF65-F5344CB8AC3E}">
        <p14:creationId xmlns:p14="http://schemas.microsoft.com/office/powerpoint/2010/main" val="1474816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AC57F34-DED1-4DEB-ACFA-04C34322BF99}" type="datetimeFigureOut">
              <a:rPr lang="de-DE" smtClean="0"/>
              <a:t>20.05.2026</a:t>
            </a:fld>
            <a:endParaRPr lang="de-DE"/>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A74C4A3-8C95-4759-85D6-72085CCAE65F}" type="slidenum">
              <a:rPr lang="de-DE" smtClean="0"/>
              <a:t>‹Nr.›</a:t>
            </a:fld>
            <a:endParaRPr lang="de-DE"/>
          </a:p>
        </p:txBody>
      </p:sp>
    </p:spTree>
    <p:extLst>
      <p:ext uri="{BB962C8B-B14F-4D97-AF65-F5344CB8AC3E}">
        <p14:creationId xmlns:p14="http://schemas.microsoft.com/office/powerpoint/2010/main" val="2919032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E94E6760-48D3-82B4-765D-AD7C98A4CCB2}"/>
              </a:ext>
            </a:extLst>
          </p:cNvPr>
          <p:cNvSpPr txBox="1"/>
          <p:nvPr/>
        </p:nvSpPr>
        <p:spPr>
          <a:xfrm>
            <a:off x="-235039" y="-193185"/>
            <a:ext cx="7328078" cy="10418237"/>
          </a:xfrm>
          <a:prstGeom prst="rect">
            <a:avLst/>
          </a:prstGeom>
          <a:noFill/>
        </p:spPr>
        <p:txBody>
          <a:bodyPr wrap="square" rtlCol="0">
            <a:spAutoFit/>
          </a:bodyPr>
          <a:lstStyle/>
          <a:p>
            <a:pPr algn="just"/>
            <a:r>
              <a:rPr lang="en-US" sz="1100" noProof="0" dirty="0">
                <a:latin typeface="Courier New" panose="02070309020205020404" pitchFamily="49" charset="0"/>
                <a:cs typeface="Courier New" panose="02070309020205020404" pitchFamily="49" charset="0"/>
              </a:rPr>
              <a:t>embedded agent, perception, world generation, baseline, artificial intelligence, modulatory connection, artificial life, update function, Dale's law, substrate independence, recurrent connection, sign flip, Byte, grid world, fitness landscape, brain, emergence, convergence, state space, inhibitory, cross-cohort analysis, philosophy, adaptability, </a:t>
            </a:r>
            <a:r>
              <a:rPr lang="en-US" sz="1100" noProof="0" dirty="0" err="1">
                <a:latin typeface="Courier New" panose="02070309020205020404" pitchFamily="49" charset="0"/>
                <a:cs typeface="Courier New" panose="02070309020205020404" pitchFamily="49" charset="0"/>
              </a:rPr>
              <a:t>neuroevolution</a:t>
            </a:r>
            <a:r>
              <a:rPr lang="en-US" sz="1100" noProof="0" dirty="0">
                <a:latin typeface="Courier New" panose="02070309020205020404" pitchFamily="49" charset="0"/>
                <a:cs typeface="Courier New" panose="02070309020205020404" pitchFamily="49" charset="0"/>
              </a:rPr>
              <a:t>, CTRNN, population, parameter sweep, random baseline, modulatory neuron, computational neuroscience, elite selection, hand-crafted benchmark, action, synaptic weight, resource acquisition, two-level non-stationarity, tonic drive, weight matrix, activation function, random number generator, noise tolerance, nervous system, evolutionary algorithm, biology, evolutionary computation, generalization, open science, point mutation, continuous-time recurrent neural network, trajectory, agent-environment coupling, YAML, seed, ablation, complex systems, cognition, resampling, generation, connectome, behavioral </a:t>
            </a:r>
            <a:r>
              <a:rPr lang="en-US" sz="1100" noProof="0" dirty="0" err="1">
                <a:latin typeface="Courier New" panose="02070309020205020404" pitchFamily="49" charset="0"/>
                <a:cs typeface="Courier New" panose="02070309020205020404" pitchFamily="49" charset="0"/>
              </a:rPr>
              <a:t>repertoire,fitness</a:t>
            </a:r>
            <a:r>
              <a:rPr lang="en-US" sz="1100" noProof="0" dirty="0">
                <a:latin typeface="Courier New" panose="02070309020205020404" pitchFamily="49" charset="0"/>
                <a:cs typeface="Courier New" panose="02070309020205020404" pitchFamily="49" charset="0"/>
              </a:rPr>
              <a:t> function, systems neuroscience, HDF5, hyperparameter, diversity, energy, version control, bias term, movement bias, grid-foraging, minimum viable brain, simulation, exploration, information processing, exploitation, selection pressure, behavioral strategy, food pellet, visualizer, benchmark, adaptive behavior, directional bias, modelling, embodiment, oscillation, sensor, E/I ratio, theoretical neuroscience, research, excitatory, sign-constrained weights, </a:t>
            </a:r>
            <a:r>
              <a:rPr lang="en-US" sz="1100" noProof="0" dirty="0" err="1">
                <a:latin typeface="Courier New" panose="02070309020205020404" pitchFamily="49" charset="0"/>
                <a:cs typeface="Courier New" panose="02070309020205020404" pitchFamily="49" charset="0"/>
              </a:rPr>
              <a:t>NetworkX</a:t>
            </a:r>
            <a:r>
              <a:rPr lang="en-US" sz="1100" noProof="0" dirty="0">
                <a:latin typeface="Courier New" panose="02070309020205020404" pitchFamily="49" charset="0"/>
                <a:cs typeface="Courier New" panose="02070309020205020404" pitchFamily="49" charset="0"/>
              </a:rPr>
              <a:t> visualizer, fitness score, four-phase design, overfitting, sigmoid, matplotlib, common random numbers, phase transition, robustness, dynamical system, genetic algorithm, phase space, environment, reward, structural analysis, experimental design, phenotype, non-stationarity, runtime, intelligence, </a:t>
            </a:r>
            <a:r>
              <a:rPr lang="en-US" sz="1100" noProof="0" dirty="0" err="1">
                <a:latin typeface="Courier New" panose="02070309020205020404" pitchFamily="49" charset="0"/>
                <a:cs typeface="Courier New" panose="02070309020205020404" pitchFamily="49" charset="0"/>
              </a:rPr>
              <a:t>scipy</a:t>
            </a:r>
            <a:r>
              <a:rPr lang="en-US" sz="1100" noProof="0" dirty="0">
                <a:latin typeface="Courier New" panose="02070309020205020404" pitchFamily="49" charset="0"/>
                <a:cs typeface="Courier New" panose="02070309020205020404" pitchFamily="49" charset="0"/>
              </a:rPr>
              <a:t>, replication, foraging agent, git, network topology, conditional logic, genome, self-organization, bifurcation, python, agent-based model, representation, NEAT, mini-batch, edge-onto-edge, generalization error, attractor, self-connection, population size, unsupervised learning, neuroscience, task performance, survival, cohort selection, held-out testing, lesion study, runtime adaptability, random seed, neural dynamics, natural selection, adjacency matrix, JSON, plasticity, neuron, neuromodulation, crossover, DEAP, reproducibility, agent, time constant, recombination, </a:t>
            </a:r>
            <a:r>
              <a:rPr lang="en-US" sz="1100" noProof="0" dirty="0" err="1">
                <a:latin typeface="Courier New" panose="02070309020205020404" pitchFamily="49" charset="0"/>
                <a:cs typeface="Courier New" panose="02070309020205020404" pitchFamily="49" charset="0"/>
              </a:rPr>
              <a:t>NetworkX</a:t>
            </a:r>
            <a:r>
              <a:rPr lang="en-US" sz="1100" noProof="0" dirty="0">
                <a:latin typeface="Courier New" panose="02070309020205020404" pitchFamily="49" charset="0"/>
                <a:cs typeface="Courier New" panose="02070309020205020404" pitchFamily="49" charset="0"/>
              </a:rPr>
              <a:t>, genotype, mutation, motor output, evolution, heatmap, stochastic noise, positioning, abstraction, ablation study, binary threshold, parameter management, sensorimotor loop, embedded agent, perception, world generation, baseline, artificial intelligence, modulatory connection, artificial life, update function, Dale's law, substrate independence, recurrent connection, sign flip, Byte, grid world, fitness landscape, brain, emergence, convergence, state space, inhibitory, cross-cohort analysis, philosophy, adaptability, </a:t>
            </a:r>
            <a:r>
              <a:rPr lang="en-US" sz="1100" noProof="0" dirty="0" err="1">
                <a:latin typeface="Courier New" panose="02070309020205020404" pitchFamily="49" charset="0"/>
                <a:cs typeface="Courier New" panose="02070309020205020404" pitchFamily="49" charset="0"/>
              </a:rPr>
              <a:t>neuroevolution</a:t>
            </a:r>
            <a:r>
              <a:rPr lang="en-US" sz="1100" noProof="0" dirty="0">
                <a:latin typeface="Courier New" panose="02070309020205020404" pitchFamily="49" charset="0"/>
                <a:cs typeface="Courier New" panose="02070309020205020404" pitchFamily="49" charset="0"/>
              </a:rPr>
              <a:t>, CTRNN, population, parameter sweep, random baseline, modulatory neuron, computational neuroscience, elite selection, hand-crafted benchmark, action, synaptic weight, resource acquisition, two-level non-stationarity, tonic drive, weight matrix, activation function, random number generator, </a:t>
            </a:r>
            <a:r>
              <a:rPr lang="en-US" sz="1100" dirty="0">
                <a:latin typeface="Courier New" panose="02070309020205020404" pitchFamily="49" charset="0"/>
                <a:cs typeface="Courier New" panose="02070309020205020404" pitchFamily="49" charset="0"/>
              </a:rPr>
              <a:t>embedded agent, perception, world generation, baseline, artificial intelligence, modulatory connection, artificial life, update function, Dale's law, substrate independence, recurrent connection, sign flip, Byte, grid world, fitness landscape, brain, emergence, convergence, state space, inhibitory, cross-cohort analysis, philosophy, adaptability, </a:t>
            </a:r>
            <a:r>
              <a:rPr lang="en-US" sz="1100" dirty="0" err="1">
                <a:latin typeface="Courier New" panose="02070309020205020404" pitchFamily="49" charset="0"/>
                <a:cs typeface="Courier New" panose="02070309020205020404" pitchFamily="49" charset="0"/>
              </a:rPr>
              <a:t>neuroevolution</a:t>
            </a:r>
            <a:r>
              <a:rPr lang="en-US" sz="1100" dirty="0">
                <a:latin typeface="Courier New" panose="02070309020205020404" pitchFamily="49" charset="0"/>
                <a:cs typeface="Courier New" panose="02070309020205020404" pitchFamily="49" charset="0"/>
              </a:rPr>
              <a:t>, CTRNN, fitness score, four-phase design, overfitting, sigmoid, matplotlib, common random numbers, phase transition, robustness, dynamical system, genetic algorithm, phase space, environment, reward, structural analysis, experimental design, phenotype, non-stationarity, runtime, intelligence, </a:t>
            </a:r>
            <a:r>
              <a:rPr lang="en-US" sz="1100" dirty="0" err="1">
                <a:latin typeface="Courier New" panose="02070309020205020404" pitchFamily="49" charset="0"/>
                <a:cs typeface="Courier New" panose="02070309020205020404" pitchFamily="49" charset="0"/>
              </a:rPr>
              <a:t>scipy</a:t>
            </a:r>
            <a:r>
              <a:rPr lang="en-US" sz="1100" dirty="0">
                <a:latin typeface="Courier New" panose="02070309020205020404" pitchFamily="49" charset="0"/>
                <a:cs typeface="Courier New" panose="02070309020205020404" pitchFamily="49" charset="0"/>
              </a:rPr>
              <a:t>, replication, foraging agent, git, network topology, conditional logic, genome, self-organization, bifurcation, python, agent-based model, representation, NEAT, mini-batch, edge-onto-edge, generalization error, attractor, self-connection, population size, unsupervised learning, neuroscience, task performance, survival, cohort selection, held-out testing, lesion study, runtime adaptability, random seed, neural dynamics, natural selection, adjacency matrix, JSON, plasticity, neuron, neuromodulation, crossover, DEAP, reproducibility, agent, time constant, recombination, </a:t>
            </a:r>
            <a:r>
              <a:rPr lang="en-US" sz="1100" dirty="0" err="1">
                <a:latin typeface="Courier New" panose="02070309020205020404" pitchFamily="49" charset="0"/>
                <a:cs typeface="Courier New" panose="02070309020205020404" pitchFamily="49" charset="0"/>
              </a:rPr>
              <a:t>NetworkX</a:t>
            </a:r>
            <a:r>
              <a:rPr lang="en-US" sz="1100" dirty="0">
                <a:latin typeface="Courier New" panose="02070309020205020404" pitchFamily="49" charset="0"/>
                <a:cs typeface="Courier New" panose="02070309020205020404" pitchFamily="49" charset="0"/>
              </a:rPr>
              <a:t>, genotype, mutation, motor output, evolution, heatmap, stochastic noise, positioning, abstraction, ablation study, binary threshold, parameter management, sensorimotor loop, embedded agent, perception, world generation, baseline, artificial intelligence, modulatory connection, artificial life, update function, Dale's law, substrate independence, recurrent connection, sign flip, Byte, grid world, fitness landscape, brain, emergence, convergence, state space, inhibitory, cross-cohort analysis, philosophy</a:t>
            </a:r>
            <a:endParaRPr lang="en-US" sz="1100" noProof="0" dirty="0">
              <a:latin typeface="Courier New" panose="02070309020205020404" pitchFamily="49" charset="0"/>
              <a:cs typeface="Courier New" panose="02070309020205020404" pitchFamily="49" charset="0"/>
            </a:endParaRPr>
          </a:p>
        </p:txBody>
      </p:sp>
      <p:sp>
        <p:nvSpPr>
          <p:cNvPr id="14" name="Freihandform: Form 13">
            <a:extLst>
              <a:ext uri="{FF2B5EF4-FFF2-40B4-BE49-F238E27FC236}">
                <a16:creationId xmlns:a16="http://schemas.microsoft.com/office/drawing/2014/main" id="{47E808D8-6242-A9E0-FEC2-C4F1A3F8A595}"/>
              </a:ext>
            </a:extLst>
          </p:cNvPr>
          <p:cNvSpPr/>
          <p:nvPr/>
        </p:nvSpPr>
        <p:spPr>
          <a:xfrm>
            <a:off x="232678" y="2293619"/>
            <a:ext cx="6297663" cy="4612786"/>
          </a:xfrm>
          <a:custGeom>
            <a:avLst/>
            <a:gdLst>
              <a:gd name="csX0" fmla="*/ 3000831 w 6297663"/>
              <a:gd name="csY0" fmla="*/ 0 h 4612786"/>
              <a:gd name="csX1" fmla="*/ 5262783 w 6297663"/>
              <a:gd name="csY1" fmla="*/ 903519 h 4612786"/>
              <a:gd name="csX2" fmla="*/ 5285519 w 6297663"/>
              <a:gd name="csY2" fmla="*/ 976528 h 4612786"/>
              <a:gd name="csX3" fmla="*/ 5390426 w 6297663"/>
              <a:gd name="csY3" fmla="*/ 1030286 h 4612786"/>
              <a:gd name="csX4" fmla="*/ 6297663 w 6297663"/>
              <a:gd name="csY4" fmla="*/ 2651760 h 4612786"/>
              <a:gd name="csX5" fmla="*/ 4741358 w 6297663"/>
              <a:gd name="csY5" fmla="*/ 4486280 h 4612786"/>
              <a:gd name="csX6" fmla="*/ 4702435 w 6297663"/>
              <a:gd name="csY6" fmla="*/ 4488370 h 4612786"/>
              <a:gd name="csX7" fmla="*/ 4697484 w 6297663"/>
              <a:gd name="csY7" fmla="*/ 4489569 h 4612786"/>
              <a:gd name="csX8" fmla="*/ 3122322 w 6297663"/>
              <a:gd name="csY8" fmla="*/ 4612786 h 4612786"/>
              <a:gd name="csX9" fmla="*/ 1222742 w 6297663"/>
              <a:gd name="csY9" fmla="*/ 4333313 h 4612786"/>
              <a:gd name="csX10" fmla="*/ 1308144 w 6297663"/>
              <a:gd name="csY10" fmla="*/ 4250206 h 4612786"/>
              <a:gd name="csX11" fmla="*/ 1346226 w 6297663"/>
              <a:gd name="csY11" fmla="*/ 4234898 h 4612786"/>
              <a:gd name="csX12" fmla="*/ 1328226 w 6297663"/>
              <a:gd name="csY12" fmla="*/ 4224462 h 4612786"/>
              <a:gd name="csX13" fmla="*/ 1138922 w 6297663"/>
              <a:gd name="csY13" fmla="*/ 3961131 h 4612786"/>
              <a:gd name="csX14" fmla="*/ 1170787 w 6297663"/>
              <a:gd name="csY14" fmla="*/ 3849793 h 4612786"/>
              <a:gd name="csX15" fmla="*/ 1181112 w 6297663"/>
              <a:gd name="csY15" fmla="*/ 3835650 h 4612786"/>
              <a:gd name="csX16" fmla="*/ 1017955 w 6297663"/>
              <a:gd name="csY16" fmla="*/ 3787071 h 4612786"/>
              <a:gd name="csX17" fmla="*/ 0 w 6297663"/>
              <a:gd name="csY17" fmla="*/ 2848755 h 4612786"/>
              <a:gd name="csX18" fmla="*/ 278667 w 6297663"/>
              <a:gd name="csY18" fmla="*/ 2309381 h 4612786"/>
              <a:gd name="csX19" fmla="*/ 289307 w 6297663"/>
              <a:gd name="csY19" fmla="*/ 2300798 h 4612786"/>
              <a:gd name="csX20" fmla="*/ 194643 w 6297663"/>
              <a:gd name="csY20" fmla="*/ 2204488 h 4612786"/>
              <a:gd name="csX21" fmla="*/ 13201 w 6297663"/>
              <a:gd name="csY21" fmla="*/ 1764030 h 4612786"/>
              <a:gd name="csX22" fmla="*/ 689451 w 6297663"/>
              <a:gd name="csY22" fmla="*/ 963889 h 4612786"/>
              <a:gd name="csX23" fmla="*/ 725012 w 6297663"/>
              <a:gd name="csY23" fmla="*/ 948049 h 4612786"/>
              <a:gd name="csX24" fmla="*/ 738879 w 6297663"/>
              <a:gd name="csY24" fmla="*/ 903519 h 4612786"/>
              <a:gd name="csX25" fmla="*/ 3000831 w 6297663"/>
              <a:gd name="csY25" fmla="*/ 0 h 46127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297663" h="4612786">
                <a:moveTo>
                  <a:pt x="3000831" y="0"/>
                </a:moveTo>
                <a:cubicBezTo>
                  <a:pt x="4116586" y="0"/>
                  <a:pt x="5047491" y="387882"/>
                  <a:pt x="5262783" y="903519"/>
                </a:cubicBezTo>
                <a:lnTo>
                  <a:pt x="5285519" y="976528"/>
                </a:lnTo>
                <a:lnTo>
                  <a:pt x="5390426" y="1030286"/>
                </a:lnTo>
                <a:cubicBezTo>
                  <a:pt x="5930817" y="1342554"/>
                  <a:pt x="6297663" y="1951586"/>
                  <a:pt x="6297663" y="2651760"/>
                </a:cubicBezTo>
                <a:cubicBezTo>
                  <a:pt x="6297663" y="3606543"/>
                  <a:pt x="5615512" y="4391846"/>
                  <a:pt x="4741358" y="4486280"/>
                </a:cubicBezTo>
                <a:lnTo>
                  <a:pt x="4702435" y="4488370"/>
                </a:lnTo>
                <a:lnTo>
                  <a:pt x="4697484" y="4489569"/>
                </a:lnTo>
                <a:cubicBezTo>
                  <a:pt x="4356116" y="4563910"/>
                  <a:pt x="3778015" y="4612786"/>
                  <a:pt x="3122322" y="4612786"/>
                </a:cubicBezTo>
                <a:cubicBezTo>
                  <a:pt x="2073213" y="4612786"/>
                  <a:pt x="1222742" y="4487662"/>
                  <a:pt x="1222742" y="4333313"/>
                </a:cubicBezTo>
                <a:cubicBezTo>
                  <a:pt x="1222742" y="4304373"/>
                  <a:pt x="1252642" y="4276460"/>
                  <a:pt x="1308144" y="4250206"/>
                </a:cubicBezTo>
                <a:lnTo>
                  <a:pt x="1346226" y="4234898"/>
                </a:lnTo>
                <a:lnTo>
                  <a:pt x="1328226" y="4224462"/>
                </a:lnTo>
                <a:cubicBezTo>
                  <a:pt x="1207498" y="4146183"/>
                  <a:pt x="1138922" y="4056478"/>
                  <a:pt x="1138922" y="3961131"/>
                </a:cubicBezTo>
                <a:cubicBezTo>
                  <a:pt x="1138922" y="3922992"/>
                  <a:pt x="1149894" y="3885756"/>
                  <a:pt x="1170787" y="3849793"/>
                </a:cubicBezTo>
                <a:lnTo>
                  <a:pt x="1181112" y="3835650"/>
                </a:lnTo>
                <a:lnTo>
                  <a:pt x="1017955" y="3787071"/>
                </a:lnTo>
                <a:cubicBezTo>
                  <a:pt x="403794" y="3583720"/>
                  <a:pt x="0" y="3239348"/>
                  <a:pt x="0" y="2848755"/>
                </a:cubicBezTo>
                <a:cubicBezTo>
                  <a:pt x="0" y="2653458"/>
                  <a:pt x="100949" y="2469717"/>
                  <a:pt x="278667" y="2309381"/>
                </a:cubicBezTo>
                <a:lnTo>
                  <a:pt x="289307" y="2300798"/>
                </a:lnTo>
                <a:lnTo>
                  <a:pt x="194643" y="2204488"/>
                </a:lnTo>
                <a:cubicBezTo>
                  <a:pt x="77808" y="2069109"/>
                  <a:pt x="13201" y="1920267"/>
                  <a:pt x="13201" y="1764030"/>
                </a:cubicBezTo>
                <a:cubicBezTo>
                  <a:pt x="13201" y="1451555"/>
                  <a:pt x="271629" y="1168663"/>
                  <a:pt x="689451" y="963889"/>
                </a:cubicBezTo>
                <a:lnTo>
                  <a:pt x="725012" y="948049"/>
                </a:lnTo>
                <a:lnTo>
                  <a:pt x="738879" y="903519"/>
                </a:lnTo>
                <a:cubicBezTo>
                  <a:pt x="954171" y="387882"/>
                  <a:pt x="1885077" y="0"/>
                  <a:pt x="300083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pic>
        <p:nvPicPr>
          <p:cNvPr id="5" name="Grafik 4">
            <a:extLst>
              <a:ext uri="{FF2B5EF4-FFF2-40B4-BE49-F238E27FC236}">
                <a16:creationId xmlns:a16="http://schemas.microsoft.com/office/drawing/2014/main" id="{6DE9901E-7671-D390-0022-F8BF9FAEC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0"/>
            <a:ext cx="6858000" cy="6858000"/>
          </a:xfrm>
          <a:prstGeom prst="rect">
            <a:avLst/>
          </a:prstGeom>
        </p:spPr>
      </p:pic>
    </p:spTree>
    <p:extLst>
      <p:ext uri="{BB962C8B-B14F-4D97-AF65-F5344CB8AC3E}">
        <p14:creationId xmlns:p14="http://schemas.microsoft.com/office/powerpoint/2010/main" val="46518463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830</Words>
  <Application>Microsoft Office PowerPoint</Application>
  <PresentationFormat>A4-Papier (210 x 297 mm)</PresentationFormat>
  <Paragraphs>1</Paragraphs>
  <Slides>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Aptos</vt:lpstr>
      <vt:lpstr>Aptos Display</vt:lpstr>
      <vt:lpstr>Arial</vt:lpstr>
      <vt:lpstr>Courier New</vt:lpstr>
      <vt:lpstr>Office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Dahlmanns, Jana</dc:creator>
  <cp:lastModifiedBy>Dahlmanns, Jana</cp:lastModifiedBy>
  <cp:revision>4</cp:revision>
  <cp:lastPrinted>2026-05-20T08:30:52Z</cp:lastPrinted>
  <dcterms:created xsi:type="dcterms:W3CDTF">2026-05-20T08:06:39Z</dcterms:created>
  <dcterms:modified xsi:type="dcterms:W3CDTF">2026-05-20T08:34:24Z</dcterms:modified>
</cp:coreProperties>
</file>