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1"/>
  </p:sldMasterIdLst>
  <p:notesMasterIdLst>
    <p:notesMasterId r:id="rId25"/>
  </p:notesMasterIdLst>
  <p:sldIdLst>
    <p:sldId id="256" r:id="rId2"/>
    <p:sldId id="269" r:id="rId3"/>
    <p:sldId id="270" r:id="rId4"/>
    <p:sldId id="271" r:id="rId5"/>
    <p:sldId id="272" r:id="rId6"/>
    <p:sldId id="273" r:id="rId7"/>
    <p:sldId id="261" r:id="rId8"/>
    <p:sldId id="262" r:id="rId9"/>
    <p:sldId id="263" r:id="rId10"/>
    <p:sldId id="264" r:id="rId11"/>
    <p:sldId id="265" r:id="rId12"/>
    <p:sldId id="278" r:id="rId13"/>
    <p:sldId id="274" r:id="rId14"/>
    <p:sldId id="275" r:id="rId15"/>
    <p:sldId id="276" r:id="rId16"/>
    <p:sldId id="280" r:id="rId17"/>
    <p:sldId id="281" r:id="rId18"/>
    <p:sldId id="282" r:id="rId19"/>
    <p:sldId id="284" r:id="rId20"/>
    <p:sldId id="286" r:id="rId21"/>
    <p:sldId id="285" r:id="rId22"/>
    <p:sldId id="268" r:id="rId23"/>
    <p:sldId id="287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69696"/>
    <a:srgbClr val="F8FAFA"/>
    <a:srgbClr val="E3E9EA"/>
    <a:srgbClr val="00336E"/>
    <a:srgbClr val="EAEAEA"/>
    <a:srgbClr val="00347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506" autoAdjust="0"/>
    <p:restoredTop sz="94688" autoAdjust="0"/>
  </p:normalViewPr>
  <p:slideViewPr>
    <p:cSldViewPr snapToGrid="0">
      <p:cViewPr varScale="1">
        <p:scale>
          <a:sx n="106" d="100"/>
          <a:sy n="106" d="100"/>
        </p:scale>
        <p:origin x="2100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45AE30C-70B0-42A3-87DE-9CC4A3E6D756}" type="datetimeFigureOut">
              <a:rPr lang="de-DE" smtClean="0"/>
              <a:t>08.06.2026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810619-8C86-4E95-A074-DA0A2010136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751209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810619-8C86-4E95-A074-DA0A2010136C}" type="slidenum">
              <a:rPr lang="de-DE" smtClean="0"/>
              <a:t>16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932384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A70A18-4078-83D1-B218-F36BDBD17D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EE29E17-4DDA-11F6-3646-6707D6F914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8FB99742-7CAF-4561-57B8-59E788562E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3897533-B574-20EE-9118-6D57A58088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810619-8C86-4E95-A074-DA0A2010136C}" type="slidenum">
              <a:rPr lang="de-DE" smtClean="0"/>
              <a:t>17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806423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437251-5874-E8FE-B80E-CD410130F9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A247E48D-B568-7F9E-368A-DED6544019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343FC30F-FE72-2C10-1BDA-0428F1315E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CCDC335-589C-4989-5811-131C6EB2A8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810619-8C86-4E95-A074-DA0A2010136C}" type="slidenum">
              <a:rPr lang="de-DE" smtClean="0"/>
              <a:t>18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184390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0123C-1EEF-A07E-2EC6-C6E9F6D2A5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9C48F53-D774-FCA9-9CC1-2FB5CAB6CC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ED45ACB0-4324-1706-89C1-CF89F16C58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0F44DE6-FECD-A9F8-80C7-DC703B8CD6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810619-8C86-4E95-A074-DA0A2010136C}" type="slidenum">
              <a:rPr lang="de-DE" smtClean="0"/>
              <a:t>19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1974167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34F01B-DE0E-3C64-9D06-6DCBDD650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9B359431-5298-F755-9B31-A53A9EBD41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5ECD6EA3-CC9E-EB77-CAE5-D712167DE4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1451646-C5C2-A8F6-2239-1BFB668E96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810619-8C86-4E95-A074-DA0A2010136C}" type="slidenum">
              <a:rPr lang="de-DE" smtClean="0"/>
              <a:t>20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917235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85616" y="1122363"/>
            <a:ext cx="5804915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>
                <a:latin typeface="Cormorant Garamond" pitchFamily="2" charset="0"/>
                <a:ea typeface="Cormorant Garamond" pitchFamily="2" charset="0"/>
                <a:cs typeface="Cormorant Garamond" pitchFamily="2" charset="0"/>
              </a:defRPr>
            </a:lvl1pPr>
          </a:lstStyle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85616" y="3602038"/>
            <a:ext cx="5804915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latin typeface="Inter" panose="02000503000000020004" pitchFamily="2" charset="0"/>
                <a:ea typeface="Inter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Master-Untertitelformat bearbeiten</a:t>
            </a:r>
            <a:endParaRPr lang="en-US" dirty="0"/>
          </a:p>
        </p:txBody>
      </p:sp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0BE99575-E147-F93F-806D-EFBBEA19C61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294563" y="1122363"/>
            <a:ext cx="4059237" cy="4127966"/>
          </a:xfrm>
          <a:custGeom>
            <a:avLst/>
            <a:gdLst>
              <a:gd name="csX0" fmla="*/ 676553 w 4059237"/>
              <a:gd name="csY0" fmla="*/ 0 h 4127966"/>
              <a:gd name="csX1" fmla="*/ 3382684 w 4059237"/>
              <a:gd name="csY1" fmla="*/ 0 h 4127966"/>
              <a:gd name="csX2" fmla="*/ 4059237 w 4059237"/>
              <a:gd name="csY2" fmla="*/ 676553 h 4127966"/>
              <a:gd name="csX3" fmla="*/ 4059237 w 4059237"/>
              <a:gd name="csY3" fmla="*/ 3451413 h 4127966"/>
              <a:gd name="csX4" fmla="*/ 3382684 w 4059237"/>
              <a:gd name="csY4" fmla="*/ 4127966 h 4127966"/>
              <a:gd name="csX5" fmla="*/ 676553 w 4059237"/>
              <a:gd name="csY5" fmla="*/ 4127966 h 4127966"/>
              <a:gd name="csX6" fmla="*/ 0 w 4059237"/>
              <a:gd name="csY6" fmla="*/ 3451413 h 4127966"/>
              <a:gd name="csX7" fmla="*/ 0 w 4059237"/>
              <a:gd name="csY7" fmla="*/ 676553 h 4127966"/>
              <a:gd name="csX8" fmla="*/ 676553 w 4059237"/>
              <a:gd name="csY8" fmla="*/ 0 h 41279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4059237" h="4127966">
                <a:moveTo>
                  <a:pt x="676553" y="0"/>
                </a:moveTo>
                <a:lnTo>
                  <a:pt x="3382684" y="0"/>
                </a:lnTo>
                <a:cubicBezTo>
                  <a:pt x="3756334" y="0"/>
                  <a:pt x="4059237" y="302903"/>
                  <a:pt x="4059237" y="676553"/>
                </a:cubicBezTo>
                <a:lnTo>
                  <a:pt x="4059237" y="3451413"/>
                </a:lnTo>
                <a:cubicBezTo>
                  <a:pt x="4059237" y="3825063"/>
                  <a:pt x="3756334" y="4127966"/>
                  <a:pt x="3382684" y="4127966"/>
                </a:cubicBezTo>
                <a:lnTo>
                  <a:pt x="676553" y="4127966"/>
                </a:lnTo>
                <a:cubicBezTo>
                  <a:pt x="302903" y="4127966"/>
                  <a:pt x="0" y="3825063"/>
                  <a:pt x="0" y="3451413"/>
                </a:cubicBezTo>
                <a:lnTo>
                  <a:pt x="0" y="676553"/>
                </a:lnTo>
                <a:cubicBezTo>
                  <a:pt x="0" y="302903"/>
                  <a:pt x="302903" y="0"/>
                  <a:pt x="676553" y="0"/>
                </a:cubicBezTo>
                <a:close/>
              </a:path>
            </a:pathLst>
          </a:custGeom>
          <a:effectLst/>
        </p:spPr>
        <p:txBody>
          <a:bodyPr wrap="square">
            <a:noAutofit/>
          </a:bodyPr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826836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ußzeilenplatzhalter 2">
            <a:extLst>
              <a:ext uri="{FF2B5EF4-FFF2-40B4-BE49-F238E27FC236}">
                <a16:creationId xmlns:a16="http://schemas.microsoft.com/office/drawing/2014/main" id="{9B8B73AD-2982-19F2-3ABD-934531529FF4}"/>
              </a:ext>
            </a:extLst>
          </p:cNvPr>
          <p:cNvSpPr txBox="1">
            <a:spLocks/>
          </p:cNvSpPr>
          <p:nvPr userDrawn="1"/>
        </p:nvSpPr>
        <p:spPr>
          <a:xfrm>
            <a:off x="124620" y="6355043"/>
            <a:ext cx="4114800" cy="365125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/>
              <a:t>Dr. Jana Dahlmanns – Jana.Dahlmanns@fau.de</a:t>
            </a:r>
            <a:endParaRPr lang="de-DE" dirty="0"/>
          </a:p>
        </p:txBody>
      </p:sp>
      <p:sp>
        <p:nvSpPr>
          <p:cNvPr id="6" name="Foliennummernplatzhalter 3">
            <a:extLst>
              <a:ext uri="{FF2B5EF4-FFF2-40B4-BE49-F238E27FC236}">
                <a16:creationId xmlns:a16="http://schemas.microsoft.com/office/drawing/2014/main" id="{25FC6924-BD04-6083-6836-29FC3CE4F324}"/>
              </a:ext>
            </a:extLst>
          </p:cNvPr>
          <p:cNvSpPr txBox="1">
            <a:spLocks/>
          </p:cNvSpPr>
          <p:nvPr userDrawn="1"/>
        </p:nvSpPr>
        <p:spPr>
          <a:xfrm>
            <a:off x="11576423" y="6355043"/>
            <a:ext cx="490957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457200" rtl="0" eaLnBrk="1" latinLnBrk="0" hangingPunct="1">
              <a:defRPr lang="de-DE" sz="900" kern="1200" smtClean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01D04CD-A18E-4C48-A0D4-2F175BEDACF1}" type="slidenum">
              <a:rPr lang="de-DE" smtClean="0">
                <a:solidFill>
                  <a:schemeClr val="tx1"/>
                </a:solidFill>
              </a:rPr>
              <a:pPr/>
              <a:t>‹Nr.›</a:t>
            </a:fld>
            <a:endParaRPr lang="de-DE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721217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673D0841-8933-B048-8E03-E226774532B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Picture 2">
            <a:extLst>
              <a:ext uri="{FF2B5EF4-FFF2-40B4-BE49-F238E27FC236}">
                <a16:creationId xmlns:a16="http://schemas.microsoft.com/office/drawing/2014/main" id="{2A54A9E4-EE66-F758-44D5-96346D1A1BD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212" y="72395"/>
            <a:ext cx="1493506" cy="7168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CFF25FEA-6975-12EF-F27F-76A486B8215C}"/>
              </a:ext>
            </a:extLst>
          </p:cNvPr>
          <p:cNvSpPr txBox="1"/>
          <p:nvPr userDrawn="1"/>
        </p:nvSpPr>
        <p:spPr>
          <a:xfrm>
            <a:off x="1482164" y="215392"/>
            <a:ext cx="166743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50" b="1" dirty="0">
                <a:solidFill>
                  <a:srgbClr val="00336E"/>
                </a:solidFill>
                <a:latin typeface="+mn-lt"/>
              </a:rPr>
              <a:t>Institute </a:t>
            </a:r>
            <a:r>
              <a:rPr lang="de-DE" sz="1050" b="1" dirty="0" err="1">
                <a:solidFill>
                  <a:srgbClr val="00336E"/>
                </a:solidFill>
                <a:latin typeface="+mn-lt"/>
              </a:rPr>
              <a:t>of</a:t>
            </a:r>
            <a:r>
              <a:rPr lang="de-DE" sz="1050" b="1" dirty="0">
                <a:solidFill>
                  <a:srgbClr val="00336E"/>
                </a:solidFill>
                <a:latin typeface="+mn-lt"/>
              </a:rPr>
              <a:t> </a:t>
            </a:r>
            <a:r>
              <a:rPr lang="de-DE" sz="1050" b="1" dirty="0" err="1">
                <a:solidFill>
                  <a:srgbClr val="00336E"/>
                </a:solidFill>
                <a:latin typeface="+mn-lt"/>
              </a:rPr>
              <a:t>Physiology</a:t>
            </a:r>
            <a:r>
              <a:rPr lang="de-DE" sz="1050" b="1" dirty="0">
                <a:solidFill>
                  <a:srgbClr val="00336E"/>
                </a:solidFill>
                <a:latin typeface="+mn-lt"/>
              </a:rPr>
              <a:t> and </a:t>
            </a:r>
            <a:r>
              <a:rPr lang="de-DE" sz="1050" b="1" dirty="0" err="1">
                <a:solidFill>
                  <a:srgbClr val="00336E"/>
                </a:solidFill>
                <a:latin typeface="+mn-lt"/>
              </a:rPr>
              <a:t>Pathophysiology</a:t>
            </a:r>
            <a:endParaRPr lang="de-DE" sz="1050" b="1" dirty="0">
              <a:solidFill>
                <a:srgbClr val="00336E"/>
              </a:solidFill>
              <a:latin typeface="+mn-lt"/>
            </a:endParaRPr>
          </a:p>
        </p:txBody>
      </p:sp>
      <p:sp>
        <p:nvSpPr>
          <p:cNvPr id="11" name="Foliennummernplatzhalter 16">
            <a:extLst>
              <a:ext uri="{FF2B5EF4-FFF2-40B4-BE49-F238E27FC236}">
                <a16:creationId xmlns:a16="http://schemas.microsoft.com/office/drawing/2014/main" id="{3D4F0C7B-2741-632E-C4FE-49651DAB14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76423" y="6355043"/>
            <a:ext cx="49095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de-DE" sz="800" smtClean="0"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fld id="{001D04CD-A18E-4C48-A0D4-2F175BEDACF1}" type="slidenum">
              <a:rPr lang="de-DE" smtClean="0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376050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9" r:id="rId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microsoft.com/office/2007/relationships/media" Target="../media/media1.mp4"/><Relationship Id="rId1" Type="http://schemas.openxmlformats.org/officeDocument/2006/relationships/video" Target="NULL" TargetMode="External"/><Relationship Id="rId4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71491F8-65F7-CC05-3D98-4CBA91BF08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85616" y="1122363"/>
            <a:ext cx="5804915" cy="4127966"/>
          </a:xfrm>
          <a:solidFill>
            <a:srgbClr val="F8FAFA">
              <a:alpha val="60000"/>
            </a:srgbClr>
          </a:solidFill>
        </p:spPr>
        <p:txBody>
          <a:bodyPr>
            <a:noAutofit/>
          </a:bodyPr>
          <a:lstStyle/>
          <a:p>
            <a:pPr algn="l"/>
            <a:r>
              <a:rPr lang="de-DE" sz="7200" dirty="0"/>
              <a:t>The Minimum Viable Brain</a:t>
            </a:r>
            <a:br>
              <a:rPr lang="de-DE" sz="7200" dirty="0"/>
            </a:br>
            <a:r>
              <a:rPr lang="en-US" sz="2400" dirty="0">
                <a:latin typeface="+mn-lt"/>
              </a:rPr>
              <a:t>Selection and investigation of unsupervised adaptive learners with minimal neuronal architecture</a:t>
            </a:r>
            <a:br>
              <a:rPr lang="en-US" sz="2400" dirty="0">
                <a:latin typeface="+mn-lt"/>
              </a:rPr>
            </a:br>
            <a:br>
              <a:rPr lang="en-US" sz="2400" dirty="0">
                <a:latin typeface="+mn-lt"/>
              </a:rPr>
            </a:br>
            <a:br>
              <a:rPr lang="en-US" sz="2400" dirty="0">
                <a:latin typeface="+mn-lt"/>
              </a:rPr>
            </a:br>
            <a:r>
              <a:rPr lang="en-US" sz="2400" dirty="0">
                <a:latin typeface="+mn-lt"/>
              </a:rPr>
              <a:t>Dr. Jana Katharina Dahlmanns</a:t>
            </a:r>
            <a:endParaRPr lang="de-DE" sz="2000" dirty="0">
              <a:latin typeface="+mn-lt"/>
            </a:endParaRPr>
          </a:p>
        </p:txBody>
      </p:sp>
      <p:pic>
        <p:nvPicPr>
          <p:cNvPr id="7" name="Bildplatzhalter 6">
            <a:extLst>
              <a:ext uri="{FF2B5EF4-FFF2-40B4-BE49-F238E27FC236}">
                <a16:creationId xmlns:a16="http://schemas.microsoft.com/office/drawing/2014/main" id="{600461AC-BD64-91CB-E13C-A29AB5E33174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59" r="7685"/>
          <a:stretch>
            <a:fillRect/>
          </a:stretch>
        </p:blipFill>
        <p:spPr>
          <a:xfrm flipH="1">
            <a:off x="7294563" y="1122363"/>
            <a:ext cx="4059237" cy="4127966"/>
          </a:xfrm>
          <a:custGeom>
            <a:avLst/>
            <a:gdLst>
              <a:gd name="csX0" fmla="*/ 676553 w 4059237"/>
              <a:gd name="csY0" fmla="*/ 0 h 4127966"/>
              <a:gd name="csX1" fmla="*/ 3382684 w 4059237"/>
              <a:gd name="csY1" fmla="*/ 0 h 4127966"/>
              <a:gd name="csX2" fmla="*/ 4059237 w 4059237"/>
              <a:gd name="csY2" fmla="*/ 676553 h 4127966"/>
              <a:gd name="csX3" fmla="*/ 4059237 w 4059237"/>
              <a:gd name="csY3" fmla="*/ 3451413 h 4127966"/>
              <a:gd name="csX4" fmla="*/ 3382684 w 4059237"/>
              <a:gd name="csY4" fmla="*/ 4127966 h 4127966"/>
              <a:gd name="csX5" fmla="*/ 676553 w 4059237"/>
              <a:gd name="csY5" fmla="*/ 4127966 h 4127966"/>
              <a:gd name="csX6" fmla="*/ 0 w 4059237"/>
              <a:gd name="csY6" fmla="*/ 3451413 h 4127966"/>
              <a:gd name="csX7" fmla="*/ 0 w 4059237"/>
              <a:gd name="csY7" fmla="*/ 676553 h 4127966"/>
              <a:gd name="csX8" fmla="*/ 676553 w 4059237"/>
              <a:gd name="csY8" fmla="*/ 0 h 41279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4059237" h="4127966">
                <a:moveTo>
                  <a:pt x="676553" y="0"/>
                </a:moveTo>
                <a:lnTo>
                  <a:pt x="3382684" y="0"/>
                </a:lnTo>
                <a:cubicBezTo>
                  <a:pt x="3756334" y="0"/>
                  <a:pt x="4059237" y="302903"/>
                  <a:pt x="4059237" y="676553"/>
                </a:cubicBezTo>
                <a:lnTo>
                  <a:pt x="4059237" y="3451413"/>
                </a:lnTo>
                <a:cubicBezTo>
                  <a:pt x="4059237" y="3825063"/>
                  <a:pt x="3756334" y="4127966"/>
                  <a:pt x="3382684" y="4127966"/>
                </a:cubicBezTo>
                <a:lnTo>
                  <a:pt x="676553" y="4127966"/>
                </a:lnTo>
                <a:cubicBezTo>
                  <a:pt x="302903" y="4127966"/>
                  <a:pt x="0" y="3825063"/>
                  <a:pt x="0" y="3451413"/>
                </a:cubicBezTo>
                <a:lnTo>
                  <a:pt x="0" y="676553"/>
                </a:lnTo>
                <a:cubicBezTo>
                  <a:pt x="0" y="302903"/>
                  <a:pt x="302903" y="0"/>
                  <a:pt x="676553" y="0"/>
                </a:cubicBezTo>
                <a:close/>
              </a:path>
            </a:pathLst>
          </a:custGeom>
          <a:effectLst/>
        </p:spPr>
      </p:pic>
    </p:spTree>
    <p:extLst>
      <p:ext uri="{BB962C8B-B14F-4D97-AF65-F5344CB8AC3E}">
        <p14:creationId xmlns:p14="http://schemas.microsoft.com/office/powerpoint/2010/main" val="10799695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77B8E298-A8F0-7CD0-C4E3-0FF7CF5E73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60920" y="457199"/>
            <a:ext cx="3751422" cy="5899152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053A1720-D4D5-10C6-31F9-DA48E778ADD2}"/>
              </a:ext>
            </a:extLst>
          </p:cNvPr>
          <p:cNvSpPr txBox="1"/>
          <p:nvPr/>
        </p:nvSpPr>
        <p:spPr>
          <a:xfrm>
            <a:off x="7332345" y="6208993"/>
            <a:ext cx="2335572" cy="2203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lnSpc>
                <a:spcPct val="90000"/>
              </a:lnSpc>
              <a:spcBef>
                <a:spcPts val="1000"/>
              </a:spcBef>
            </a:pPr>
            <a:r>
              <a:rPr lang="en-US" sz="6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Photo by Ronan Furuta on </a:t>
            </a:r>
            <a:r>
              <a:rPr lang="en-US" sz="600" kern="1200" dirty="0" err="1">
                <a:solidFill>
                  <a:srgbClr val="FFFFFF"/>
                </a:solidFill>
                <a:latin typeface="+mn-lt"/>
                <a:ea typeface="+mn-ea"/>
                <a:cs typeface="+mn-cs"/>
              </a:rPr>
              <a:t>Unsplash</a:t>
            </a:r>
            <a:r>
              <a:rPr lang="en-US" sz="6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 </a:t>
            </a:r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5A885601-E99D-6AF8-4F44-C8E8455DDD64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852613"/>
            <a:ext cx="9867900" cy="1325562"/>
          </a:xfrm>
          <a:prstGeom prst="rect">
            <a:avLst/>
          </a:prstGeom>
        </p:spPr>
        <p:txBody>
          <a:bodyPr/>
          <a:lstStyle/>
          <a:p>
            <a:r>
              <a:rPr lang="en-US" dirty="0">
                <a:ln>
                  <a:solidFill>
                    <a:srgbClr val="F8FAFA"/>
                  </a:solidFill>
                </a:ln>
              </a:rPr>
              <a:t>1 - Who here knows how to work a coffee maker?</a:t>
            </a:r>
            <a:endParaRPr lang="de-DE" dirty="0">
              <a:ln>
                <a:solidFill>
                  <a:srgbClr val="F8FAFA"/>
                </a:solidFill>
              </a:ln>
            </a:endParaRPr>
          </a:p>
        </p:txBody>
      </p:sp>
    </p:spTree>
    <p:extLst>
      <p:ext uri="{BB962C8B-B14F-4D97-AF65-F5344CB8AC3E}">
        <p14:creationId xmlns:p14="http://schemas.microsoft.com/office/powerpoint/2010/main" val="31595374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8C43D71C-448D-4428-94CA-211DE1003A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852613"/>
            <a:ext cx="10515600" cy="1325562"/>
          </a:xfrm>
          <a:prstGeom prst="rect">
            <a:avLst/>
          </a:prstGeom>
        </p:spPr>
        <p:txBody>
          <a:bodyPr/>
          <a:lstStyle/>
          <a:p>
            <a:r>
              <a:rPr lang="de-DE" dirty="0">
                <a:ln>
                  <a:solidFill>
                    <a:srgbClr val="F8FAFA"/>
                  </a:solidFill>
                </a:ln>
              </a:rPr>
              <a:t>2 –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Complete</a:t>
            </a:r>
            <a:r>
              <a:rPr lang="de-DE" dirty="0">
                <a:ln>
                  <a:solidFill>
                    <a:srgbClr val="F8FAFA"/>
                  </a:solidFill>
                </a:ln>
              </a:rPr>
              <a:t>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this</a:t>
            </a:r>
            <a:r>
              <a:rPr lang="de-DE" dirty="0">
                <a:ln>
                  <a:solidFill>
                    <a:srgbClr val="F8FAFA"/>
                  </a:solidFill>
                </a:ln>
              </a:rPr>
              <a:t>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sentence</a:t>
            </a:r>
            <a:r>
              <a:rPr lang="de-DE" dirty="0">
                <a:ln>
                  <a:solidFill>
                    <a:srgbClr val="F8FAFA"/>
                  </a:solidFill>
                </a:ln>
              </a:rPr>
              <a:t>: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FFF73255-BFA3-9C8D-01C3-1E61EE9DA9EE}"/>
              </a:ext>
            </a:extLst>
          </p:cNvPr>
          <p:cNvSpPr txBox="1"/>
          <p:nvPr/>
        </p:nvSpPr>
        <p:spPr>
          <a:xfrm>
            <a:off x="1604012" y="3429000"/>
            <a:ext cx="527081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600" b="1" dirty="0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The </a:t>
            </a:r>
            <a:r>
              <a:rPr lang="de-DE" sz="3600" b="1" dirty="0" err="1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weather</a:t>
            </a:r>
            <a:r>
              <a:rPr lang="de-DE" sz="3600" b="1" dirty="0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 outside </a:t>
            </a:r>
            <a:r>
              <a:rPr lang="de-DE" sz="3600" b="1" dirty="0" err="1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is</a:t>
            </a:r>
            <a:r>
              <a:rPr lang="de-DE" sz="3600" b="1" dirty="0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 nice </a:t>
            </a:r>
            <a:r>
              <a:rPr lang="de-DE" sz="3600" b="1" dirty="0" err="1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today</a:t>
            </a:r>
            <a:r>
              <a:rPr lang="de-DE" sz="3600" b="1" dirty="0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, </a:t>
            </a:r>
            <a:r>
              <a:rPr lang="de-DE" sz="3600" b="1" dirty="0" err="1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the</a:t>
            </a:r>
            <a:r>
              <a:rPr lang="de-DE" sz="3600" b="1" dirty="0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 </a:t>
            </a:r>
            <a:r>
              <a:rPr lang="de-DE" sz="3600" b="1" dirty="0" err="1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sky</a:t>
            </a:r>
            <a:r>
              <a:rPr lang="de-DE" sz="3600" b="1" dirty="0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 </a:t>
            </a:r>
            <a:r>
              <a:rPr lang="de-DE" sz="3600" b="1" dirty="0" err="1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is</a:t>
            </a:r>
            <a:r>
              <a:rPr lang="de-DE" sz="3600" b="1" dirty="0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 ________.</a:t>
            </a:r>
          </a:p>
        </p:txBody>
      </p:sp>
    </p:spTree>
    <p:extLst>
      <p:ext uri="{BB962C8B-B14F-4D97-AF65-F5344CB8AC3E}">
        <p14:creationId xmlns:p14="http://schemas.microsoft.com/office/powerpoint/2010/main" val="27781519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B882BF09-1BCC-7BA1-6F10-0045DE590E8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852613"/>
            <a:ext cx="10515600" cy="1325562"/>
          </a:xfrm>
          <a:prstGeom prst="rect">
            <a:avLst/>
          </a:prstGeom>
        </p:spPr>
        <p:txBody>
          <a:bodyPr/>
          <a:lstStyle/>
          <a:p>
            <a:r>
              <a:rPr lang="de-DE" dirty="0">
                <a:ln>
                  <a:solidFill>
                    <a:srgbClr val="F8FAFA"/>
                  </a:solidFill>
                </a:ln>
              </a:rPr>
              <a:t>3 – Find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the</a:t>
            </a:r>
            <a:r>
              <a:rPr lang="de-DE" dirty="0">
                <a:ln>
                  <a:solidFill>
                    <a:srgbClr val="F8FAFA"/>
                  </a:solidFill>
                </a:ln>
              </a:rPr>
              <a:t>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shortest</a:t>
            </a:r>
            <a:r>
              <a:rPr lang="de-DE" dirty="0">
                <a:ln>
                  <a:solidFill>
                    <a:srgbClr val="F8FAFA"/>
                  </a:solidFill>
                </a:ln>
              </a:rPr>
              <a:t>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path</a:t>
            </a:r>
            <a:r>
              <a:rPr lang="de-DE" dirty="0">
                <a:ln>
                  <a:solidFill>
                    <a:srgbClr val="F8FAFA"/>
                  </a:solidFill>
                </a:ln>
              </a:rPr>
              <a:t>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through</a:t>
            </a:r>
            <a:r>
              <a:rPr lang="de-DE" dirty="0">
                <a:ln>
                  <a:solidFill>
                    <a:srgbClr val="F8FAFA"/>
                  </a:solidFill>
                </a:ln>
              </a:rPr>
              <a:t>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this</a:t>
            </a:r>
            <a:r>
              <a:rPr lang="de-DE" dirty="0">
                <a:ln>
                  <a:solidFill>
                    <a:srgbClr val="F8FAFA"/>
                  </a:solidFill>
                </a:ln>
              </a:rPr>
              <a:t>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maze</a:t>
            </a:r>
            <a:endParaRPr lang="de-DE" dirty="0">
              <a:ln>
                <a:solidFill>
                  <a:srgbClr val="F8FAFA"/>
                </a:solidFill>
              </a:ln>
            </a:endParaRPr>
          </a:p>
        </p:txBody>
      </p:sp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A215C20E-8562-74FD-3B6D-17C83000F011}"/>
              </a:ext>
            </a:extLst>
          </p:cNvPr>
          <p:cNvGrpSpPr/>
          <p:nvPr/>
        </p:nvGrpSpPr>
        <p:grpSpPr>
          <a:xfrm>
            <a:off x="2568471" y="2788398"/>
            <a:ext cx="3346554" cy="3341897"/>
            <a:chOff x="2568471" y="2788398"/>
            <a:chExt cx="3346554" cy="3341897"/>
          </a:xfrm>
        </p:grpSpPr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D592D8F9-F8B6-89AE-D7AD-87C487B01E32}"/>
                </a:ext>
              </a:extLst>
            </p:cNvPr>
            <p:cNvSpPr/>
            <p:nvPr/>
          </p:nvSpPr>
          <p:spPr>
            <a:xfrm>
              <a:off x="2571750" y="2790825"/>
              <a:ext cx="3343275" cy="3305175"/>
            </a:xfrm>
            <a:prstGeom prst="rect">
              <a:avLst/>
            </a:prstGeom>
            <a:solidFill>
              <a:srgbClr val="F8FAF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5" name="Grafik 4">
              <a:extLst>
                <a:ext uri="{FF2B5EF4-FFF2-40B4-BE49-F238E27FC236}">
                  <a16:creationId xmlns:a16="http://schemas.microsoft.com/office/drawing/2014/main" id="{B82CF077-A216-89CB-77E8-79BB8DE5618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568471" y="2788398"/>
              <a:ext cx="3341897" cy="334189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6119876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Freihandform: Form 44">
            <a:extLst>
              <a:ext uri="{FF2B5EF4-FFF2-40B4-BE49-F238E27FC236}">
                <a16:creationId xmlns:a16="http://schemas.microsoft.com/office/drawing/2014/main" id="{BE2DE834-3F95-8CDB-0F7E-1B221ACFA54A}"/>
              </a:ext>
            </a:extLst>
          </p:cNvPr>
          <p:cNvSpPr/>
          <p:nvPr/>
        </p:nvSpPr>
        <p:spPr>
          <a:xfrm>
            <a:off x="-3057524" y="1494429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394D528E-5171-252E-4D14-5B2044795F92}"/>
              </a:ext>
            </a:extLst>
          </p:cNvPr>
          <p:cNvSpPr txBox="1"/>
          <p:nvPr/>
        </p:nvSpPr>
        <p:spPr>
          <a:xfrm>
            <a:off x="-11904" y="2045078"/>
            <a:ext cx="2847973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Why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are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brains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so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good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at </a:t>
            </a:r>
          </a:p>
          <a:p>
            <a:pPr algn="ctr"/>
            <a:r>
              <a:rPr lang="de-DE" sz="2400" b="1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flexible </a:t>
            </a:r>
            <a:r>
              <a:rPr lang="de-DE" sz="2400" b="1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generalization</a:t>
            </a:r>
            <a:r>
              <a:rPr lang="de-DE" sz="2400" b="1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?</a:t>
            </a:r>
          </a:p>
          <a:p>
            <a:pPr algn="ctr"/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An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age-old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question</a:t>
            </a:r>
            <a:endParaRPr lang="de-DE" sz="2400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grpSp>
        <p:nvGrpSpPr>
          <p:cNvPr id="47" name="Gruppieren 46">
            <a:extLst>
              <a:ext uri="{FF2B5EF4-FFF2-40B4-BE49-F238E27FC236}">
                <a16:creationId xmlns:a16="http://schemas.microsoft.com/office/drawing/2014/main" id="{BAD0A46F-5EA3-5BD2-184D-7D2DF0AE09FB}"/>
              </a:ext>
            </a:extLst>
          </p:cNvPr>
          <p:cNvGrpSpPr/>
          <p:nvPr/>
        </p:nvGrpSpPr>
        <p:grpSpPr>
          <a:xfrm>
            <a:off x="3095625" y="-257175"/>
            <a:ext cx="3709987" cy="7466073"/>
            <a:chOff x="3095625" y="-533400"/>
            <a:chExt cx="3709987" cy="7466073"/>
          </a:xfrm>
        </p:grpSpPr>
        <p:cxnSp>
          <p:nvCxnSpPr>
            <p:cNvPr id="3" name="Gerader Verbinder 2">
              <a:extLst>
                <a:ext uri="{FF2B5EF4-FFF2-40B4-BE49-F238E27FC236}">
                  <a16:creationId xmlns:a16="http://schemas.microsoft.com/office/drawing/2014/main" id="{12F6399A-AFAF-084B-9280-B66AF316E8F5}"/>
                </a:ext>
              </a:extLst>
            </p:cNvPr>
            <p:cNvCxnSpPr>
              <a:cxnSpLocks/>
            </p:cNvCxnSpPr>
            <p:nvPr/>
          </p:nvCxnSpPr>
          <p:spPr>
            <a:xfrm>
              <a:off x="6343650" y="-533400"/>
              <a:ext cx="0" cy="7466073"/>
            </a:xfrm>
            <a:prstGeom prst="line">
              <a:avLst/>
            </a:prstGeom>
            <a:ln w="101600">
              <a:solidFill>
                <a:srgbClr val="00336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Textfeld 3">
              <a:extLst>
                <a:ext uri="{FF2B5EF4-FFF2-40B4-BE49-F238E27FC236}">
                  <a16:creationId xmlns:a16="http://schemas.microsoft.com/office/drawing/2014/main" id="{B6265305-C279-4C3D-6AE2-C1F26B3BBD74}"/>
                </a:ext>
              </a:extLst>
            </p:cNvPr>
            <p:cNvSpPr txBox="1"/>
            <p:nvPr/>
          </p:nvSpPr>
          <p:spPr>
            <a:xfrm>
              <a:off x="3095625" y="483415"/>
              <a:ext cx="277177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e-DE" sz="1200" b="1" dirty="0"/>
                <a:t>Aristotle</a:t>
              </a:r>
              <a:r>
                <a:rPr lang="de-DE" sz="1200" dirty="0"/>
                <a:t> in </a:t>
              </a:r>
              <a:r>
                <a:rPr lang="de-DE" sz="1200" i="1" dirty="0"/>
                <a:t>De Anima</a:t>
              </a:r>
            </a:p>
            <a:p>
              <a:pPr algn="r"/>
              <a:r>
                <a:rPr lang="de-DE" sz="1200" dirty="0" err="1"/>
                <a:t>substrate-independece</a:t>
              </a:r>
              <a:r>
                <a:rPr lang="de-DE" sz="1200" dirty="0"/>
                <a:t> </a:t>
              </a:r>
              <a:r>
                <a:rPr lang="de-DE" sz="1200" dirty="0" err="1"/>
                <a:t>of</a:t>
              </a:r>
              <a:r>
                <a:rPr lang="de-DE" sz="1200" dirty="0"/>
                <a:t> </a:t>
              </a:r>
              <a:r>
                <a:rPr lang="de-DE" sz="1200" dirty="0" err="1"/>
                <a:t>thought</a:t>
              </a:r>
              <a:endParaRPr lang="de-DE" sz="1200" dirty="0"/>
            </a:p>
          </p:txBody>
        </p:sp>
        <p:sp>
          <p:nvSpPr>
            <p:cNvPr id="5" name="Ellipse 4">
              <a:extLst>
                <a:ext uri="{FF2B5EF4-FFF2-40B4-BE49-F238E27FC236}">
                  <a16:creationId xmlns:a16="http://schemas.microsoft.com/office/drawing/2014/main" id="{D072A031-E635-2437-5F5B-0293B6A60EC0}"/>
                </a:ext>
              </a:extLst>
            </p:cNvPr>
            <p:cNvSpPr/>
            <p:nvPr/>
          </p:nvSpPr>
          <p:spPr>
            <a:xfrm>
              <a:off x="5881688" y="252285"/>
              <a:ext cx="923924" cy="923924"/>
            </a:xfrm>
            <a:prstGeom prst="ellipse">
              <a:avLst/>
            </a:prstGeom>
            <a:solidFill>
              <a:srgbClr val="E3E9EA"/>
            </a:solidFill>
            <a:ln>
              <a:solidFill>
                <a:srgbClr val="00336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de-DE" sz="1600" b="1" dirty="0">
                  <a:solidFill>
                    <a:schemeClr val="tx1"/>
                  </a:solidFill>
                </a:rPr>
                <a:t>350 BCE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F4D7B878-0F3C-65C5-7C09-31ACE74F84C3}"/>
                </a:ext>
              </a:extLst>
            </p:cNvPr>
            <p:cNvSpPr txBox="1"/>
            <p:nvPr/>
          </p:nvSpPr>
          <p:spPr>
            <a:xfrm>
              <a:off x="3467101" y="2163999"/>
              <a:ext cx="24003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e-DE" sz="1200" b="1" dirty="0"/>
                <a:t>Charles Darwin:</a:t>
              </a:r>
            </a:p>
            <a:p>
              <a:pPr algn="r"/>
              <a:r>
                <a:rPr lang="de-DE" sz="1200" dirty="0"/>
                <a:t>‚</a:t>
              </a:r>
              <a:r>
                <a:rPr lang="de-DE" sz="1200" dirty="0" err="1"/>
                <a:t>brains</a:t>
              </a:r>
              <a:r>
                <a:rPr lang="de-DE" sz="1200" dirty="0"/>
                <a:t> </a:t>
              </a:r>
              <a:r>
                <a:rPr lang="de-DE" sz="1200" dirty="0" err="1"/>
                <a:t>that</a:t>
              </a:r>
              <a:r>
                <a:rPr lang="de-DE" sz="1200" dirty="0"/>
                <a:t> </a:t>
              </a:r>
              <a:r>
                <a:rPr lang="de-DE" sz="1200" dirty="0" err="1"/>
                <a:t>generalize</a:t>
              </a:r>
              <a:r>
                <a:rPr lang="de-DE" sz="1200" dirty="0"/>
                <a:t> </a:t>
              </a:r>
              <a:r>
                <a:rPr lang="de-DE" sz="1200" dirty="0" err="1"/>
                <a:t>survive</a:t>
              </a:r>
              <a:r>
                <a:rPr lang="de-DE" sz="1200" dirty="0"/>
                <a:t>‘</a:t>
              </a:r>
            </a:p>
          </p:txBody>
        </p:sp>
        <p:sp>
          <p:nvSpPr>
            <p:cNvPr id="11" name="Ellipse 10">
              <a:extLst>
                <a:ext uri="{FF2B5EF4-FFF2-40B4-BE49-F238E27FC236}">
                  <a16:creationId xmlns:a16="http://schemas.microsoft.com/office/drawing/2014/main" id="{5B31EBB6-ABBC-593A-6E6E-13D3AE05575B}"/>
                </a:ext>
              </a:extLst>
            </p:cNvPr>
            <p:cNvSpPr/>
            <p:nvPr/>
          </p:nvSpPr>
          <p:spPr>
            <a:xfrm>
              <a:off x="5881688" y="1932869"/>
              <a:ext cx="923924" cy="923924"/>
            </a:xfrm>
            <a:prstGeom prst="ellipse">
              <a:avLst/>
            </a:prstGeom>
            <a:solidFill>
              <a:srgbClr val="E3E9EA"/>
            </a:solidFill>
            <a:ln>
              <a:solidFill>
                <a:srgbClr val="00336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de-DE" sz="1600" b="1" dirty="0">
                  <a:solidFill>
                    <a:schemeClr val="tx1"/>
                  </a:solidFill>
                </a:rPr>
                <a:t>1859</a:t>
              </a:r>
            </a:p>
          </p:txBody>
        </p: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7783BD30-3EC7-5E4B-F37A-12044C7C2BEA}"/>
                </a:ext>
              </a:extLst>
            </p:cNvPr>
            <p:cNvSpPr txBox="1"/>
            <p:nvPr/>
          </p:nvSpPr>
          <p:spPr>
            <a:xfrm>
              <a:off x="3886202" y="3844583"/>
              <a:ext cx="199548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e-DE" sz="1200" b="1" dirty="0"/>
                <a:t>Santiago Ramón y Cajal</a:t>
              </a:r>
              <a:br>
                <a:rPr lang="de-DE" sz="1200" dirty="0"/>
              </a:br>
              <a:r>
                <a:rPr lang="de-DE" sz="1200" dirty="0" err="1"/>
                <a:t>Importance</a:t>
              </a:r>
              <a:r>
                <a:rPr lang="de-DE" sz="1200" dirty="0"/>
                <a:t> </a:t>
              </a:r>
              <a:r>
                <a:rPr lang="de-DE" sz="1200" dirty="0" err="1"/>
                <a:t>of</a:t>
              </a:r>
              <a:r>
                <a:rPr lang="de-DE" sz="1200" dirty="0"/>
                <a:t> </a:t>
              </a:r>
              <a:r>
                <a:rPr lang="de-DE" sz="1200" dirty="0" err="1"/>
                <a:t>plasticity</a:t>
              </a:r>
              <a:endParaRPr lang="de-DE" sz="1200" dirty="0"/>
            </a:p>
          </p:txBody>
        </p:sp>
        <p:sp>
          <p:nvSpPr>
            <p:cNvPr id="14" name="Ellipse 13">
              <a:extLst>
                <a:ext uri="{FF2B5EF4-FFF2-40B4-BE49-F238E27FC236}">
                  <a16:creationId xmlns:a16="http://schemas.microsoft.com/office/drawing/2014/main" id="{4584360E-75C3-E8F8-2E9C-6BE91C932BEB}"/>
                </a:ext>
              </a:extLst>
            </p:cNvPr>
            <p:cNvSpPr/>
            <p:nvPr/>
          </p:nvSpPr>
          <p:spPr>
            <a:xfrm>
              <a:off x="5881688" y="3613453"/>
              <a:ext cx="923924" cy="923924"/>
            </a:xfrm>
            <a:prstGeom prst="ellipse">
              <a:avLst/>
            </a:prstGeom>
            <a:solidFill>
              <a:srgbClr val="E3E9EA"/>
            </a:solidFill>
            <a:ln>
              <a:solidFill>
                <a:srgbClr val="00336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de-DE" sz="1600" b="1" dirty="0">
                  <a:solidFill>
                    <a:schemeClr val="tx1"/>
                  </a:solidFill>
                </a:rPr>
                <a:t>1890s</a:t>
              </a:r>
            </a:p>
          </p:txBody>
        </p:sp>
        <p:sp>
          <p:nvSpPr>
            <p:cNvPr id="28" name="Textfeld 27">
              <a:extLst>
                <a:ext uri="{FF2B5EF4-FFF2-40B4-BE49-F238E27FC236}">
                  <a16:creationId xmlns:a16="http://schemas.microsoft.com/office/drawing/2014/main" id="{B8EAFF0E-529B-2CBF-C2C5-12B3BE518677}"/>
                </a:ext>
              </a:extLst>
            </p:cNvPr>
            <p:cNvSpPr txBox="1"/>
            <p:nvPr/>
          </p:nvSpPr>
          <p:spPr>
            <a:xfrm>
              <a:off x="3095625" y="5525168"/>
              <a:ext cx="277177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e-DE" sz="1200" b="1" dirty="0"/>
                <a:t>Alan Turing</a:t>
              </a:r>
              <a:br>
                <a:rPr lang="de-DE" sz="1200" dirty="0"/>
              </a:br>
              <a:r>
                <a:rPr lang="de-DE" sz="1200" dirty="0" err="1"/>
                <a:t>Computability</a:t>
              </a:r>
              <a:endParaRPr lang="de-DE" sz="1200" dirty="0"/>
            </a:p>
          </p:txBody>
        </p:sp>
        <p:sp>
          <p:nvSpPr>
            <p:cNvPr id="29" name="Ellipse 28">
              <a:extLst>
                <a:ext uri="{FF2B5EF4-FFF2-40B4-BE49-F238E27FC236}">
                  <a16:creationId xmlns:a16="http://schemas.microsoft.com/office/drawing/2014/main" id="{BA454841-9C2A-D008-AC92-C59843CE185C}"/>
                </a:ext>
              </a:extLst>
            </p:cNvPr>
            <p:cNvSpPr/>
            <p:nvPr/>
          </p:nvSpPr>
          <p:spPr>
            <a:xfrm>
              <a:off x="5881688" y="5294038"/>
              <a:ext cx="923924" cy="923924"/>
            </a:xfrm>
            <a:prstGeom prst="ellipse">
              <a:avLst/>
            </a:prstGeom>
            <a:solidFill>
              <a:srgbClr val="E3E9EA"/>
            </a:solidFill>
            <a:ln>
              <a:solidFill>
                <a:srgbClr val="00336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de-DE" sz="1600" b="1" dirty="0">
                  <a:solidFill>
                    <a:schemeClr val="tx1"/>
                  </a:solidFill>
                </a:rPr>
                <a:t>1930s</a:t>
              </a:r>
            </a:p>
          </p:txBody>
        </p:sp>
      </p:grpSp>
      <p:grpSp>
        <p:nvGrpSpPr>
          <p:cNvPr id="48" name="Gruppieren 47">
            <a:extLst>
              <a:ext uri="{FF2B5EF4-FFF2-40B4-BE49-F238E27FC236}">
                <a16:creationId xmlns:a16="http://schemas.microsoft.com/office/drawing/2014/main" id="{0E07A4BE-1430-E36B-D182-63E3A66C9EF2}"/>
              </a:ext>
            </a:extLst>
          </p:cNvPr>
          <p:cNvGrpSpPr/>
          <p:nvPr/>
        </p:nvGrpSpPr>
        <p:grpSpPr>
          <a:xfrm>
            <a:off x="7519987" y="-477777"/>
            <a:ext cx="3857625" cy="7686675"/>
            <a:chOff x="7519987" y="-477777"/>
            <a:chExt cx="3857625" cy="7686675"/>
          </a:xfrm>
        </p:grpSpPr>
        <p:cxnSp>
          <p:nvCxnSpPr>
            <p:cNvPr id="20" name="Gerader Verbinder 19">
              <a:extLst>
                <a:ext uri="{FF2B5EF4-FFF2-40B4-BE49-F238E27FC236}">
                  <a16:creationId xmlns:a16="http://schemas.microsoft.com/office/drawing/2014/main" id="{76FBF999-D724-E283-946B-728E19BB6588}"/>
                </a:ext>
              </a:extLst>
            </p:cNvPr>
            <p:cNvCxnSpPr>
              <a:cxnSpLocks/>
            </p:cNvCxnSpPr>
            <p:nvPr/>
          </p:nvCxnSpPr>
          <p:spPr>
            <a:xfrm>
              <a:off x="10915650" y="-477777"/>
              <a:ext cx="0" cy="7686675"/>
            </a:xfrm>
            <a:prstGeom prst="line">
              <a:avLst/>
            </a:prstGeom>
            <a:ln w="101600">
              <a:solidFill>
                <a:srgbClr val="00336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feld 25">
              <a:extLst>
                <a:ext uri="{FF2B5EF4-FFF2-40B4-BE49-F238E27FC236}">
                  <a16:creationId xmlns:a16="http://schemas.microsoft.com/office/drawing/2014/main" id="{E2929212-416F-950F-092E-1B97FF653A4F}"/>
                </a:ext>
              </a:extLst>
            </p:cNvPr>
            <p:cNvSpPr txBox="1"/>
            <p:nvPr/>
          </p:nvSpPr>
          <p:spPr>
            <a:xfrm>
              <a:off x="8062907" y="2395128"/>
              <a:ext cx="24003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e-DE" sz="1200" b="1" dirty="0"/>
                <a:t>John </a:t>
              </a:r>
              <a:r>
                <a:rPr lang="de-DE" sz="1200" b="1" dirty="0" err="1"/>
                <a:t>Hopfield</a:t>
              </a:r>
              <a:endParaRPr lang="de-DE" sz="1200" b="1" dirty="0"/>
            </a:p>
            <a:p>
              <a:pPr algn="r"/>
              <a:r>
                <a:rPr lang="de-DE" sz="1200" dirty="0" err="1"/>
                <a:t>Associative</a:t>
              </a:r>
              <a:r>
                <a:rPr lang="de-DE" sz="1200" dirty="0"/>
                <a:t> neuronal </a:t>
              </a:r>
              <a:r>
                <a:rPr lang="de-DE" sz="1200" dirty="0" err="1"/>
                <a:t>networks</a:t>
              </a:r>
              <a:endParaRPr lang="de-DE" sz="1200" dirty="0"/>
            </a:p>
          </p:txBody>
        </p:sp>
        <p:sp>
          <p:nvSpPr>
            <p:cNvPr id="27" name="Ellipse 26">
              <a:extLst>
                <a:ext uri="{FF2B5EF4-FFF2-40B4-BE49-F238E27FC236}">
                  <a16:creationId xmlns:a16="http://schemas.microsoft.com/office/drawing/2014/main" id="{D0FACBF5-8EEF-BF51-49CD-6DF94C1EE8D2}"/>
                </a:ext>
              </a:extLst>
            </p:cNvPr>
            <p:cNvSpPr/>
            <p:nvPr/>
          </p:nvSpPr>
          <p:spPr>
            <a:xfrm>
              <a:off x="10453688" y="2169248"/>
              <a:ext cx="923924" cy="923924"/>
            </a:xfrm>
            <a:prstGeom prst="ellipse">
              <a:avLst/>
            </a:prstGeom>
            <a:solidFill>
              <a:srgbClr val="E3E9EA"/>
            </a:solidFill>
            <a:ln>
              <a:solidFill>
                <a:srgbClr val="00336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de-DE" sz="1600" b="1" dirty="0">
                  <a:solidFill>
                    <a:schemeClr val="tx1"/>
                  </a:solidFill>
                </a:rPr>
                <a:t>1982</a:t>
              </a:r>
            </a:p>
          </p:txBody>
        </p:sp>
        <p:sp>
          <p:nvSpPr>
            <p:cNvPr id="24" name="Textfeld 23">
              <a:extLst>
                <a:ext uri="{FF2B5EF4-FFF2-40B4-BE49-F238E27FC236}">
                  <a16:creationId xmlns:a16="http://schemas.microsoft.com/office/drawing/2014/main" id="{768F1C2D-CA4F-3997-B3B5-2F0619AC727F}"/>
                </a:ext>
              </a:extLst>
            </p:cNvPr>
            <p:cNvSpPr txBox="1"/>
            <p:nvPr/>
          </p:nvSpPr>
          <p:spPr>
            <a:xfrm>
              <a:off x="7734295" y="4089656"/>
              <a:ext cx="272891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e-DE" sz="1200" b="1" dirty="0"/>
                <a:t>Randall Beer</a:t>
              </a:r>
              <a:br>
                <a:rPr lang="de-DE" sz="1200" b="1" dirty="0"/>
              </a:br>
              <a:r>
                <a:rPr lang="de-DE" sz="1200" dirty="0" err="1"/>
                <a:t>Intelligence</a:t>
              </a:r>
              <a:r>
                <a:rPr lang="de-DE" sz="1200" dirty="0"/>
                <a:t> </a:t>
              </a:r>
              <a:r>
                <a:rPr lang="de-DE" sz="1200" dirty="0" err="1"/>
                <a:t>as</a:t>
              </a:r>
              <a:r>
                <a:rPr lang="de-DE" sz="1200" dirty="0"/>
                <a:t> Adaptive </a:t>
              </a:r>
              <a:r>
                <a:rPr lang="de-DE" sz="1200" dirty="0" err="1"/>
                <a:t>Behavior</a:t>
              </a:r>
              <a:endParaRPr lang="de-DE" sz="1200" dirty="0"/>
            </a:p>
          </p:txBody>
        </p:sp>
        <p:sp>
          <p:nvSpPr>
            <p:cNvPr id="25" name="Ellipse 24">
              <a:extLst>
                <a:ext uri="{FF2B5EF4-FFF2-40B4-BE49-F238E27FC236}">
                  <a16:creationId xmlns:a16="http://schemas.microsoft.com/office/drawing/2014/main" id="{7E1E3FAD-FAB0-206E-9BE6-82E4C2D0CC35}"/>
                </a:ext>
              </a:extLst>
            </p:cNvPr>
            <p:cNvSpPr/>
            <p:nvPr/>
          </p:nvSpPr>
          <p:spPr>
            <a:xfrm>
              <a:off x="10453688" y="3858527"/>
              <a:ext cx="923924" cy="923924"/>
            </a:xfrm>
            <a:prstGeom prst="ellipse">
              <a:avLst/>
            </a:prstGeom>
            <a:solidFill>
              <a:srgbClr val="E3E9EA"/>
            </a:solidFill>
            <a:ln>
              <a:solidFill>
                <a:srgbClr val="00336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de-DE" sz="1600" b="1" dirty="0">
                  <a:solidFill>
                    <a:schemeClr val="tx1"/>
                  </a:solidFill>
                </a:rPr>
                <a:t>1990</a:t>
              </a:r>
            </a:p>
          </p:txBody>
        </p:sp>
        <p:sp>
          <p:nvSpPr>
            <p:cNvPr id="30" name="Textfeld 29">
              <a:extLst>
                <a:ext uri="{FF2B5EF4-FFF2-40B4-BE49-F238E27FC236}">
                  <a16:creationId xmlns:a16="http://schemas.microsoft.com/office/drawing/2014/main" id="{EC09D6B2-2E52-81BC-CDA6-4158151B689E}"/>
                </a:ext>
              </a:extLst>
            </p:cNvPr>
            <p:cNvSpPr txBox="1"/>
            <p:nvPr/>
          </p:nvSpPr>
          <p:spPr>
            <a:xfrm>
              <a:off x="7815257" y="249434"/>
              <a:ext cx="2647950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e-DE" sz="1200" b="1" dirty="0" err="1"/>
                <a:t>Mc</a:t>
              </a:r>
              <a:r>
                <a:rPr lang="de-DE" sz="1200" b="1" dirty="0"/>
                <a:t> Culloch and Pitts</a:t>
              </a:r>
              <a:br>
                <a:rPr lang="de-DE" sz="1200" dirty="0"/>
              </a:br>
              <a:r>
                <a:rPr lang="de-DE" sz="1200" dirty="0" err="1"/>
                <a:t>computational</a:t>
              </a:r>
              <a:r>
                <a:rPr lang="de-DE" sz="1200" dirty="0"/>
                <a:t> power </a:t>
              </a:r>
              <a:r>
                <a:rPr lang="de-DE" sz="1200" dirty="0" err="1"/>
                <a:t>of</a:t>
              </a:r>
              <a:r>
                <a:rPr lang="de-DE" sz="1200" dirty="0"/>
                <a:t> simple neuronal </a:t>
              </a:r>
              <a:r>
                <a:rPr lang="de-DE" sz="1200" dirty="0" err="1"/>
                <a:t>networks</a:t>
              </a:r>
              <a:br>
                <a:rPr lang="de-DE" sz="1200" dirty="0"/>
              </a:br>
              <a:r>
                <a:rPr lang="de-DE" sz="1200" b="1" dirty="0"/>
                <a:t>Donald Hebb</a:t>
              </a:r>
              <a:br>
                <a:rPr lang="de-DE" sz="1200" dirty="0"/>
              </a:br>
              <a:r>
                <a:rPr lang="de-DE" sz="1200" dirty="0" err="1"/>
                <a:t>plasticity</a:t>
              </a:r>
              <a:r>
                <a:rPr lang="de-DE" sz="1200" dirty="0"/>
                <a:t> </a:t>
              </a:r>
              <a:r>
                <a:rPr lang="de-DE" sz="1200" dirty="0" err="1"/>
                <a:t>mechanisms</a:t>
              </a:r>
              <a:endParaRPr lang="de-DE" sz="1200" dirty="0"/>
            </a:p>
            <a:p>
              <a:pPr algn="r"/>
              <a:r>
                <a:rPr lang="de-DE" sz="1200" b="1" dirty="0"/>
                <a:t>Norbert Wiener</a:t>
              </a:r>
              <a:br>
                <a:rPr lang="de-DE" sz="1200" dirty="0"/>
              </a:br>
              <a:r>
                <a:rPr lang="de-DE" sz="1200" dirty="0" err="1"/>
                <a:t>information</a:t>
              </a:r>
              <a:r>
                <a:rPr lang="de-DE" sz="1200" dirty="0"/>
                <a:t> </a:t>
              </a:r>
              <a:r>
                <a:rPr lang="de-DE" sz="1200" dirty="0" err="1"/>
                <a:t>processing</a:t>
              </a:r>
              <a:r>
                <a:rPr lang="de-DE" sz="1200" dirty="0"/>
                <a:t> and </a:t>
              </a:r>
              <a:r>
                <a:rPr lang="de-DE" sz="1200" dirty="0" err="1"/>
                <a:t>feedback</a:t>
              </a:r>
              <a:endParaRPr lang="de-DE" sz="1200" dirty="0"/>
            </a:p>
          </p:txBody>
        </p:sp>
        <p:sp>
          <p:nvSpPr>
            <p:cNvPr id="31" name="Ellipse 30">
              <a:extLst>
                <a:ext uri="{FF2B5EF4-FFF2-40B4-BE49-F238E27FC236}">
                  <a16:creationId xmlns:a16="http://schemas.microsoft.com/office/drawing/2014/main" id="{50499E26-D9DE-C68D-DE82-54F34B5F80BC}"/>
                </a:ext>
              </a:extLst>
            </p:cNvPr>
            <p:cNvSpPr/>
            <p:nvPr/>
          </p:nvSpPr>
          <p:spPr>
            <a:xfrm>
              <a:off x="10453688" y="479969"/>
              <a:ext cx="923924" cy="923924"/>
            </a:xfrm>
            <a:prstGeom prst="ellipse">
              <a:avLst/>
            </a:prstGeom>
            <a:solidFill>
              <a:srgbClr val="E3E9EA"/>
            </a:solidFill>
            <a:ln>
              <a:solidFill>
                <a:srgbClr val="00336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de-DE" sz="1600" b="1" dirty="0">
                  <a:solidFill>
                    <a:schemeClr val="tx1"/>
                  </a:solidFill>
                </a:rPr>
                <a:t>1940s</a:t>
              </a:r>
            </a:p>
          </p:txBody>
        </p:sp>
        <p:sp>
          <p:nvSpPr>
            <p:cNvPr id="39" name="Textfeld 38">
              <a:extLst>
                <a:ext uri="{FF2B5EF4-FFF2-40B4-BE49-F238E27FC236}">
                  <a16:creationId xmlns:a16="http://schemas.microsoft.com/office/drawing/2014/main" id="{5C55C199-CF8D-BC8F-B958-86C6861EB473}"/>
                </a:ext>
              </a:extLst>
            </p:cNvPr>
            <p:cNvSpPr txBox="1"/>
            <p:nvPr/>
          </p:nvSpPr>
          <p:spPr>
            <a:xfrm>
              <a:off x="7519987" y="5479001"/>
              <a:ext cx="2943220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e-DE" sz="1200" b="1" dirty="0"/>
                <a:t>Eduardo Izquierdo, Ezequiel Di Paolo, Matthew Egbert</a:t>
              </a:r>
              <a:r>
                <a:rPr lang="de-DE" sz="1200" dirty="0"/>
                <a:t> </a:t>
              </a:r>
            </a:p>
            <a:p>
              <a:pPr algn="r"/>
              <a:r>
                <a:rPr lang="de-DE" sz="1200" dirty="0" err="1"/>
                <a:t>chemotaxis</a:t>
              </a:r>
              <a:r>
                <a:rPr lang="de-DE" sz="1200" dirty="0"/>
                <a:t> </a:t>
              </a:r>
              <a:r>
                <a:rPr lang="de-DE" sz="1200" dirty="0" err="1"/>
                <a:t>models</a:t>
              </a:r>
              <a:r>
                <a:rPr lang="de-DE" sz="1200" dirty="0"/>
                <a:t>, minimal </a:t>
              </a:r>
              <a:r>
                <a:rPr lang="de-DE" sz="1200" dirty="0" err="1"/>
                <a:t>life</a:t>
              </a:r>
              <a:endParaRPr lang="de-DE" sz="1200" dirty="0"/>
            </a:p>
            <a:p>
              <a:pPr algn="r"/>
              <a:r>
                <a:rPr lang="de-DE" sz="1200" b="1" dirty="0"/>
                <a:t>Rolf Pfeifer, Josh Bongard</a:t>
              </a:r>
            </a:p>
            <a:p>
              <a:pPr algn="r"/>
              <a:r>
                <a:rPr lang="de-DE" sz="1200" dirty="0"/>
                <a:t>Embedded </a:t>
              </a:r>
              <a:r>
                <a:rPr lang="de-DE" sz="1200" dirty="0" err="1"/>
                <a:t>cognition</a:t>
              </a:r>
              <a:endParaRPr lang="de-DE" sz="1200" dirty="0"/>
            </a:p>
          </p:txBody>
        </p:sp>
        <p:sp>
          <p:nvSpPr>
            <p:cNvPr id="40" name="Ellipse 39">
              <a:extLst>
                <a:ext uri="{FF2B5EF4-FFF2-40B4-BE49-F238E27FC236}">
                  <a16:creationId xmlns:a16="http://schemas.microsoft.com/office/drawing/2014/main" id="{A55570A4-2122-B7CD-00C0-26E5943D5786}"/>
                </a:ext>
              </a:extLst>
            </p:cNvPr>
            <p:cNvSpPr/>
            <p:nvPr/>
          </p:nvSpPr>
          <p:spPr>
            <a:xfrm>
              <a:off x="10453688" y="5547805"/>
              <a:ext cx="923924" cy="923924"/>
            </a:xfrm>
            <a:prstGeom prst="ellipse">
              <a:avLst/>
            </a:prstGeom>
            <a:solidFill>
              <a:srgbClr val="E3E9EA"/>
            </a:solidFill>
            <a:ln>
              <a:solidFill>
                <a:srgbClr val="00336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de-DE" sz="1600" b="1" dirty="0">
                  <a:solidFill>
                    <a:schemeClr val="tx1"/>
                  </a:solidFill>
                </a:rPr>
                <a:t>Today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011226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ihandform: Form 1">
            <a:extLst>
              <a:ext uri="{FF2B5EF4-FFF2-40B4-BE49-F238E27FC236}">
                <a16:creationId xmlns:a16="http://schemas.microsoft.com/office/drawing/2014/main" id="{CDB508F9-6FEF-189E-746C-C3CB86C58808}"/>
              </a:ext>
            </a:extLst>
          </p:cNvPr>
          <p:cNvSpPr/>
          <p:nvPr/>
        </p:nvSpPr>
        <p:spPr>
          <a:xfrm>
            <a:off x="-3057524" y="1494429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DE488335-5714-EA51-3746-12582DF0CB68}"/>
              </a:ext>
            </a:extLst>
          </p:cNvPr>
          <p:cNvSpPr txBox="1"/>
          <p:nvPr/>
        </p:nvSpPr>
        <p:spPr>
          <a:xfrm>
            <a:off x="-11904" y="2045078"/>
            <a:ext cx="284797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Why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are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brains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so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good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at </a:t>
            </a:r>
          </a:p>
          <a:p>
            <a:pPr algn="ctr"/>
            <a:r>
              <a:rPr lang="de-DE" sz="2400" b="1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flexible </a:t>
            </a:r>
            <a:r>
              <a:rPr lang="de-DE" sz="2400" b="1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generalization</a:t>
            </a:r>
            <a:r>
              <a:rPr lang="de-DE" sz="2400" b="1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?</a:t>
            </a:r>
          </a:p>
          <a:p>
            <a:pPr algn="ctr"/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  <a:p>
            <a:pPr algn="ctr"/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09395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BA483A-42A1-C624-C4BF-5F6A116F8A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feld 9">
            <a:extLst>
              <a:ext uri="{FF2B5EF4-FFF2-40B4-BE49-F238E27FC236}">
                <a16:creationId xmlns:a16="http://schemas.microsoft.com/office/drawing/2014/main" id="{7D02961B-6FF1-0FC0-28E9-371B87139242}"/>
              </a:ext>
            </a:extLst>
          </p:cNvPr>
          <p:cNvSpPr txBox="1"/>
          <p:nvPr/>
        </p:nvSpPr>
        <p:spPr>
          <a:xfrm>
            <a:off x="781050" y="2249269"/>
            <a:ext cx="7639050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Recent</a:t>
            </a:r>
            <a:r>
              <a:rPr lang="de-DE" dirty="0"/>
              <a:t> </a:t>
            </a:r>
            <a:r>
              <a:rPr lang="de-DE" dirty="0" err="1"/>
              <a:t>studies</a:t>
            </a:r>
            <a:r>
              <a:rPr lang="de-DE" dirty="0"/>
              <a:t> on </a:t>
            </a:r>
            <a:r>
              <a:rPr lang="de-DE" dirty="0" err="1"/>
              <a:t>connectome</a:t>
            </a:r>
            <a:r>
              <a:rPr lang="de-DE" dirty="0"/>
              <a:t> </a:t>
            </a:r>
            <a:r>
              <a:rPr lang="de-DE" dirty="0" err="1"/>
              <a:t>modelling</a:t>
            </a:r>
            <a:r>
              <a:rPr lang="de-DE" dirty="0"/>
              <a:t> and </a:t>
            </a:r>
            <a:r>
              <a:rPr lang="de-DE" dirty="0" err="1"/>
              <a:t>some</a:t>
            </a:r>
            <a:r>
              <a:rPr lang="de-DE" dirty="0"/>
              <a:t> </a:t>
            </a:r>
            <a:r>
              <a:rPr lang="de-DE" dirty="0" err="1"/>
              <a:t>key</a:t>
            </a:r>
            <a:r>
              <a:rPr lang="de-DE" dirty="0"/>
              <a:t> </a:t>
            </a:r>
            <a:r>
              <a:rPr lang="de-DE" dirty="0" err="1"/>
              <a:t>results</a:t>
            </a:r>
            <a:endParaRPr lang="de-DE" dirty="0"/>
          </a:p>
          <a:p>
            <a:endParaRPr lang="de-DE" dirty="0"/>
          </a:p>
          <a:p>
            <a:r>
              <a:rPr lang="de-DE" dirty="0"/>
              <a:t>E.g.</a:t>
            </a:r>
          </a:p>
          <a:p>
            <a:r>
              <a:rPr lang="en-US" sz="1050" dirty="0"/>
              <a:t>Zhao, M., Wang, N., Jiang, X. </a:t>
            </a:r>
            <a:r>
              <a:rPr lang="en-US" sz="1050" i="1" dirty="0"/>
              <a:t>et al.</a:t>
            </a:r>
            <a:r>
              <a:rPr lang="en-US" sz="1050" dirty="0"/>
              <a:t> An integrative data-driven model simulating </a:t>
            </a:r>
            <a:r>
              <a:rPr lang="en-US" sz="1050" i="1" dirty="0"/>
              <a:t>C. elegans</a:t>
            </a:r>
            <a:r>
              <a:rPr lang="en-US" sz="1050" dirty="0"/>
              <a:t> brain, body and environment interactions. </a:t>
            </a:r>
            <a:r>
              <a:rPr lang="en-US" sz="1050" i="1" dirty="0"/>
              <a:t>Nat </a:t>
            </a:r>
            <a:r>
              <a:rPr lang="en-US" sz="1050" i="1" dirty="0" err="1"/>
              <a:t>Comput</a:t>
            </a:r>
            <a:r>
              <a:rPr lang="en-US" sz="1050" i="1" dirty="0"/>
              <a:t> Sci</a:t>
            </a:r>
            <a:r>
              <a:rPr lang="en-US" sz="1050" dirty="0"/>
              <a:t> </a:t>
            </a:r>
            <a:r>
              <a:rPr lang="en-US" sz="1050" b="1" dirty="0"/>
              <a:t>4</a:t>
            </a:r>
            <a:r>
              <a:rPr lang="en-US" sz="1050" dirty="0"/>
              <a:t>, 978–990 (2024). https://doi.org/10.1038/s43588-024-00738-w</a:t>
            </a:r>
            <a:endParaRPr lang="de-DE" sz="1050" dirty="0"/>
          </a:p>
        </p:txBody>
      </p:sp>
      <p:pic>
        <p:nvPicPr>
          <p:cNvPr id="1026" name="Picture 2" descr="An integrative data-driven model simulating C. elegans brain ...">
            <a:extLst>
              <a:ext uri="{FF2B5EF4-FFF2-40B4-BE49-F238E27FC236}">
                <a16:creationId xmlns:a16="http://schemas.microsoft.com/office/drawing/2014/main" id="{E3AAAB6F-CFA3-5ECB-AF23-A96FEC7A66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0989" y="2044331"/>
            <a:ext cx="3040062" cy="27693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BF0E3499-0711-F051-A1D3-B60C281E5F03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de-DE"/>
              <a:t>Dr. Jana Dahlmanns – Jana.Dahlmanns@fau.de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DD8DEED-7B4B-04A7-F0DD-BE128246484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01D04CD-A18E-4C48-A0D4-2F175BEDACF1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705995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7AD5C2-FCA0-7E11-E02C-FD749F9912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557B6DFA-5D8E-D159-4F36-AD309A0ED0A6}"/>
              </a:ext>
            </a:extLst>
          </p:cNvPr>
          <p:cNvSpPr txBox="1"/>
          <p:nvPr/>
        </p:nvSpPr>
        <p:spPr>
          <a:xfrm>
            <a:off x="3581467" y="558802"/>
            <a:ext cx="502906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Why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brains</a:t>
            </a:r>
            <a:r>
              <a:rPr lang="de-DE" dirty="0"/>
              <a:t> so </a:t>
            </a:r>
            <a:r>
              <a:rPr lang="de-DE" dirty="0" err="1"/>
              <a:t>good</a:t>
            </a:r>
            <a:r>
              <a:rPr lang="de-DE" dirty="0"/>
              <a:t> at flexible </a:t>
            </a:r>
            <a:r>
              <a:rPr lang="de-DE" dirty="0" err="1"/>
              <a:t>generalization</a:t>
            </a:r>
            <a:r>
              <a:rPr lang="de-DE" dirty="0"/>
              <a:t>?</a:t>
            </a:r>
          </a:p>
          <a:p>
            <a:endParaRPr lang="de-DE" dirty="0"/>
          </a:p>
          <a:p>
            <a:r>
              <a:rPr lang="de-DE" dirty="0"/>
              <a:t>Why </a:t>
            </a:r>
            <a:r>
              <a:rPr lang="de-DE" dirty="0" err="1"/>
              <a:t>can‘t</a:t>
            </a:r>
            <a:r>
              <a:rPr lang="de-DE" dirty="0"/>
              <a:t> </a:t>
            </a:r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explain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?</a:t>
            </a:r>
          </a:p>
          <a:p>
            <a:endParaRPr lang="de-DE" dirty="0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41560742-BD6F-4C8E-1E09-0823C2FFD5B1}"/>
              </a:ext>
            </a:extLst>
          </p:cNvPr>
          <p:cNvSpPr txBox="1"/>
          <p:nvPr/>
        </p:nvSpPr>
        <p:spPr>
          <a:xfrm>
            <a:off x="8832850" y="1620619"/>
            <a:ext cx="2425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Top-down </a:t>
            </a:r>
            <a:r>
              <a:rPr lang="de-DE" dirty="0" err="1"/>
              <a:t>approach</a:t>
            </a:r>
            <a:endParaRPr lang="de-DE" dirty="0"/>
          </a:p>
        </p:txBody>
      </p:sp>
      <p:pic>
        <p:nvPicPr>
          <p:cNvPr id="1026" name="Picture 2" descr="An integrative data-driven model simulating C. elegans brain ...">
            <a:extLst>
              <a:ext uri="{FF2B5EF4-FFF2-40B4-BE49-F238E27FC236}">
                <a16:creationId xmlns:a16="http://schemas.microsoft.com/office/drawing/2014/main" id="{F738C034-5C69-0021-6CC2-AAE3E8FC00C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97" t="68802" r="53264" b="17211"/>
          <a:stretch>
            <a:fillRect/>
          </a:stretch>
        </p:blipFill>
        <p:spPr bwMode="auto">
          <a:xfrm>
            <a:off x="9264650" y="2055594"/>
            <a:ext cx="1244600" cy="387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Pfeil: nach unten 2">
            <a:extLst>
              <a:ext uri="{FF2B5EF4-FFF2-40B4-BE49-F238E27FC236}">
                <a16:creationId xmlns:a16="http://schemas.microsoft.com/office/drawing/2014/main" id="{D4376827-1986-BEC5-C53E-1795CEDDFB02}"/>
              </a:ext>
            </a:extLst>
          </p:cNvPr>
          <p:cNvSpPr/>
          <p:nvPr/>
        </p:nvSpPr>
        <p:spPr>
          <a:xfrm>
            <a:off x="9747250" y="2508250"/>
            <a:ext cx="349250" cy="60325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9C1B77C3-F212-28B9-53E0-E72EF8C85E59}"/>
              </a:ext>
            </a:extLst>
          </p:cNvPr>
          <p:cNvSpPr txBox="1"/>
          <p:nvPr/>
        </p:nvSpPr>
        <p:spPr>
          <a:xfrm>
            <a:off x="8940800" y="6060999"/>
            <a:ext cx="2425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Bottom-up</a:t>
            </a:r>
            <a:r>
              <a:rPr lang="de-DE" dirty="0"/>
              <a:t> </a:t>
            </a:r>
            <a:r>
              <a:rPr lang="de-DE" dirty="0" err="1"/>
              <a:t>approach</a:t>
            </a:r>
            <a:endParaRPr lang="de-DE" dirty="0"/>
          </a:p>
        </p:txBody>
      </p:sp>
      <p:sp>
        <p:nvSpPr>
          <p:cNvPr id="6" name="Pfeil: nach unten 5">
            <a:extLst>
              <a:ext uri="{FF2B5EF4-FFF2-40B4-BE49-F238E27FC236}">
                <a16:creationId xmlns:a16="http://schemas.microsoft.com/office/drawing/2014/main" id="{4406EBD8-0DBF-67FE-D907-CD1829780E94}"/>
              </a:ext>
            </a:extLst>
          </p:cNvPr>
          <p:cNvSpPr/>
          <p:nvPr/>
        </p:nvSpPr>
        <p:spPr>
          <a:xfrm rot="10800000">
            <a:off x="9791700" y="4415057"/>
            <a:ext cx="349250" cy="60325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F71D3448-D572-0487-CA0D-1438EEF093BD}"/>
              </a:ext>
            </a:extLst>
          </p:cNvPr>
          <p:cNvSpPr txBox="1"/>
          <p:nvPr/>
        </p:nvSpPr>
        <p:spPr>
          <a:xfrm>
            <a:off x="984251" y="2440545"/>
            <a:ext cx="4845050" cy="14311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Recent</a:t>
            </a:r>
            <a:r>
              <a:rPr lang="de-DE" dirty="0"/>
              <a:t> </a:t>
            </a:r>
            <a:r>
              <a:rPr lang="de-DE" dirty="0" err="1"/>
              <a:t>studies</a:t>
            </a:r>
            <a:r>
              <a:rPr lang="de-DE" dirty="0"/>
              <a:t> on CTRNNs &amp; minimal </a:t>
            </a:r>
            <a:r>
              <a:rPr lang="de-DE" dirty="0" err="1"/>
              <a:t>cognition</a:t>
            </a:r>
            <a:endParaRPr lang="de-DE" dirty="0"/>
          </a:p>
          <a:p>
            <a:endParaRPr lang="de-DE" dirty="0"/>
          </a:p>
          <a:p>
            <a:r>
              <a:rPr lang="de-DE" dirty="0"/>
              <a:t>E.g.</a:t>
            </a:r>
            <a:br>
              <a:rPr lang="de-DE" dirty="0"/>
            </a:br>
            <a:r>
              <a:rPr lang="en-US" sz="1100" dirty="0"/>
              <a:t>Ji-An, L., Benna, M.K. &amp; Mattar, M.G. Discovering cognitive strategies with tiny recurrent neural networks. </a:t>
            </a:r>
            <a:r>
              <a:rPr lang="en-US" sz="1100" i="1" dirty="0"/>
              <a:t>Nature</a:t>
            </a:r>
            <a:r>
              <a:rPr lang="en-US" sz="1100" dirty="0"/>
              <a:t> </a:t>
            </a:r>
            <a:r>
              <a:rPr lang="en-US" sz="1100" b="1" dirty="0"/>
              <a:t>644</a:t>
            </a:r>
            <a:r>
              <a:rPr lang="en-US" sz="1100" dirty="0"/>
              <a:t>, 993–1001 (2025). https://doi.org/10.1038/s41586-025-09142-4</a:t>
            </a:r>
            <a:endParaRPr lang="de-DE" dirty="0"/>
          </a:p>
        </p:txBody>
      </p:sp>
      <p:pic>
        <p:nvPicPr>
          <p:cNvPr id="2050" name="Picture 2" descr="Fig. 1: Model overview and performance on animal tasks.">
            <a:extLst>
              <a:ext uri="{FF2B5EF4-FFF2-40B4-BE49-F238E27FC236}">
                <a16:creationId xmlns:a16="http://schemas.microsoft.com/office/drawing/2014/main" id="{5D49F99D-1303-8EE7-EB30-DA0BAF418B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3150" y="3987664"/>
            <a:ext cx="3238500" cy="23224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Fig. 1: Model overview and performance on animal tasks.">
            <a:extLst>
              <a:ext uri="{FF2B5EF4-FFF2-40B4-BE49-F238E27FC236}">
                <a16:creationId xmlns:a16="http://schemas.microsoft.com/office/drawing/2014/main" id="{61EBF8C4-8028-6011-E24C-3BEE4AFC44F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490" t="2188" r="22451" b="71832"/>
          <a:stretch>
            <a:fillRect/>
          </a:stretch>
        </p:blipFill>
        <p:spPr bwMode="auto">
          <a:xfrm>
            <a:off x="9690102" y="5276060"/>
            <a:ext cx="552449" cy="6033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2B6AD87F-7014-AEA9-AD39-7805855F0A1F}"/>
              </a:ext>
            </a:extLst>
          </p:cNvPr>
          <p:cNvSpPr txBox="1"/>
          <p:nvPr/>
        </p:nvSpPr>
        <p:spPr>
          <a:xfrm>
            <a:off x="4456806" y="5648615"/>
            <a:ext cx="46678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i="1" dirty="0"/>
              <a:t>Minimal </a:t>
            </a:r>
            <a:r>
              <a:rPr lang="de-DE" sz="1200" i="1" dirty="0" err="1"/>
              <a:t>models</a:t>
            </a:r>
            <a:r>
              <a:rPr lang="de-DE" sz="1200" i="1" dirty="0"/>
              <a:t> </a:t>
            </a:r>
            <a:r>
              <a:rPr lang="de-DE" sz="1200" i="1" dirty="0" err="1"/>
              <a:t>have</a:t>
            </a:r>
            <a:r>
              <a:rPr lang="de-DE" sz="1200" i="1" dirty="0"/>
              <a:t> a </a:t>
            </a:r>
            <a:r>
              <a:rPr lang="de-DE" sz="1200" i="1" dirty="0" err="1"/>
              <a:t>long</a:t>
            </a:r>
            <a:r>
              <a:rPr lang="de-DE" sz="1200" i="1" dirty="0"/>
              <a:t> and </a:t>
            </a:r>
            <a:r>
              <a:rPr lang="de-DE" sz="1200" i="1" dirty="0" err="1"/>
              <a:t>productive</a:t>
            </a:r>
            <a:r>
              <a:rPr lang="de-DE" sz="1200" i="1" dirty="0"/>
              <a:t> </a:t>
            </a:r>
            <a:r>
              <a:rPr lang="de-DE" sz="1200" i="1" dirty="0" err="1"/>
              <a:t>history</a:t>
            </a:r>
            <a:r>
              <a:rPr lang="de-DE" sz="1200" i="1" dirty="0"/>
              <a:t> in </a:t>
            </a:r>
            <a:r>
              <a:rPr lang="de-DE" sz="1200" i="1" dirty="0" err="1"/>
              <a:t>neuroscience</a:t>
            </a:r>
            <a:r>
              <a:rPr lang="de-DE" sz="1200" i="1" dirty="0"/>
              <a:t>. </a:t>
            </a:r>
            <a:r>
              <a:rPr lang="de-DE" sz="1200" i="1" dirty="0" err="1"/>
              <a:t>we‘re</a:t>
            </a:r>
            <a:r>
              <a:rPr lang="de-DE" sz="1200" i="1" dirty="0"/>
              <a:t> </a:t>
            </a:r>
            <a:r>
              <a:rPr lang="de-DE" sz="1200" i="1" dirty="0" err="1"/>
              <a:t>applying</a:t>
            </a:r>
            <a:r>
              <a:rPr lang="de-DE" sz="1200" i="1" dirty="0"/>
              <a:t> </a:t>
            </a:r>
            <a:r>
              <a:rPr lang="de-DE" sz="1200" i="1" dirty="0" err="1"/>
              <a:t>that</a:t>
            </a:r>
            <a:r>
              <a:rPr lang="de-DE" sz="1200" i="1" dirty="0"/>
              <a:t> </a:t>
            </a:r>
            <a:r>
              <a:rPr lang="de-DE" sz="1200" i="1" dirty="0" err="1"/>
              <a:t>logic</a:t>
            </a:r>
            <a:r>
              <a:rPr lang="de-DE" sz="1200" i="1" dirty="0"/>
              <a:t> </a:t>
            </a:r>
            <a:r>
              <a:rPr lang="de-DE" sz="1200" i="1" dirty="0" err="1"/>
              <a:t>to</a:t>
            </a:r>
            <a:r>
              <a:rPr lang="de-DE" sz="1200" i="1" dirty="0"/>
              <a:t> </a:t>
            </a:r>
            <a:r>
              <a:rPr lang="de-DE" sz="1200" i="1" dirty="0" err="1"/>
              <a:t>the</a:t>
            </a:r>
            <a:r>
              <a:rPr lang="de-DE" sz="1200" i="1" dirty="0"/>
              <a:t> </a:t>
            </a:r>
            <a:r>
              <a:rPr lang="de-DE" sz="1200" i="1" dirty="0" err="1"/>
              <a:t>question</a:t>
            </a:r>
            <a:r>
              <a:rPr lang="de-DE" sz="1200" i="1" dirty="0"/>
              <a:t> </a:t>
            </a:r>
            <a:r>
              <a:rPr lang="de-DE" sz="1200" i="1" dirty="0" err="1"/>
              <a:t>of</a:t>
            </a:r>
            <a:r>
              <a:rPr lang="de-DE" sz="1200" i="1" dirty="0"/>
              <a:t> adaptive </a:t>
            </a:r>
            <a:r>
              <a:rPr lang="de-DE" sz="1200" i="1" dirty="0" err="1"/>
              <a:t>flexibility</a:t>
            </a:r>
            <a:r>
              <a:rPr lang="de-DE" sz="1200" i="1" dirty="0"/>
              <a:t>.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7FDD229-D8C8-AC43-747B-BCFFBF0456EB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de-DE"/>
              <a:t>Dr. Jana Dahlmanns – Jana.Dahlmanns@fau.de</a:t>
            </a:r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B4829D42-E7C6-BC0F-DFDD-69311E69008C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01D04CD-A18E-4C48-A0D4-2F175BEDACF1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594579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555FCAEC-34E8-53FB-8159-ED260B22F6F9}"/>
              </a:ext>
            </a:extLst>
          </p:cNvPr>
          <p:cNvSpPr txBox="1"/>
          <p:nvPr/>
        </p:nvSpPr>
        <p:spPr>
          <a:xfrm>
            <a:off x="781050" y="736600"/>
            <a:ext cx="101790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 err="1"/>
              <a:t>Selection</a:t>
            </a:r>
            <a:r>
              <a:rPr lang="de-DE" dirty="0"/>
              <a:t> and </a:t>
            </a:r>
            <a:r>
              <a:rPr lang="de-DE" dirty="0" err="1"/>
              <a:t>investigation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unsupervised</a:t>
            </a:r>
            <a:r>
              <a:rPr lang="de-DE" dirty="0"/>
              <a:t> adaptive </a:t>
            </a:r>
            <a:r>
              <a:rPr lang="de-DE" dirty="0" err="1"/>
              <a:t>learners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minmal</a:t>
            </a:r>
            <a:r>
              <a:rPr lang="de-DE" dirty="0"/>
              <a:t> neuronal </a:t>
            </a:r>
            <a:r>
              <a:rPr lang="de-DE" dirty="0" err="1"/>
              <a:t>architecture</a:t>
            </a:r>
            <a:endParaRPr lang="de-DE" dirty="0"/>
          </a:p>
          <a:p>
            <a:pPr algn="ctr"/>
            <a:endParaRPr lang="de-DE" dirty="0"/>
          </a:p>
          <a:p>
            <a:pPr algn="ctr"/>
            <a:r>
              <a:rPr lang="de-DE" dirty="0"/>
              <a:t> </a:t>
            </a:r>
            <a:r>
              <a:rPr lang="de-DE" dirty="0">
                <a:sym typeface="Wingdings" panose="05000000000000000000" pitchFamily="2" charset="2"/>
              </a:rPr>
              <a:t> Minimum viable </a:t>
            </a:r>
            <a:r>
              <a:rPr lang="de-DE" dirty="0" err="1">
                <a:sym typeface="Wingdings" panose="05000000000000000000" pitchFamily="2" charset="2"/>
              </a:rPr>
              <a:t>brain</a:t>
            </a:r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FFEB8179-29FD-1D44-17A1-7AD14F525C51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de-DE"/>
              <a:t>Dr. Jana Dahlmanns – Jana.Dahlmanns@fau.de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99B6401-9F03-4E42-AD75-D5BD69AB1C71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01D04CD-A18E-4C48-A0D4-2F175BEDACF1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982887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093349-700C-B4EB-D8A6-634D63E89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490181E4-1F3B-1993-1CDC-7655B8C3F8A2}"/>
              </a:ext>
            </a:extLst>
          </p:cNvPr>
          <p:cNvSpPr txBox="1"/>
          <p:nvPr/>
        </p:nvSpPr>
        <p:spPr>
          <a:xfrm>
            <a:off x="781050" y="736600"/>
            <a:ext cx="101790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 err="1"/>
              <a:t>Selection</a:t>
            </a:r>
            <a:r>
              <a:rPr lang="de-DE" dirty="0"/>
              <a:t> and </a:t>
            </a:r>
            <a:r>
              <a:rPr lang="de-DE" dirty="0" err="1"/>
              <a:t>investigation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unsupervised</a:t>
            </a:r>
            <a:r>
              <a:rPr lang="de-DE" dirty="0"/>
              <a:t> adaptive </a:t>
            </a:r>
            <a:r>
              <a:rPr lang="de-DE" dirty="0" err="1"/>
              <a:t>learners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b="1" dirty="0" err="1"/>
              <a:t>minmal</a:t>
            </a:r>
            <a:r>
              <a:rPr lang="de-DE" b="1" dirty="0"/>
              <a:t> neuronal </a:t>
            </a:r>
            <a:r>
              <a:rPr lang="de-DE" b="1" dirty="0" err="1"/>
              <a:t>architecture</a:t>
            </a:r>
            <a:endParaRPr lang="de-DE" b="1" dirty="0"/>
          </a:p>
          <a:p>
            <a:pPr algn="ctr"/>
            <a:endParaRPr lang="de-DE" dirty="0"/>
          </a:p>
          <a:p>
            <a:pPr algn="ctr"/>
            <a:r>
              <a:rPr lang="de-DE" dirty="0"/>
              <a:t> </a:t>
            </a:r>
          </a:p>
        </p:txBody>
      </p: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228D7A65-B891-499C-8C9D-FDACB41353C1}"/>
              </a:ext>
            </a:extLst>
          </p:cNvPr>
          <p:cNvCxnSpPr/>
          <p:nvPr/>
        </p:nvCxnSpPr>
        <p:spPr>
          <a:xfrm flipH="1">
            <a:off x="7575550" y="1104900"/>
            <a:ext cx="1174750" cy="11620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7F00B778-41BF-13C7-4B7A-9B13B4589133}"/>
              </a:ext>
            </a:extLst>
          </p:cNvPr>
          <p:cNvSpPr txBox="1"/>
          <p:nvPr/>
        </p:nvSpPr>
        <p:spPr>
          <a:xfrm>
            <a:off x="2413002" y="2527302"/>
            <a:ext cx="798071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~ 15 </a:t>
            </a:r>
            <a:r>
              <a:rPr lang="de-DE" dirty="0" err="1"/>
              <a:t>neurons</a:t>
            </a:r>
            <a:endParaRPr lang="de-DE" dirty="0"/>
          </a:p>
          <a:p>
            <a:r>
              <a:rPr lang="de-DE" dirty="0"/>
              <a:t>Details </a:t>
            </a:r>
            <a:r>
              <a:rPr lang="de-DE" dirty="0" err="1"/>
              <a:t>about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an </a:t>
            </a:r>
            <a:r>
              <a:rPr lang="de-DE" dirty="0" err="1"/>
              <a:t>implementation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citations</a:t>
            </a:r>
            <a:r>
              <a:rPr lang="de-DE" dirty="0"/>
              <a:t> (e.g. </a:t>
            </a:r>
            <a:r>
              <a:rPr lang="de-DE" dirty="0" err="1"/>
              <a:t>Candadai</a:t>
            </a:r>
            <a:r>
              <a:rPr lang="de-DE" dirty="0"/>
              <a:t> et. al)</a:t>
            </a:r>
          </a:p>
          <a:p>
            <a:r>
              <a:rPr lang="de-DE" dirty="0"/>
              <a:t>Details </a:t>
            </a:r>
            <a:r>
              <a:rPr lang="de-DE" dirty="0" err="1"/>
              <a:t>about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wiring-based</a:t>
            </a:r>
            <a:r>
              <a:rPr lang="de-DE" dirty="0"/>
              <a:t> </a:t>
            </a:r>
            <a:r>
              <a:rPr lang="de-DE" dirty="0" err="1"/>
              <a:t>plasticity</a:t>
            </a:r>
            <a:r>
              <a:rPr lang="de-DE" dirty="0"/>
              <a:t> </a:t>
            </a:r>
            <a:r>
              <a:rPr lang="de-DE" dirty="0" err="1"/>
              <a:t>including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weight</a:t>
            </a:r>
            <a:r>
              <a:rPr lang="de-DE" dirty="0"/>
              <a:t> update </a:t>
            </a:r>
            <a:r>
              <a:rPr lang="de-DE" dirty="0" err="1"/>
              <a:t>formula</a:t>
            </a:r>
            <a:endParaRPr lang="de-DE" dirty="0"/>
          </a:p>
          <a:p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61C6B5C8-A2D4-72DF-F3C1-DD56F76EFAD7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de-DE"/>
              <a:t>Dr. Jana Dahlmanns – Jana.Dahlmanns@fau.de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FA8F1BF-DC2E-639A-AAB5-288CF92155B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01D04CD-A18E-4C48-A0D4-2F175BEDACF1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643761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D55203-822B-A659-E6D8-443300CB0C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C7532651-DF74-743E-F7B0-402E4B5AC864}"/>
              </a:ext>
            </a:extLst>
          </p:cNvPr>
          <p:cNvSpPr txBox="1"/>
          <p:nvPr/>
        </p:nvSpPr>
        <p:spPr>
          <a:xfrm>
            <a:off x="781050" y="736600"/>
            <a:ext cx="101790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 err="1"/>
              <a:t>Selection</a:t>
            </a:r>
            <a:r>
              <a:rPr lang="de-DE" dirty="0"/>
              <a:t> and </a:t>
            </a:r>
            <a:r>
              <a:rPr lang="de-DE" dirty="0" err="1"/>
              <a:t>investigation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b="1" dirty="0" err="1"/>
              <a:t>unsupervised</a:t>
            </a:r>
            <a:r>
              <a:rPr lang="de-DE" b="1" dirty="0"/>
              <a:t> adaptive </a:t>
            </a:r>
            <a:r>
              <a:rPr lang="de-DE" b="1" dirty="0" err="1"/>
              <a:t>learners</a:t>
            </a:r>
            <a:r>
              <a:rPr lang="de-DE" b="1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minmal</a:t>
            </a:r>
            <a:r>
              <a:rPr lang="de-DE" dirty="0"/>
              <a:t> neuronal </a:t>
            </a:r>
            <a:r>
              <a:rPr lang="de-DE" dirty="0" err="1"/>
              <a:t>architecture</a:t>
            </a:r>
            <a:endParaRPr lang="de-DE" dirty="0"/>
          </a:p>
          <a:p>
            <a:pPr algn="ctr"/>
            <a:endParaRPr lang="de-DE" dirty="0"/>
          </a:p>
          <a:p>
            <a:pPr algn="ctr"/>
            <a:r>
              <a:rPr lang="de-DE" dirty="0"/>
              <a:t> </a:t>
            </a:r>
          </a:p>
        </p:txBody>
      </p: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33085005-3F81-65FE-9BA8-0D0509C419B3}"/>
              </a:ext>
            </a:extLst>
          </p:cNvPr>
          <p:cNvCxnSpPr>
            <a:cxnSpLocks/>
          </p:cNvCxnSpPr>
          <p:nvPr/>
        </p:nvCxnSpPr>
        <p:spPr>
          <a:xfrm>
            <a:off x="5753100" y="1078907"/>
            <a:ext cx="0" cy="144839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2941C30A-4E69-2636-E2E2-82F70938965D}"/>
              </a:ext>
            </a:extLst>
          </p:cNvPr>
          <p:cNvSpPr txBox="1"/>
          <p:nvPr/>
        </p:nvSpPr>
        <p:spPr>
          <a:xfrm>
            <a:off x="1880221" y="3092450"/>
            <a:ext cx="4865819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Grid</a:t>
            </a:r>
            <a:r>
              <a:rPr lang="de-DE" dirty="0"/>
              <a:t> </a:t>
            </a:r>
            <a:r>
              <a:rPr lang="de-DE" dirty="0" err="1"/>
              <a:t>foraging</a:t>
            </a:r>
            <a:r>
              <a:rPr lang="de-DE" dirty="0"/>
              <a:t> </a:t>
            </a:r>
            <a:r>
              <a:rPr lang="de-DE" dirty="0" err="1"/>
              <a:t>taks</a:t>
            </a:r>
            <a:r>
              <a:rPr lang="de-DE" dirty="0"/>
              <a:t> (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citations</a:t>
            </a:r>
            <a:r>
              <a:rPr lang="de-DE" dirty="0"/>
              <a:t>)</a:t>
            </a:r>
          </a:p>
          <a:p>
            <a:r>
              <a:rPr lang="de-DE" dirty="0" err="1"/>
              <a:t>Unsupervised</a:t>
            </a:r>
            <a:r>
              <a:rPr lang="de-DE" dirty="0"/>
              <a:t> </a:t>
            </a:r>
            <a:r>
              <a:rPr lang="de-DE" dirty="0" err="1"/>
              <a:t>learning</a:t>
            </a:r>
            <a:r>
              <a:rPr lang="de-DE" dirty="0"/>
              <a:t> </a:t>
            </a:r>
          </a:p>
          <a:p>
            <a:r>
              <a:rPr lang="de-DE" dirty="0" err="1"/>
              <a:t>Evolutionary</a:t>
            </a:r>
            <a:r>
              <a:rPr lang="de-DE" dirty="0"/>
              <a:t> </a:t>
            </a:r>
            <a:r>
              <a:rPr lang="de-DE" dirty="0" err="1"/>
              <a:t>algorithm</a:t>
            </a:r>
            <a:r>
              <a:rPr lang="de-DE" dirty="0"/>
              <a:t> (</a:t>
            </a:r>
            <a:r>
              <a:rPr lang="de-DE" dirty="0" err="1"/>
              <a:t>citation</a:t>
            </a:r>
            <a:r>
              <a:rPr lang="de-DE" dirty="0"/>
              <a:t>)</a:t>
            </a:r>
          </a:p>
          <a:p>
            <a:endParaRPr lang="de-DE" dirty="0"/>
          </a:p>
          <a:p>
            <a:r>
              <a:rPr lang="de-DE" dirty="0"/>
              <a:t>Two-level non-</a:t>
            </a:r>
            <a:r>
              <a:rPr lang="de-DE" dirty="0" err="1"/>
              <a:t>stationary</a:t>
            </a:r>
            <a:r>
              <a:rPr lang="de-DE" dirty="0"/>
              <a:t> EA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e-DE" dirty="0" err="1">
                <a:sym typeface="Wingdings" panose="05000000000000000000" pitchFamily="2" charset="2"/>
              </a:rPr>
              <a:t>run</a:t>
            </a:r>
            <a:r>
              <a:rPr lang="de-DE" dirty="0">
                <a:sym typeface="Wingdings" panose="05000000000000000000" pitchFamily="2" charset="2"/>
              </a:rPr>
              <a:t>-time </a:t>
            </a:r>
            <a:r>
              <a:rPr lang="de-DE" dirty="0" err="1">
                <a:sym typeface="Wingdings" panose="05000000000000000000" pitchFamily="2" charset="2"/>
              </a:rPr>
              <a:t>adaptability</a:t>
            </a:r>
            <a:r>
              <a:rPr lang="de-DE" dirty="0">
                <a:sym typeface="Wingdings" panose="05000000000000000000" pitchFamily="2" charset="2"/>
              </a:rPr>
              <a:t> &amp; </a:t>
            </a:r>
            <a:r>
              <a:rPr lang="de-DE" dirty="0" err="1">
                <a:sym typeface="Wingdings" panose="05000000000000000000" pitchFamily="2" charset="2"/>
              </a:rPr>
              <a:t>plasticity</a:t>
            </a:r>
            <a:endParaRPr lang="de-DE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e-DE" dirty="0">
                <a:sym typeface="Wingdings" panose="05000000000000000000" pitchFamily="2" charset="2"/>
              </a:rPr>
              <a:t>Ablation </a:t>
            </a:r>
            <a:r>
              <a:rPr lang="de-DE" dirty="0" err="1">
                <a:sym typeface="Wingdings" panose="05000000000000000000" pitchFamily="2" charset="2"/>
              </a:rPr>
              <a:t>to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prohibit</a:t>
            </a:r>
            <a:r>
              <a:rPr lang="de-DE" dirty="0">
                <a:sym typeface="Wingdings" panose="05000000000000000000" pitchFamily="2" charset="2"/>
              </a:rPr>
              <a:t> multiple </a:t>
            </a:r>
            <a:r>
              <a:rPr lang="de-DE" dirty="0" err="1">
                <a:sym typeface="Wingdings" panose="05000000000000000000" pitchFamily="2" charset="2"/>
              </a:rPr>
              <a:t>static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strategies</a:t>
            </a:r>
            <a:endParaRPr lang="de-DE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e-DE" dirty="0" err="1">
                <a:sym typeface="Wingdings" panose="05000000000000000000" pitchFamily="2" charset="2"/>
              </a:rPr>
              <a:t>Testing</a:t>
            </a:r>
            <a:r>
              <a:rPr lang="de-DE" dirty="0">
                <a:sym typeface="Wingdings" panose="05000000000000000000" pitchFamily="2" charset="2"/>
              </a:rPr>
              <a:t> on </a:t>
            </a:r>
            <a:r>
              <a:rPr lang="de-DE" dirty="0" err="1">
                <a:sym typeface="Wingdings" panose="05000000000000000000" pitchFamily="2" charset="2"/>
              </a:rPr>
              <a:t>previously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unseen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tasks</a:t>
            </a:r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98E9CD0F-11DA-68BD-2B78-7EF24B18BE69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de-DE"/>
              <a:t>Dr. Jana Dahlmanns – Jana.Dahlmanns@fau.de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39A4B54-C825-A3A7-A958-5ACFE4C3F10F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01D04CD-A18E-4C48-A0D4-2F175BEDACF1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145701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2CB23141-E362-ACD3-F7B0-21F08E9D7FDE}"/>
              </a:ext>
            </a:extLst>
          </p:cNvPr>
          <p:cNvCxnSpPr>
            <a:cxnSpLocks/>
          </p:cNvCxnSpPr>
          <p:nvPr/>
        </p:nvCxnSpPr>
        <p:spPr>
          <a:xfrm>
            <a:off x="-275771" y="1782769"/>
            <a:ext cx="12729028" cy="0"/>
          </a:xfrm>
          <a:prstGeom prst="line">
            <a:avLst/>
          </a:prstGeom>
          <a:ln w="101600">
            <a:solidFill>
              <a:srgbClr val="0033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522E4EA4-40FF-BFA9-D961-1282DECB22F2}"/>
              </a:ext>
            </a:extLst>
          </p:cNvPr>
          <p:cNvSpPr txBox="1"/>
          <p:nvPr/>
        </p:nvSpPr>
        <p:spPr>
          <a:xfrm>
            <a:off x="673504" y="2411400"/>
            <a:ext cx="171982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noProof="0" dirty="0"/>
              <a:t>Calibration Phase</a:t>
            </a:r>
          </a:p>
          <a:p>
            <a:r>
              <a:rPr lang="en-US" sz="1200" dirty="0"/>
              <a:t>Train on static task w/ traditional evolution and define adaptability gap</a:t>
            </a:r>
            <a:endParaRPr lang="en-US" sz="1200" noProof="0" dirty="0"/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A65FCA2B-308B-6A8A-4B57-83BFEC6C3D3F}"/>
              </a:ext>
            </a:extLst>
          </p:cNvPr>
          <p:cNvSpPr/>
          <p:nvPr/>
        </p:nvSpPr>
        <p:spPr>
          <a:xfrm>
            <a:off x="1071455" y="1320807"/>
            <a:ext cx="923924" cy="923924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4000" b="1" dirty="0">
                <a:solidFill>
                  <a:schemeClr val="tx1"/>
                </a:solidFill>
              </a:rPr>
              <a:t>1</a:t>
            </a:r>
            <a:endParaRPr lang="de-DE" sz="1600" b="1" dirty="0">
              <a:solidFill>
                <a:schemeClr val="tx1"/>
              </a:solidFill>
            </a:endParaRPr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A347E990-967E-91F7-152C-9ABBA9724A93}"/>
              </a:ext>
            </a:extLst>
          </p:cNvPr>
          <p:cNvSpPr/>
          <p:nvPr/>
        </p:nvSpPr>
        <p:spPr>
          <a:xfrm>
            <a:off x="4113177" y="1320807"/>
            <a:ext cx="923924" cy="923924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4000" b="1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F8526C6F-D07C-B179-E6D5-138F54256EA9}"/>
              </a:ext>
            </a:extLst>
          </p:cNvPr>
          <p:cNvSpPr/>
          <p:nvPr/>
        </p:nvSpPr>
        <p:spPr>
          <a:xfrm>
            <a:off x="7154899" y="1320807"/>
            <a:ext cx="923924" cy="923924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4000" b="1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4C441C38-3488-305A-CB22-B506AAE73ED5}"/>
              </a:ext>
            </a:extLst>
          </p:cNvPr>
          <p:cNvSpPr/>
          <p:nvPr/>
        </p:nvSpPr>
        <p:spPr>
          <a:xfrm>
            <a:off x="10196621" y="1320807"/>
            <a:ext cx="923924" cy="923924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4000" b="1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13A1CB1A-0757-343B-CB29-E3F77957FADE}"/>
              </a:ext>
            </a:extLst>
          </p:cNvPr>
          <p:cNvSpPr txBox="1"/>
          <p:nvPr/>
        </p:nvSpPr>
        <p:spPr>
          <a:xfrm>
            <a:off x="3715226" y="2411399"/>
            <a:ext cx="194534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noProof="0" dirty="0"/>
              <a:t>Training &amp; Testing</a:t>
            </a:r>
          </a:p>
          <a:p>
            <a:r>
              <a:rPr lang="en-US" sz="1200" dirty="0"/>
              <a:t>Train variants w/ variable evolution and test performance and adaptability</a:t>
            </a:r>
            <a:endParaRPr lang="en-US" sz="1200" noProof="0" dirty="0"/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3C03B70E-AB10-8998-1F7A-B05E6C90849C}"/>
              </a:ext>
            </a:extLst>
          </p:cNvPr>
          <p:cNvSpPr txBox="1"/>
          <p:nvPr/>
        </p:nvSpPr>
        <p:spPr>
          <a:xfrm>
            <a:off x="6950457" y="2411399"/>
            <a:ext cx="194534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noProof="0" dirty="0"/>
              <a:t>Ablation</a:t>
            </a:r>
          </a:p>
          <a:p>
            <a:r>
              <a:rPr lang="en-US" sz="1200" dirty="0"/>
              <a:t>Ablate to necessary core and test adaptability on withheld scenarios</a:t>
            </a:r>
            <a:endParaRPr lang="en-US" sz="1200" noProof="0" dirty="0"/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D7BEC99A-E069-BD09-FFA4-859838BBD7B6}"/>
              </a:ext>
            </a:extLst>
          </p:cNvPr>
          <p:cNvSpPr txBox="1"/>
          <p:nvPr/>
        </p:nvSpPr>
        <p:spPr>
          <a:xfrm>
            <a:off x="9685910" y="2411399"/>
            <a:ext cx="194534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noProof="0" dirty="0"/>
              <a:t>Wiring analysis</a:t>
            </a:r>
          </a:p>
          <a:p>
            <a:r>
              <a:rPr lang="en-US" sz="1200" dirty="0"/>
              <a:t>Analyze common patterns in adaptors and compare with biological wiring patterns</a:t>
            </a:r>
            <a:endParaRPr lang="en-US" sz="1200" noProof="0" dirty="0"/>
          </a:p>
        </p:txBody>
      </p:sp>
    </p:spTree>
    <p:extLst>
      <p:ext uri="{BB962C8B-B14F-4D97-AF65-F5344CB8AC3E}">
        <p14:creationId xmlns:p14="http://schemas.microsoft.com/office/powerpoint/2010/main" val="27776326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ihandform: Form 1">
            <a:extLst>
              <a:ext uri="{FF2B5EF4-FFF2-40B4-BE49-F238E27FC236}">
                <a16:creationId xmlns:a16="http://schemas.microsoft.com/office/drawing/2014/main" id="{80F24036-86EB-92D8-75F6-99D5EE080D6F}"/>
              </a:ext>
            </a:extLst>
          </p:cNvPr>
          <p:cNvSpPr/>
          <p:nvPr/>
        </p:nvSpPr>
        <p:spPr>
          <a:xfrm flipH="1">
            <a:off x="8657661" y="-2955952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0A253A0D-1AD4-85BB-B175-E77C4442F053}"/>
              </a:ext>
            </a:extLst>
          </p:cNvPr>
          <p:cNvSpPr txBox="1"/>
          <p:nvPr/>
        </p:nvSpPr>
        <p:spPr>
          <a:xfrm>
            <a:off x="10287922" y="17905"/>
            <a:ext cx="19040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First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results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E1D48006-8B7F-A500-8300-9AA2D1B461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5536" y="745367"/>
            <a:ext cx="9100927" cy="4494284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1B6950D7-4A94-4227-75D2-A44BA0FB54EA}"/>
              </a:ext>
            </a:extLst>
          </p:cNvPr>
          <p:cNvSpPr txBox="1"/>
          <p:nvPr/>
        </p:nvSpPr>
        <p:spPr>
          <a:xfrm>
            <a:off x="3119757" y="5239651"/>
            <a:ext cx="8120204" cy="14703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EA evolved from random network initialization. Population size = 250, elite = 10</a:t>
            </a:r>
            <a:endParaRPr lang="en-US" dirty="0"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In generation 0:	mean = 19.5,		median = 19.2,	max = 29.7</a:t>
            </a:r>
            <a:b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</a:b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In generation 50:	mean = 69.0,	median = 74.22,	max = 131.59</a:t>
            </a:r>
            <a:endParaRPr lang="de-DE" sz="1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544C170F-5CD0-79A4-C493-1392B7DA2501}"/>
              </a:ext>
            </a:extLst>
          </p:cNvPr>
          <p:cNvSpPr/>
          <p:nvPr/>
        </p:nvSpPr>
        <p:spPr>
          <a:xfrm>
            <a:off x="10012084" y="66307"/>
            <a:ext cx="340233" cy="340233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1</a:t>
            </a:r>
            <a:endParaRPr lang="de-DE" sz="9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879202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994726-CD7B-F7EB-CA98-E91B156BA6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feld 6">
            <a:extLst>
              <a:ext uri="{FF2B5EF4-FFF2-40B4-BE49-F238E27FC236}">
                <a16:creationId xmlns:a16="http://schemas.microsoft.com/office/drawing/2014/main" id="{462CA17C-D3A2-BD63-7ACB-E8ABDA6D8657}"/>
              </a:ext>
            </a:extLst>
          </p:cNvPr>
          <p:cNvSpPr txBox="1"/>
          <p:nvPr/>
        </p:nvSpPr>
        <p:spPr>
          <a:xfrm>
            <a:off x="304129" y="957362"/>
            <a:ext cx="5674176" cy="28107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Optimal solution?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endParaRPr lang="en-US" dirty="0"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If on food → stay and eat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If sensing food in </a:t>
            </a:r>
            <a:r>
              <a:rPr lang="en-US" dirty="0">
                <a:ea typeface="MS Mincho" panose="02020609040205080304" pitchFamily="49" charset="-128"/>
                <a:cs typeface="Times New Roman" panose="02020603050405020304" pitchFamily="18" charset="0"/>
              </a:rPr>
              <a:t>one direction → move in that direction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dirty="0">
                <a:ea typeface="MS Mincho" panose="02020609040205080304" pitchFamily="49" charset="-128"/>
                <a:cs typeface="Times New Roman" panose="02020603050405020304" pitchFamily="18" charset="0"/>
              </a:rPr>
              <a:t>If not sensing any food → move away in random direction  </a:t>
            </a:r>
            <a:endParaRPr lang="de-DE" sz="1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2CDF4BD9-04AD-868F-5E50-A05E5AF09D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78305" y="857873"/>
            <a:ext cx="5797649" cy="5289430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3BE16239-1F16-68AE-0F57-A3946EFBB65B}"/>
              </a:ext>
            </a:extLst>
          </p:cNvPr>
          <p:cNvSpPr txBox="1"/>
          <p:nvPr/>
        </p:nvSpPr>
        <p:spPr>
          <a:xfrm>
            <a:off x="6096000" y="5105227"/>
            <a:ext cx="7360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stay</a:t>
            </a:r>
            <a:endParaRPr lang="de-D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75587D1E-BB4D-2FFE-382F-9A73D4BE4336}"/>
              </a:ext>
            </a:extLst>
          </p:cNvPr>
          <p:cNvSpPr txBox="1"/>
          <p:nvPr/>
        </p:nvSpPr>
        <p:spPr>
          <a:xfrm>
            <a:off x="7161042" y="5105227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move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N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ADDA3C6D-4D64-984D-082E-A43517FF916D}"/>
              </a:ext>
            </a:extLst>
          </p:cNvPr>
          <p:cNvSpPr txBox="1"/>
          <p:nvPr/>
        </p:nvSpPr>
        <p:spPr>
          <a:xfrm>
            <a:off x="8381661" y="5105227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move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E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97E61C76-8072-88C4-6EBC-CB651B477053}"/>
              </a:ext>
            </a:extLst>
          </p:cNvPr>
          <p:cNvSpPr txBox="1"/>
          <p:nvPr/>
        </p:nvSpPr>
        <p:spPr>
          <a:xfrm>
            <a:off x="9613021" y="5105227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move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S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E12D5DC5-7A66-E0FC-B75F-AB1E87413F17}"/>
              </a:ext>
            </a:extLst>
          </p:cNvPr>
          <p:cNvSpPr txBox="1"/>
          <p:nvPr/>
        </p:nvSpPr>
        <p:spPr>
          <a:xfrm>
            <a:off x="10744365" y="5105227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move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W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F1353E1B-0D72-EB8B-A6A2-A31D3D463054}"/>
              </a:ext>
            </a:extLst>
          </p:cNvPr>
          <p:cNvSpPr txBox="1"/>
          <p:nvPr/>
        </p:nvSpPr>
        <p:spPr>
          <a:xfrm>
            <a:off x="6025042" y="1356282"/>
            <a:ext cx="11496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on </a:t>
            </a:r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food</a:t>
            </a:r>
            <a:endParaRPr lang="de-D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C330CB92-1783-94C1-A8C6-EFE912692C6F}"/>
              </a:ext>
            </a:extLst>
          </p:cNvPr>
          <p:cNvSpPr txBox="1"/>
          <p:nvPr/>
        </p:nvSpPr>
        <p:spPr>
          <a:xfrm>
            <a:off x="7281837" y="1356282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food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N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942A1F51-9153-0948-FD60-C38605FA4317}"/>
              </a:ext>
            </a:extLst>
          </p:cNvPr>
          <p:cNvSpPr txBox="1"/>
          <p:nvPr/>
        </p:nvSpPr>
        <p:spPr>
          <a:xfrm>
            <a:off x="8455099" y="1356282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food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E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0654D465-8DF4-5FFE-6158-6FAD28C5C9C3}"/>
              </a:ext>
            </a:extLst>
          </p:cNvPr>
          <p:cNvSpPr txBox="1"/>
          <p:nvPr/>
        </p:nvSpPr>
        <p:spPr>
          <a:xfrm>
            <a:off x="9597184" y="1356282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food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S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BD475DCA-C9D5-BE70-081A-B8D088EFAD7F}"/>
              </a:ext>
            </a:extLst>
          </p:cNvPr>
          <p:cNvSpPr txBox="1"/>
          <p:nvPr/>
        </p:nvSpPr>
        <p:spPr>
          <a:xfrm>
            <a:off x="10686569" y="1356282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food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W</a:t>
            </a:r>
          </a:p>
        </p:txBody>
      </p:sp>
      <p:sp>
        <p:nvSpPr>
          <p:cNvPr id="4" name="Freihandform: Form 3">
            <a:extLst>
              <a:ext uri="{FF2B5EF4-FFF2-40B4-BE49-F238E27FC236}">
                <a16:creationId xmlns:a16="http://schemas.microsoft.com/office/drawing/2014/main" id="{CCBDF0CD-8F81-C1B3-9B67-A3F0E4D9724B}"/>
              </a:ext>
            </a:extLst>
          </p:cNvPr>
          <p:cNvSpPr/>
          <p:nvPr/>
        </p:nvSpPr>
        <p:spPr>
          <a:xfrm flipH="1">
            <a:off x="8657661" y="-2955952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E1086B25-A2F5-AF30-6D5C-2F5637DED068}"/>
              </a:ext>
            </a:extLst>
          </p:cNvPr>
          <p:cNvSpPr txBox="1"/>
          <p:nvPr/>
        </p:nvSpPr>
        <p:spPr>
          <a:xfrm>
            <a:off x="10287922" y="17905"/>
            <a:ext cx="19040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First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results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15BE45F7-AB21-1773-773B-E7B2BB23EB30}"/>
              </a:ext>
            </a:extLst>
          </p:cNvPr>
          <p:cNvSpPr/>
          <p:nvPr/>
        </p:nvSpPr>
        <p:spPr>
          <a:xfrm>
            <a:off x="10012084" y="66307"/>
            <a:ext cx="340233" cy="340233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1</a:t>
            </a:r>
            <a:endParaRPr lang="de-DE" sz="9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477626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92ACF1-A625-E91A-426D-0FB1CB25D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feld 6">
            <a:extLst>
              <a:ext uri="{FF2B5EF4-FFF2-40B4-BE49-F238E27FC236}">
                <a16:creationId xmlns:a16="http://schemas.microsoft.com/office/drawing/2014/main" id="{5375FF69-E05C-B6D4-58CC-B60D0A366EE3}"/>
              </a:ext>
            </a:extLst>
          </p:cNvPr>
          <p:cNvSpPr txBox="1"/>
          <p:nvPr/>
        </p:nvSpPr>
        <p:spPr>
          <a:xfrm>
            <a:off x="304129" y="957362"/>
            <a:ext cx="3280900" cy="1917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Optimal solution?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endParaRPr lang="en-US" dirty="0"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No! </a:t>
            </a:r>
            <a:b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</a:br>
            <a:r>
              <a:rPr lang="en-US" dirty="0">
                <a:ea typeface="MS Mincho" panose="02020609040205080304" pitchFamily="49" charset="-128"/>
                <a:cs typeface="Times New Roman" panose="02020603050405020304" pitchFamily="18" charset="0"/>
              </a:rPr>
              <a:t>Why not and what did the evolutionary algorithm find?</a:t>
            </a:r>
            <a:endParaRPr lang="de-DE" sz="1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pic>
        <p:nvPicPr>
          <p:cNvPr id="6" name="random">
            <a:extLst>
              <a:ext uri="{FF2B5EF4-FFF2-40B4-BE49-F238E27FC236}">
                <a16:creationId xmlns:a16="http://schemas.microsoft.com/office/drawing/2014/main" id="{7F4154B1-C471-6402-3A60-240A98E45F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64673" y="961551"/>
            <a:ext cx="7500940" cy="4965529"/>
          </a:xfrm>
          <a:prstGeom prst="rect">
            <a:avLst/>
          </a:prstGeom>
        </p:spPr>
      </p:pic>
      <p:pic>
        <p:nvPicPr>
          <p:cNvPr id="9" name="hard-coded">
            <a:extLst>
              <a:ext uri="{FF2B5EF4-FFF2-40B4-BE49-F238E27FC236}">
                <a16:creationId xmlns:a16="http://schemas.microsoft.com/office/drawing/2014/main" id="{9306105C-C637-D9DA-7806-209FA26867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55948" y="957362"/>
            <a:ext cx="7513595" cy="4973908"/>
          </a:xfrm>
          <a:prstGeom prst="rect">
            <a:avLst/>
          </a:prstGeom>
        </p:spPr>
      </p:pic>
      <p:pic>
        <p:nvPicPr>
          <p:cNvPr id="11" name="400">
            <a:extLst>
              <a:ext uri="{FF2B5EF4-FFF2-40B4-BE49-F238E27FC236}">
                <a16:creationId xmlns:a16="http://schemas.microsoft.com/office/drawing/2014/main" id="{232D2439-4785-3558-472B-A602D1604D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55948" y="957362"/>
            <a:ext cx="7513595" cy="4973908"/>
          </a:xfrm>
          <a:prstGeom prst="rect">
            <a:avLst/>
          </a:prstGeom>
        </p:spPr>
      </p:pic>
      <p:pic>
        <p:nvPicPr>
          <p:cNvPr id="13" name="600">
            <a:extLst>
              <a:ext uri="{FF2B5EF4-FFF2-40B4-BE49-F238E27FC236}">
                <a16:creationId xmlns:a16="http://schemas.microsoft.com/office/drawing/2014/main" id="{A26D3B41-1DA9-EEA2-5998-E5D7B93A0AB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55948" y="957362"/>
            <a:ext cx="7513595" cy="4973908"/>
          </a:xfrm>
          <a:prstGeom prst="rect">
            <a:avLst/>
          </a:prstGeom>
        </p:spPr>
      </p:pic>
      <p:pic>
        <p:nvPicPr>
          <p:cNvPr id="15" name="full">
            <a:extLst>
              <a:ext uri="{FF2B5EF4-FFF2-40B4-BE49-F238E27FC236}">
                <a16:creationId xmlns:a16="http://schemas.microsoft.com/office/drawing/2014/main" id="{7CDDE5EA-63F4-299F-164A-BBE45520360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55948" y="957362"/>
            <a:ext cx="7513595" cy="4973908"/>
          </a:xfrm>
          <a:prstGeom prst="rect">
            <a:avLst/>
          </a:prstGeom>
        </p:spPr>
      </p:pic>
      <p:sp>
        <p:nvSpPr>
          <p:cNvPr id="4" name="Freihandform: Form 3">
            <a:extLst>
              <a:ext uri="{FF2B5EF4-FFF2-40B4-BE49-F238E27FC236}">
                <a16:creationId xmlns:a16="http://schemas.microsoft.com/office/drawing/2014/main" id="{AD811A1B-DCE0-B7CA-7B4D-82C1BB374972}"/>
              </a:ext>
            </a:extLst>
          </p:cNvPr>
          <p:cNvSpPr/>
          <p:nvPr/>
        </p:nvSpPr>
        <p:spPr>
          <a:xfrm flipH="1">
            <a:off x="8657661" y="-2955952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20C86878-4C54-5F44-0EA0-C60D0EA3D5BA}"/>
              </a:ext>
            </a:extLst>
          </p:cNvPr>
          <p:cNvSpPr txBox="1"/>
          <p:nvPr/>
        </p:nvSpPr>
        <p:spPr>
          <a:xfrm>
            <a:off x="10287922" y="17905"/>
            <a:ext cx="19040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First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results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3ADB5D7D-FA7F-25BB-994A-D205EDF55B6A}"/>
              </a:ext>
            </a:extLst>
          </p:cNvPr>
          <p:cNvSpPr/>
          <p:nvPr/>
        </p:nvSpPr>
        <p:spPr>
          <a:xfrm>
            <a:off x="10012084" y="66307"/>
            <a:ext cx="340233" cy="340233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1</a:t>
            </a:r>
            <a:endParaRPr lang="de-DE" sz="9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063085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73E0B3-398C-C973-0901-374D181358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feld 22">
            <a:extLst>
              <a:ext uri="{FF2B5EF4-FFF2-40B4-BE49-F238E27FC236}">
                <a16:creationId xmlns:a16="http://schemas.microsoft.com/office/drawing/2014/main" id="{DB3BA8BE-34B8-36EC-A8C6-FE3DD1920D3A}"/>
              </a:ext>
            </a:extLst>
          </p:cNvPr>
          <p:cNvSpPr txBox="1"/>
          <p:nvPr/>
        </p:nvSpPr>
        <p:spPr>
          <a:xfrm>
            <a:off x="370804" y="1692847"/>
            <a:ext cx="3280900" cy="1023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The evolved variants found </a:t>
            </a:r>
            <a:r>
              <a:rPr lang="en-US" b="1" dirty="0">
                <a:ea typeface="MS Mincho" panose="02020609040205080304" pitchFamily="49" charset="-128"/>
                <a:cs typeface="Times New Roman" panose="02020603050405020304" pitchFamily="18" charset="0"/>
              </a:rPr>
              <a:t>15</a:t>
            </a:r>
            <a:r>
              <a:rPr lang="en-US" sz="1800" b="1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times </a:t>
            </a: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more food than the random variants!</a:t>
            </a:r>
            <a:endParaRPr lang="de-DE" sz="1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39415EE7-D00F-C603-EEA2-139BA96482FE}"/>
              </a:ext>
            </a:extLst>
          </p:cNvPr>
          <p:cNvSpPr txBox="1"/>
          <p:nvPr/>
        </p:nvSpPr>
        <p:spPr>
          <a:xfrm>
            <a:off x="4195989" y="5605807"/>
            <a:ext cx="10203543" cy="1187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28800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Kruskal-Wallis: p &lt;&lt; 0.01; </a:t>
            </a:r>
            <a:r>
              <a:rPr lang="el-GR" sz="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ε</a:t>
            </a:r>
            <a:r>
              <a:rPr lang="de-DE" sz="800" baseline="300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2</a:t>
            </a:r>
            <a:r>
              <a:rPr lang="de-DE" sz="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= 0.4 (large </a:t>
            </a:r>
            <a:r>
              <a:rPr lang="de-DE" sz="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effect</a:t>
            </a:r>
            <a:r>
              <a:rPr lang="de-DE" sz="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size</a:t>
            </a:r>
            <a:r>
              <a:rPr lang="de-DE" sz="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)</a:t>
            </a:r>
            <a:endParaRPr lang="en-US" sz="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 defTabSz="28800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800" dirty="0">
                <a:ea typeface="MS Mincho" panose="02020609040205080304" pitchFamily="49" charset="-128"/>
                <a:cs typeface="Times New Roman" panose="02020603050405020304" pitchFamily="18" charset="0"/>
              </a:rPr>
              <a:t>MWU + Holm-Bonferroni: </a:t>
            </a:r>
            <a:br>
              <a:rPr lang="en-US" sz="800" dirty="0">
                <a:ea typeface="MS Mincho" panose="02020609040205080304" pitchFamily="49" charset="-128"/>
                <a:cs typeface="Times New Roman" panose="02020603050405020304" pitchFamily="18" charset="0"/>
              </a:rPr>
            </a:br>
            <a:r>
              <a:rPr lang="en-US" sz="800" dirty="0">
                <a:ea typeface="MS Mincho" panose="02020609040205080304" pitchFamily="49" charset="-128"/>
                <a:cs typeface="Times New Roman" panose="02020603050405020304" pitchFamily="18" charset="0"/>
              </a:rPr>
              <a:t>Hard-Coded vs Random:	p &lt;&lt; 0.01;	r = -0.87 (large effect size)</a:t>
            </a:r>
            <a:br>
              <a:rPr lang="en-US" sz="800" dirty="0">
                <a:ea typeface="MS Mincho" panose="02020609040205080304" pitchFamily="49" charset="-128"/>
                <a:cs typeface="Times New Roman" panose="02020603050405020304" pitchFamily="18" charset="0"/>
              </a:rPr>
            </a:br>
            <a:r>
              <a:rPr lang="en-US" sz="800" dirty="0">
                <a:ea typeface="MS Mincho" panose="02020609040205080304" pitchFamily="49" charset="-128"/>
                <a:cs typeface="Times New Roman" panose="02020603050405020304" pitchFamily="18" charset="0"/>
              </a:rPr>
              <a:t>EA vs Random:			p &lt;&lt; 0.01; 	r = -0.97 (large effect size)</a:t>
            </a:r>
            <a:br>
              <a:rPr lang="en-US" sz="800" dirty="0">
                <a:ea typeface="MS Mincho" panose="02020609040205080304" pitchFamily="49" charset="-128"/>
                <a:cs typeface="Times New Roman" panose="02020603050405020304" pitchFamily="18" charset="0"/>
              </a:rPr>
            </a:br>
            <a:r>
              <a:rPr lang="en-US" sz="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EA vs Hard-Coded</a:t>
            </a:r>
            <a:r>
              <a:rPr lang="en-US" sz="800" dirty="0">
                <a:ea typeface="MS Mincho" panose="02020609040205080304" pitchFamily="49" charset="-128"/>
                <a:cs typeface="Times New Roman" panose="02020603050405020304" pitchFamily="18" charset="0"/>
              </a:rPr>
              <a:t>:		</a:t>
            </a:r>
            <a:r>
              <a:rPr lang="en-US" sz="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p = 9*10</a:t>
            </a:r>
            <a:r>
              <a:rPr lang="en-US" sz="800" baseline="300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-</a:t>
            </a:r>
            <a:r>
              <a:rPr lang="en-US" sz="800" baseline="30000" dirty="0">
                <a:ea typeface="MS Mincho" panose="02020609040205080304" pitchFamily="49" charset="-128"/>
                <a:cs typeface="Times New Roman" panose="02020603050405020304" pitchFamily="18" charset="0"/>
              </a:rPr>
              <a:t>90</a:t>
            </a:r>
            <a:r>
              <a:rPr lang="en-US" sz="800" dirty="0">
                <a:ea typeface="MS Mincho" panose="02020609040205080304" pitchFamily="49" charset="-128"/>
                <a:cs typeface="Times New Roman" panose="02020603050405020304" pitchFamily="18" charset="0"/>
              </a:rPr>
              <a:t>;	r = -0.7 (large effect size)</a:t>
            </a:r>
            <a:endParaRPr lang="en-US" sz="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endParaRPr lang="de-DE" sz="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51F5124E-F9D2-D2B1-077A-EF7659D5F3A4}"/>
              </a:ext>
            </a:extLst>
          </p:cNvPr>
          <p:cNvGrpSpPr/>
          <p:nvPr/>
        </p:nvGrpSpPr>
        <p:grpSpPr>
          <a:xfrm>
            <a:off x="4195989" y="735357"/>
            <a:ext cx="6957785" cy="4870450"/>
            <a:chOff x="4195989" y="735357"/>
            <a:chExt cx="6957785" cy="4870450"/>
          </a:xfrm>
        </p:grpSpPr>
        <p:pic>
          <p:nvPicPr>
            <p:cNvPr id="25" name="Grafik 24">
              <a:extLst>
                <a:ext uri="{FF2B5EF4-FFF2-40B4-BE49-F238E27FC236}">
                  <a16:creationId xmlns:a16="http://schemas.microsoft.com/office/drawing/2014/main" id="{A16FEB82-BC73-606C-8212-BB85B7519BA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4195989" y="735357"/>
              <a:ext cx="6957785" cy="4870450"/>
            </a:xfrm>
            <a:prstGeom prst="rect">
              <a:avLst/>
            </a:prstGeom>
          </p:spPr>
        </p:pic>
        <p:grpSp>
          <p:nvGrpSpPr>
            <p:cNvPr id="40" name="Gruppieren 39">
              <a:extLst>
                <a:ext uri="{FF2B5EF4-FFF2-40B4-BE49-F238E27FC236}">
                  <a16:creationId xmlns:a16="http://schemas.microsoft.com/office/drawing/2014/main" id="{6F99784B-DEAC-D516-FD5C-D2F68B99A8D7}"/>
                </a:ext>
              </a:extLst>
            </p:cNvPr>
            <p:cNvGrpSpPr/>
            <p:nvPr/>
          </p:nvGrpSpPr>
          <p:grpSpPr>
            <a:xfrm>
              <a:off x="5795963" y="1196059"/>
              <a:ext cx="4205287" cy="429366"/>
              <a:chOff x="5795963" y="1196059"/>
              <a:chExt cx="4205287" cy="429366"/>
            </a:xfrm>
          </p:grpSpPr>
          <p:grpSp>
            <p:nvGrpSpPr>
              <p:cNvPr id="39" name="Gruppieren 38">
                <a:extLst>
                  <a:ext uri="{FF2B5EF4-FFF2-40B4-BE49-F238E27FC236}">
                    <a16:creationId xmlns:a16="http://schemas.microsoft.com/office/drawing/2014/main" id="{928CD72C-2642-FB87-37C5-11001206F7B3}"/>
                  </a:ext>
                </a:extLst>
              </p:cNvPr>
              <p:cNvGrpSpPr/>
              <p:nvPr/>
            </p:nvGrpSpPr>
            <p:grpSpPr>
              <a:xfrm>
                <a:off x="5795963" y="1196059"/>
                <a:ext cx="4205287" cy="153888"/>
                <a:chOff x="5795963" y="1196059"/>
                <a:chExt cx="4205287" cy="153888"/>
              </a:xfrm>
            </p:grpSpPr>
            <p:cxnSp>
              <p:nvCxnSpPr>
                <p:cNvPr id="28" name="Gerader Verbinder 27">
                  <a:extLst>
                    <a:ext uri="{FF2B5EF4-FFF2-40B4-BE49-F238E27FC236}">
                      <a16:creationId xmlns:a16="http://schemas.microsoft.com/office/drawing/2014/main" id="{33F3B53C-D96D-7C07-B258-EC028CF36C3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795963" y="1295998"/>
                  <a:ext cx="4205287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headEnd type="diamond" w="sm" len="sm"/>
                  <a:tailEnd type="diamond" w="sm" len="sm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4" name="Textfeld 33">
                  <a:extLst>
                    <a:ext uri="{FF2B5EF4-FFF2-40B4-BE49-F238E27FC236}">
                      <a16:creationId xmlns:a16="http://schemas.microsoft.com/office/drawing/2014/main" id="{BFD885DD-9D36-4AE2-BE1F-226E80B6FF12}"/>
                    </a:ext>
                  </a:extLst>
                </p:cNvPr>
                <p:cNvSpPr txBox="1"/>
                <p:nvPr/>
              </p:nvSpPr>
              <p:spPr>
                <a:xfrm>
                  <a:off x="7770366" y="1196059"/>
                  <a:ext cx="256480" cy="153888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r>
                    <a:rPr lang="de-DE" sz="1000" dirty="0">
                      <a:latin typeface="+mj-lt"/>
                      <a:ea typeface="Cormorant Garamond" pitchFamily="2" charset="0"/>
                      <a:cs typeface="Cormorant Garamond" pitchFamily="2" charset="0"/>
                    </a:rPr>
                    <a:t>****</a:t>
                  </a:r>
                </a:p>
              </p:txBody>
            </p:sp>
          </p:grpSp>
          <p:grpSp>
            <p:nvGrpSpPr>
              <p:cNvPr id="37" name="Gruppieren 36">
                <a:extLst>
                  <a:ext uri="{FF2B5EF4-FFF2-40B4-BE49-F238E27FC236}">
                    <a16:creationId xmlns:a16="http://schemas.microsoft.com/office/drawing/2014/main" id="{40A8EA23-B109-136D-9368-BB6AE23A6140}"/>
                  </a:ext>
                </a:extLst>
              </p:cNvPr>
              <p:cNvGrpSpPr/>
              <p:nvPr/>
            </p:nvGrpSpPr>
            <p:grpSpPr>
              <a:xfrm>
                <a:off x="5795963" y="1471537"/>
                <a:ext cx="2095500" cy="153888"/>
                <a:chOff x="5795963" y="1471537"/>
                <a:chExt cx="2095500" cy="153888"/>
              </a:xfrm>
            </p:grpSpPr>
            <p:cxnSp>
              <p:nvCxnSpPr>
                <p:cNvPr id="27" name="Gerader Verbinder 26">
                  <a:extLst>
                    <a:ext uri="{FF2B5EF4-FFF2-40B4-BE49-F238E27FC236}">
                      <a16:creationId xmlns:a16="http://schemas.microsoft.com/office/drawing/2014/main" id="{16B4C276-179F-43B7-247E-E4F362A8E68C}"/>
                    </a:ext>
                  </a:extLst>
                </p:cNvPr>
                <p:cNvCxnSpPr/>
                <p:nvPr/>
              </p:nvCxnSpPr>
              <p:spPr>
                <a:xfrm>
                  <a:off x="5795963" y="1567797"/>
                  <a:ext cx="2095500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headEnd type="diamond" w="sm" len="sm"/>
                  <a:tailEnd type="diamond" w="sm" len="sm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5" name="Textfeld 34">
                  <a:extLst>
                    <a:ext uri="{FF2B5EF4-FFF2-40B4-BE49-F238E27FC236}">
                      <a16:creationId xmlns:a16="http://schemas.microsoft.com/office/drawing/2014/main" id="{C218FAF5-7FBA-89F4-D1BB-A0AA365621B1}"/>
                    </a:ext>
                  </a:extLst>
                </p:cNvPr>
                <p:cNvSpPr txBox="1"/>
                <p:nvPr/>
              </p:nvSpPr>
              <p:spPr>
                <a:xfrm>
                  <a:off x="6715473" y="1471537"/>
                  <a:ext cx="256480" cy="153888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de-DE" sz="1000" dirty="0">
                      <a:latin typeface="+mj-lt"/>
                      <a:ea typeface="Cormorant Garamond" pitchFamily="2" charset="0"/>
                      <a:cs typeface="Cormorant Garamond" pitchFamily="2" charset="0"/>
                    </a:rPr>
                    <a:t>****</a:t>
                  </a:r>
                </a:p>
              </p:txBody>
            </p:sp>
          </p:grpSp>
          <p:grpSp>
            <p:nvGrpSpPr>
              <p:cNvPr id="38" name="Gruppieren 37">
                <a:extLst>
                  <a:ext uri="{FF2B5EF4-FFF2-40B4-BE49-F238E27FC236}">
                    <a16:creationId xmlns:a16="http://schemas.microsoft.com/office/drawing/2014/main" id="{0C164916-B0E8-1C90-62B6-FEAD759E7EEF}"/>
                  </a:ext>
                </a:extLst>
              </p:cNvPr>
              <p:cNvGrpSpPr/>
              <p:nvPr/>
            </p:nvGrpSpPr>
            <p:grpSpPr>
              <a:xfrm>
                <a:off x="7891463" y="1327944"/>
                <a:ext cx="2109787" cy="153888"/>
                <a:chOff x="7891463" y="1327944"/>
                <a:chExt cx="2109787" cy="153888"/>
              </a:xfrm>
            </p:grpSpPr>
            <p:cxnSp>
              <p:nvCxnSpPr>
                <p:cNvPr id="31" name="Gerader Verbinder 30">
                  <a:extLst>
                    <a:ext uri="{FF2B5EF4-FFF2-40B4-BE49-F238E27FC236}">
                      <a16:creationId xmlns:a16="http://schemas.microsoft.com/office/drawing/2014/main" id="{A56BB575-0721-5FCE-8A49-83591402755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891463" y="1432903"/>
                  <a:ext cx="2109787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headEnd type="diamond" w="sm" len="sm"/>
                  <a:tailEnd type="diamond" w="sm" len="sm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6" name="Textfeld 35">
                  <a:extLst>
                    <a:ext uri="{FF2B5EF4-FFF2-40B4-BE49-F238E27FC236}">
                      <a16:creationId xmlns:a16="http://schemas.microsoft.com/office/drawing/2014/main" id="{1C59633D-AE3D-345A-EA3E-8EFBA03EDB18}"/>
                    </a:ext>
                  </a:extLst>
                </p:cNvPr>
                <p:cNvSpPr txBox="1"/>
                <p:nvPr/>
              </p:nvSpPr>
              <p:spPr>
                <a:xfrm>
                  <a:off x="8818116" y="1327944"/>
                  <a:ext cx="256480" cy="153888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de-DE" sz="1000" dirty="0">
                      <a:latin typeface="+mj-lt"/>
                      <a:ea typeface="Cormorant Garamond" pitchFamily="2" charset="0"/>
                      <a:cs typeface="Cormorant Garamond" pitchFamily="2" charset="0"/>
                    </a:rPr>
                    <a:t>****</a:t>
                  </a:r>
                </a:p>
              </p:txBody>
            </p:sp>
          </p:grpSp>
        </p:grpSp>
      </p:grpSp>
      <p:sp>
        <p:nvSpPr>
          <p:cNvPr id="4" name="Freihandform: Form 3">
            <a:extLst>
              <a:ext uri="{FF2B5EF4-FFF2-40B4-BE49-F238E27FC236}">
                <a16:creationId xmlns:a16="http://schemas.microsoft.com/office/drawing/2014/main" id="{63959786-A60C-D090-9CD3-BC5BBB4873B4}"/>
              </a:ext>
            </a:extLst>
          </p:cNvPr>
          <p:cNvSpPr/>
          <p:nvPr/>
        </p:nvSpPr>
        <p:spPr>
          <a:xfrm flipH="1">
            <a:off x="8657661" y="-2955952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9463FABB-C411-9F70-E3B3-E5E3CEEC0D68}"/>
              </a:ext>
            </a:extLst>
          </p:cNvPr>
          <p:cNvSpPr txBox="1"/>
          <p:nvPr/>
        </p:nvSpPr>
        <p:spPr>
          <a:xfrm>
            <a:off x="10287922" y="17905"/>
            <a:ext cx="19040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First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results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EC01C0AD-4883-6901-BC52-5F3B93D98D2F}"/>
              </a:ext>
            </a:extLst>
          </p:cNvPr>
          <p:cNvSpPr/>
          <p:nvPr/>
        </p:nvSpPr>
        <p:spPr>
          <a:xfrm>
            <a:off x="10012084" y="66307"/>
            <a:ext cx="340233" cy="340233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1</a:t>
            </a:r>
            <a:endParaRPr lang="de-DE" sz="9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13988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EDDD56-5017-5E3B-A022-E3626EF24A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feld 22">
            <a:extLst>
              <a:ext uri="{FF2B5EF4-FFF2-40B4-BE49-F238E27FC236}">
                <a16:creationId xmlns:a16="http://schemas.microsoft.com/office/drawing/2014/main" id="{C497F9BB-5826-9B4D-46D9-7FA08DB98963}"/>
              </a:ext>
            </a:extLst>
          </p:cNvPr>
          <p:cNvSpPr txBox="1"/>
          <p:nvPr/>
        </p:nvSpPr>
        <p:spPr>
          <a:xfrm>
            <a:off x="370804" y="1692847"/>
            <a:ext cx="3280900" cy="14703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In this scenario food once consumed does not regrow.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b="1" dirty="0">
                <a:ea typeface="MS Mincho" panose="02020609040205080304" pitchFamily="49" charset="-128"/>
                <a:cs typeface="Times New Roman" panose="02020603050405020304" pitchFamily="18" charset="0"/>
              </a:rPr>
              <a:t>Randomly moving variants deplete their local supply.</a:t>
            </a:r>
            <a:endParaRPr lang="de-DE" sz="1800" b="1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8EE3B172-5283-F1E4-D279-BA23764544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108"/>
          <a:stretch>
            <a:fillRect/>
          </a:stretch>
        </p:blipFill>
        <p:spPr>
          <a:xfrm>
            <a:off x="3541691" y="1388321"/>
            <a:ext cx="5238320" cy="3147134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2169F886-1023-3CB3-32B5-1788DA0CEF4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6514"/>
          <a:stretch>
            <a:fillRect/>
          </a:stretch>
        </p:blipFill>
        <p:spPr>
          <a:xfrm>
            <a:off x="9326644" y="1388321"/>
            <a:ext cx="2624254" cy="3149516"/>
          </a:xfrm>
          <a:prstGeom prst="rect">
            <a:avLst/>
          </a:prstGeom>
        </p:spPr>
      </p:pic>
      <p:sp>
        <p:nvSpPr>
          <p:cNvPr id="4" name="Freihandform: Form 3">
            <a:extLst>
              <a:ext uri="{FF2B5EF4-FFF2-40B4-BE49-F238E27FC236}">
                <a16:creationId xmlns:a16="http://schemas.microsoft.com/office/drawing/2014/main" id="{93E78693-B4AC-BE5F-A959-732D7FD42E59}"/>
              </a:ext>
            </a:extLst>
          </p:cNvPr>
          <p:cNvSpPr/>
          <p:nvPr/>
        </p:nvSpPr>
        <p:spPr>
          <a:xfrm flipH="1">
            <a:off x="8657661" y="-2955952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FF6DD5DD-4B6B-9C4B-A1F2-DA5B55564AB6}"/>
              </a:ext>
            </a:extLst>
          </p:cNvPr>
          <p:cNvSpPr txBox="1"/>
          <p:nvPr/>
        </p:nvSpPr>
        <p:spPr>
          <a:xfrm>
            <a:off x="10287922" y="17905"/>
            <a:ext cx="19040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First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results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82E019AC-83E9-B93B-AD8C-25062873A54B}"/>
              </a:ext>
            </a:extLst>
          </p:cNvPr>
          <p:cNvSpPr/>
          <p:nvPr/>
        </p:nvSpPr>
        <p:spPr>
          <a:xfrm>
            <a:off x="10012084" y="66307"/>
            <a:ext cx="340233" cy="340233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1</a:t>
            </a:r>
            <a:endParaRPr lang="de-DE" sz="9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016260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37512E-97DE-ED28-79D6-F68A3ACFF2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feld 22">
            <a:extLst>
              <a:ext uri="{FF2B5EF4-FFF2-40B4-BE49-F238E27FC236}">
                <a16:creationId xmlns:a16="http://schemas.microsoft.com/office/drawing/2014/main" id="{8BBCDE86-0CC2-BF35-FD6C-5BF859FC1B4B}"/>
              </a:ext>
            </a:extLst>
          </p:cNvPr>
          <p:cNvSpPr txBox="1"/>
          <p:nvPr/>
        </p:nvSpPr>
        <p:spPr>
          <a:xfrm>
            <a:off x="370804" y="1692847"/>
            <a:ext cx="3280900" cy="7050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Evolved variants developed a </a:t>
            </a:r>
            <a:r>
              <a:rPr lang="en-US" sz="1800" b="1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directional preference</a:t>
            </a: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.</a:t>
            </a:r>
            <a:endParaRPr lang="de-DE" sz="1800" b="1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8F681BF1-707A-CCEC-0584-1C21289352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1691" y="1388321"/>
            <a:ext cx="7838940" cy="3150340"/>
          </a:xfrm>
          <a:prstGeom prst="rect">
            <a:avLst/>
          </a:prstGeom>
        </p:spPr>
      </p:pic>
      <p:sp>
        <p:nvSpPr>
          <p:cNvPr id="4" name="Freihandform: Form 3">
            <a:extLst>
              <a:ext uri="{FF2B5EF4-FFF2-40B4-BE49-F238E27FC236}">
                <a16:creationId xmlns:a16="http://schemas.microsoft.com/office/drawing/2014/main" id="{DE7294F9-7BF2-73B6-CC2F-E6812D29F904}"/>
              </a:ext>
            </a:extLst>
          </p:cNvPr>
          <p:cNvSpPr/>
          <p:nvPr/>
        </p:nvSpPr>
        <p:spPr>
          <a:xfrm flipH="1">
            <a:off x="8657661" y="-2955952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60A42DF9-6726-4F05-3740-B83811791921}"/>
              </a:ext>
            </a:extLst>
          </p:cNvPr>
          <p:cNvSpPr txBox="1"/>
          <p:nvPr/>
        </p:nvSpPr>
        <p:spPr>
          <a:xfrm>
            <a:off x="10287922" y="17905"/>
            <a:ext cx="19040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First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results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3DB673-3D4B-0DA5-D27B-A5F78EE5F0E8}"/>
              </a:ext>
            </a:extLst>
          </p:cNvPr>
          <p:cNvSpPr/>
          <p:nvPr/>
        </p:nvSpPr>
        <p:spPr>
          <a:xfrm>
            <a:off x="10012084" y="66307"/>
            <a:ext cx="340233" cy="340233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1</a:t>
            </a:r>
            <a:endParaRPr lang="de-DE" sz="9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375233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DAA14D-B68F-246E-21BC-CB876542FA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feld 22">
            <a:extLst>
              <a:ext uri="{FF2B5EF4-FFF2-40B4-BE49-F238E27FC236}">
                <a16:creationId xmlns:a16="http://schemas.microsoft.com/office/drawing/2014/main" id="{3354E721-6CC4-95C8-D234-F2A1B95ED766}"/>
              </a:ext>
            </a:extLst>
          </p:cNvPr>
          <p:cNvSpPr txBox="1"/>
          <p:nvPr/>
        </p:nvSpPr>
        <p:spPr>
          <a:xfrm>
            <a:off x="370804" y="1692847"/>
            <a:ext cx="3280900" cy="7050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dirty="0">
                <a:ea typeface="MS Mincho" panose="02020609040205080304" pitchFamily="49" charset="-128"/>
                <a:cs typeface="Times New Roman" panose="02020603050405020304" pitchFamily="18" charset="0"/>
              </a:rPr>
              <a:t>Evolved variants developed a </a:t>
            </a:r>
            <a:r>
              <a:rPr lang="en-US" b="1" dirty="0">
                <a:ea typeface="MS Mincho" panose="02020609040205080304" pitchFamily="49" charset="-128"/>
                <a:cs typeface="Times New Roman" panose="02020603050405020304" pitchFamily="18" charset="0"/>
              </a:rPr>
              <a:t>directional preference</a:t>
            </a:r>
            <a:r>
              <a:rPr lang="en-US" dirty="0">
                <a:ea typeface="MS Mincho" panose="02020609040205080304" pitchFamily="49" charset="-128"/>
                <a:cs typeface="Times New Roman" panose="02020603050405020304" pitchFamily="18" charset="0"/>
              </a:rPr>
              <a:t>.</a:t>
            </a:r>
            <a:endParaRPr lang="de-DE" b="1" dirty="0"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pic>
        <p:nvPicPr>
          <p:cNvPr id="25" name="Grafik 24">
            <a:extLst>
              <a:ext uri="{FF2B5EF4-FFF2-40B4-BE49-F238E27FC236}">
                <a16:creationId xmlns:a16="http://schemas.microsoft.com/office/drawing/2014/main" id="{B1AA7B24-544A-E253-63A0-5B315A1A36A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95989" y="1141228"/>
            <a:ext cx="6957785" cy="4058708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7F2EAC8A-C7FA-8B1C-EDBB-7E9BA740CBF1}"/>
              </a:ext>
            </a:extLst>
          </p:cNvPr>
          <p:cNvSpPr txBox="1"/>
          <p:nvPr/>
        </p:nvSpPr>
        <p:spPr>
          <a:xfrm>
            <a:off x="4906662" y="5234289"/>
            <a:ext cx="2378676" cy="148386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defTabSz="288000">
              <a:lnSpc>
                <a:spcPct val="115000"/>
              </a:lnSpc>
              <a:spcAft>
                <a:spcPts val="1000"/>
              </a:spcAft>
              <a:buNone/>
              <a:defRPr sz="800">
                <a:effectLst/>
                <a:ea typeface="MS Mincho" panose="02020609040205080304" pitchFamily="49" charset="-128"/>
                <a:cs typeface="Times New Roman" panose="02020603050405020304" pitchFamily="18" charset="0"/>
              </a:defRPr>
            </a:lvl1pPr>
          </a:lstStyle>
          <a:p>
            <a:pPr defTabSz="216000"/>
            <a:r>
              <a:rPr lang="en-US" b="1" dirty="0"/>
              <a:t>Random:</a:t>
            </a:r>
            <a:br>
              <a:rPr lang="en-US" dirty="0"/>
            </a:br>
            <a:r>
              <a:rPr lang="en-US" dirty="0"/>
              <a:t>Kruskal-Wallis p = 10-40; </a:t>
            </a:r>
            <a:r>
              <a:rPr lang="el-GR" dirty="0"/>
              <a:t>ε</a:t>
            </a:r>
            <a:r>
              <a:rPr lang="de-DE" dirty="0"/>
              <a:t>2 &lt; 0.01 (</a:t>
            </a:r>
            <a:r>
              <a:rPr lang="de-DE" dirty="0" err="1"/>
              <a:t>n.s</a:t>
            </a:r>
            <a:r>
              <a:rPr lang="de-DE" dirty="0"/>
              <a:t>. ES)</a:t>
            </a:r>
            <a:endParaRPr lang="en-US" dirty="0"/>
          </a:p>
          <a:p>
            <a:pPr defTabSz="216000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MWU + Holm-Bonferroni: </a:t>
            </a:r>
            <a:b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N vs. E</a:t>
            </a:r>
            <a:r>
              <a:rPr lang="de-DE" dirty="0">
                <a:solidFill>
                  <a:schemeClr val="tx1">
                    <a:lumMod val="50000"/>
                    <a:lumOff val="50000"/>
                  </a:schemeClr>
                </a:solidFill>
              </a:rPr>
              <a:t>:	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 ~ 0.1;		r &lt; -0.01 (</a:t>
            </a:r>
            <a:r>
              <a:rPr lang="en-US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n.s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. ES)</a:t>
            </a:r>
            <a:b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N vs. S:	p ~ 0.6;		r &lt; -0.01 (</a:t>
            </a:r>
            <a:r>
              <a:rPr lang="en-US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n.s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. ES)</a:t>
            </a:r>
            <a:b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US" dirty="0"/>
              <a:t>N vs. W:	p ~ 4*10-29;	r ~ -0.05 (</a:t>
            </a:r>
            <a:r>
              <a:rPr lang="en-US" dirty="0" err="1"/>
              <a:t>n.s</a:t>
            </a:r>
            <a:r>
              <a:rPr lang="en-US" dirty="0"/>
              <a:t>. ES)</a:t>
            </a:r>
            <a:b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US" dirty="0"/>
              <a:t>E vs. S:	p ~ 0.003;	r ~ -0.01 (</a:t>
            </a:r>
            <a:r>
              <a:rPr lang="en-US" dirty="0" err="1"/>
              <a:t>n.s</a:t>
            </a:r>
            <a:r>
              <a:rPr lang="en-US" dirty="0"/>
              <a:t>. ES)</a:t>
            </a:r>
            <a:b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US" dirty="0"/>
              <a:t>E vs. W:	p ~ 2*10-20;	r ~ -0.04 (</a:t>
            </a:r>
            <a:r>
              <a:rPr lang="en-US" dirty="0" err="1"/>
              <a:t>n.s</a:t>
            </a:r>
            <a:r>
              <a:rPr lang="en-US" dirty="0"/>
              <a:t>. ES)</a:t>
            </a:r>
            <a:br>
              <a:rPr lang="en-US" dirty="0"/>
            </a:br>
            <a:r>
              <a:rPr lang="en-US" dirty="0"/>
              <a:t>S vs. W:	p ~ 3*10-32;	r ~ -0.06 (</a:t>
            </a:r>
            <a:r>
              <a:rPr lang="en-US" dirty="0" err="1"/>
              <a:t>n.s</a:t>
            </a:r>
            <a:r>
              <a:rPr lang="en-US" dirty="0"/>
              <a:t>. ES)</a:t>
            </a:r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E4534F96-7150-EC65-EA28-EFFE3F21833B}"/>
              </a:ext>
            </a:extLst>
          </p:cNvPr>
          <p:cNvSpPr txBox="1"/>
          <p:nvPr/>
        </p:nvSpPr>
        <p:spPr>
          <a:xfrm>
            <a:off x="7171344" y="5234289"/>
            <a:ext cx="2378676" cy="36458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defTabSz="216000">
              <a:lnSpc>
                <a:spcPct val="115000"/>
              </a:lnSpc>
              <a:spcAft>
                <a:spcPts val="1000"/>
              </a:spcAft>
              <a:buNone/>
              <a:defRPr sz="800" b="1">
                <a:effectLst/>
                <a:ea typeface="MS Mincho" panose="02020609040205080304" pitchFamily="49" charset="-128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Hard-Coded:</a:t>
            </a:r>
            <a:br>
              <a:rPr lang="en-US" dirty="0"/>
            </a:b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Kruskal-Wallis p = 0.65; </a:t>
            </a:r>
            <a:r>
              <a:rPr lang="el-GR" b="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ε</a:t>
            </a:r>
            <a:r>
              <a:rPr lang="de-DE" b="0" baseline="30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2</a:t>
            </a:r>
            <a:r>
              <a:rPr lang="de-DE" b="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&lt; 0.01 (</a:t>
            </a:r>
            <a:r>
              <a:rPr lang="de-DE" b="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n.s</a:t>
            </a:r>
            <a:r>
              <a:rPr lang="de-DE" b="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. ES)</a:t>
            </a:r>
            <a:endParaRPr lang="en-US" b="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21F9AC27-E80F-7675-0413-B98670459D8C}"/>
              </a:ext>
            </a:extLst>
          </p:cNvPr>
          <p:cNvSpPr txBox="1"/>
          <p:nvPr/>
        </p:nvSpPr>
        <p:spPr>
          <a:xfrm>
            <a:off x="9469880" y="5234289"/>
            <a:ext cx="2378676" cy="148386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defTabSz="216000">
              <a:lnSpc>
                <a:spcPct val="115000"/>
              </a:lnSpc>
              <a:spcAft>
                <a:spcPts val="1000"/>
              </a:spcAft>
              <a:buNone/>
              <a:defRPr sz="800" b="1">
                <a:effectLst/>
                <a:ea typeface="MS Mincho" panose="02020609040205080304" pitchFamily="49" charset="-128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EA from Random:</a:t>
            </a:r>
            <a:br>
              <a:rPr lang="en-US" dirty="0"/>
            </a:br>
            <a:r>
              <a:rPr lang="en-US" b="0" dirty="0"/>
              <a:t>Kruskal-Wallis p&lt;&lt; 0.001; </a:t>
            </a:r>
            <a:r>
              <a:rPr lang="el-GR" b="0" dirty="0"/>
              <a:t>ε</a:t>
            </a:r>
            <a:r>
              <a:rPr lang="de-DE" b="0" baseline="30000" dirty="0"/>
              <a:t>2</a:t>
            </a:r>
            <a:r>
              <a:rPr lang="de-DE" b="0" dirty="0"/>
              <a:t> = 0.6 (large ES)</a:t>
            </a:r>
            <a:endParaRPr lang="en-US" b="0" dirty="0"/>
          </a:p>
          <a:p>
            <a:r>
              <a:rPr lang="en-US" b="0" dirty="0"/>
              <a:t>MWU + Holm-Bonferroni: </a:t>
            </a:r>
            <a:br>
              <a:rPr lang="en-US" b="0" dirty="0"/>
            </a:br>
            <a:r>
              <a:rPr lang="en-US" b="0" dirty="0"/>
              <a:t>N vs. E:	p&lt;&lt; 0.001;	r = -0.7(large ES)</a:t>
            </a:r>
            <a:br>
              <a:rPr lang="en-US" b="0" dirty="0"/>
            </a:br>
            <a:r>
              <a:rPr lang="en-US" b="0" dirty="0"/>
              <a:t>N vs. S:	p&lt;&lt; 0.001;	r = -0.99 (large ES)</a:t>
            </a:r>
            <a:br>
              <a:rPr lang="en-US" b="0" dirty="0"/>
            </a:br>
            <a:r>
              <a:rPr lang="en-US" b="0" dirty="0"/>
              <a:t>N vs. W:	p&lt;&lt; 0.001;	r = -0.92 (large ES)</a:t>
            </a:r>
            <a:br>
              <a:rPr lang="en-US" b="0" dirty="0"/>
            </a:br>
            <a:r>
              <a:rPr lang="en-US" b="0" dirty="0"/>
              <a:t>E vs. S:	p&lt;&lt; 0.001;	r = -0.7 (large ES)</a:t>
            </a:r>
            <a:br>
              <a:rPr lang="en-US" b="0" dirty="0"/>
            </a:br>
            <a:r>
              <a:rPr lang="en-US" b="0" dirty="0"/>
              <a:t>E vs. W:	p ~ 6*10</a:t>
            </a:r>
            <a:r>
              <a:rPr lang="en-US" b="0" baseline="30000" dirty="0"/>
              <a:t>-142</a:t>
            </a:r>
            <a:r>
              <a:rPr lang="en-US" b="0" dirty="0"/>
              <a:t>;	r = - 0.4 (medium ES)</a:t>
            </a:r>
            <a:br>
              <a:rPr lang="en-US" b="0" dirty="0"/>
            </a:br>
            <a:r>
              <a:rPr lang="en-US" b="0" dirty="0"/>
              <a:t>S vs. W:	p&lt;&lt; 0.001;	r = 0.6 (large ES)</a:t>
            </a:r>
            <a:endParaRPr lang="de-DE" b="0" dirty="0"/>
          </a:p>
        </p:txBody>
      </p:sp>
      <p:sp>
        <p:nvSpPr>
          <p:cNvPr id="6" name="Freihandform: Form 5">
            <a:extLst>
              <a:ext uri="{FF2B5EF4-FFF2-40B4-BE49-F238E27FC236}">
                <a16:creationId xmlns:a16="http://schemas.microsoft.com/office/drawing/2014/main" id="{7F494A5F-1E9A-5445-6CB6-951071E79CB0}"/>
              </a:ext>
            </a:extLst>
          </p:cNvPr>
          <p:cNvSpPr/>
          <p:nvPr/>
        </p:nvSpPr>
        <p:spPr>
          <a:xfrm flipH="1">
            <a:off x="8657661" y="-2955952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9F60FC65-39EB-21FA-6A94-54DBC626EA69}"/>
              </a:ext>
            </a:extLst>
          </p:cNvPr>
          <p:cNvSpPr txBox="1"/>
          <p:nvPr/>
        </p:nvSpPr>
        <p:spPr>
          <a:xfrm>
            <a:off x="10287922" y="17905"/>
            <a:ext cx="19040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First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results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127D3BBA-15AB-5B9B-BB3C-97F3AABA41AF}"/>
              </a:ext>
            </a:extLst>
          </p:cNvPr>
          <p:cNvSpPr/>
          <p:nvPr/>
        </p:nvSpPr>
        <p:spPr>
          <a:xfrm>
            <a:off x="10012084" y="66307"/>
            <a:ext cx="340233" cy="340233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1</a:t>
            </a:r>
            <a:endParaRPr lang="de-DE" sz="9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888215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06C8DC-15EF-F850-DEF6-A9A3F6948B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ihandform: Form 5">
            <a:extLst>
              <a:ext uri="{FF2B5EF4-FFF2-40B4-BE49-F238E27FC236}">
                <a16:creationId xmlns:a16="http://schemas.microsoft.com/office/drawing/2014/main" id="{ABEBB741-0364-004B-2D02-E82F306C82FD}"/>
              </a:ext>
            </a:extLst>
          </p:cNvPr>
          <p:cNvSpPr/>
          <p:nvPr/>
        </p:nvSpPr>
        <p:spPr>
          <a:xfrm flipH="1">
            <a:off x="8657661" y="-2955952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8853670F-8444-2F05-CBDB-F72F6F8198A6}"/>
              </a:ext>
            </a:extLst>
          </p:cNvPr>
          <p:cNvSpPr txBox="1"/>
          <p:nvPr/>
        </p:nvSpPr>
        <p:spPr>
          <a:xfrm>
            <a:off x="10287922" y="17905"/>
            <a:ext cx="19040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First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results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0C73F85F-C108-F261-F028-8C58D068EDEA}"/>
              </a:ext>
            </a:extLst>
          </p:cNvPr>
          <p:cNvSpPr/>
          <p:nvPr/>
        </p:nvSpPr>
        <p:spPr>
          <a:xfrm>
            <a:off x="10012084" y="66307"/>
            <a:ext cx="340233" cy="340233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1</a:t>
            </a:r>
            <a:endParaRPr lang="de-DE" sz="900" b="1" dirty="0">
              <a:solidFill>
                <a:schemeClr val="tx1"/>
              </a:solidFill>
            </a:endParaRP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39C1E9E8-8660-D120-53F2-7E4406178B30}"/>
              </a:ext>
            </a:extLst>
          </p:cNvPr>
          <p:cNvSpPr txBox="1"/>
          <p:nvPr/>
        </p:nvSpPr>
        <p:spPr>
          <a:xfrm>
            <a:off x="2665712" y="1539240"/>
            <a:ext cx="6860576" cy="1045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2800" b="1" dirty="0">
                <a:ea typeface="MS Mincho" panose="02020609040205080304" pitchFamily="49" charset="-128"/>
                <a:cs typeface="Times New Roman" panose="02020603050405020304" pitchFamily="18" charset="0"/>
              </a:rPr>
              <a:t>Milestone</a:t>
            </a:r>
            <a:r>
              <a:rPr lang="en-US" sz="2800" dirty="0">
                <a:ea typeface="MS Mincho" panose="02020609040205080304" pitchFamily="49" charset="-128"/>
                <a:cs typeface="Times New Roman" panose="02020603050405020304" pitchFamily="18" charset="0"/>
              </a:rPr>
              <a:t>: Evolutionary algorithm finds successful solutions to static tasks. </a:t>
            </a:r>
            <a:endParaRPr lang="de-DE" sz="2800" b="1" dirty="0"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316039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7674139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5731082E-4466-5528-BC28-6E3503A92BB2}"/>
              </a:ext>
            </a:extLst>
          </p:cNvPr>
          <p:cNvSpPr txBox="1"/>
          <p:nvPr/>
        </p:nvSpPr>
        <p:spPr>
          <a:xfrm>
            <a:off x="5114643" y="495300"/>
            <a:ext cx="9813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Outlook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9CAD1419-0DA4-6952-9705-FC6DE9F77D12}"/>
              </a:ext>
            </a:extLst>
          </p:cNvPr>
          <p:cNvSpPr txBox="1"/>
          <p:nvPr/>
        </p:nvSpPr>
        <p:spPr>
          <a:xfrm>
            <a:off x="1587501" y="1435100"/>
            <a:ext cx="744059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Build</a:t>
            </a:r>
            <a:r>
              <a:rPr lang="de-DE" dirty="0"/>
              <a:t> minimal </a:t>
            </a:r>
            <a:r>
              <a:rPr lang="de-DE" dirty="0" err="1"/>
              <a:t>networks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adapt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tasks</a:t>
            </a:r>
            <a:r>
              <a:rPr lang="de-DE" dirty="0"/>
              <a:t> </a:t>
            </a:r>
            <a:r>
              <a:rPr lang="de-DE" dirty="0" err="1"/>
              <a:t>they</a:t>
            </a:r>
            <a:r>
              <a:rPr lang="de-DE" dirty="0"/>
              <a:t> </a:t>
            </a:r>
            <a:r>
              <a:rPr lang="de-DE" dirty="0" err="1"/>
              <a:t>were</a:t>
            </a:r>
            <a:r>
              <a:rPr lang="de-DE" dirty="0"/>
              <a:t> </a:t>
            </a:r>
            <a:r>
              <a:rPr lang="de-DE" dirty="0" err="1"/>
              <a:t>never</a:t>
            </a:r>
            <a:r>
              <a:rPr lang="de-DE" dirty="0"/>
              <a:t> </a:t>
            </a:r>
            <a:r>
              <a:rPr lang="de-DE" dirty="0" err="1"/>
              <a:t>explicitly</a:t>
            </a:r>
            <a:r>
              <a:rPr lang="de-DE" dirty="0"/>
              <a:t> </a:t>
            </a:r>
            <a:r>
              <a:rPr lang="de-DE" dirty="0" err="1"/>
              <a:t>trained</a:t>
            </a:r>
            <a:r>
              <a:rPr lang="de-DE" dirty="0"/>
              <a:t> on, and </a:t>
            </a:r>
            <a:r>
              <a:rPr lang="de-DE" dirty="0" err="1"/>
              <a:t>characterize</a:t>
            </a:r>
            <a:r>
              <a:rPr lang="de-DE" dirty="0"/>
              <a:t> </a:t>
            </a:r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structural</a:t>
            </a:r>
            <a:r>
              <a:rPr lang="de-DE" dirty="0"/>
              <a:t> </a:t>
            </a:r>
            <a:r>
              <a:rPr lang="de-DE" dirty="0" err="1"/>
              <a:t>properties</a:t>
            </a:r>
            <a:r>
              <a:rPr lang="de-DE" dirty="0"/>
              <a:t> </a:t>
            </a:r>
            <a:r>
              <a:rPr lang="de-DE" dirty="0" err="1"/>
              <a:t>make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possible.</a:t>
            </a:r>
          </a:p>
          <a:p>
            <a:endParaRPr lang="de-DE" dirty="0"/>
          </a:p>
          <a:p>
            <a:endParaRPr lang="de-DE" dirty="0"/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e-DE" dirty="0" err="1">
                <a:sym typeface="Wingdings" panose="05000000000000000000" pitchFamily="2" charset="2"/>
              </a:rPr>
              <a:t>Candidate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wiring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motifs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for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targeted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investigation</a:t>
            </a:r>
            <a:r>
              <a:rPr lang="de-DE" dirty="0">
                <a:sym typeface="Wingdings" panose="05000000000000000000" pitchFamily="2" charset="2"/>
              </a:rPr>
              <a:t> in </a:t>
            </a:r>
            <a:r>
              <a:rPr lang="de-DE" dirty="0" err="1">
                <a:sym typeface="Wingdings" panose="05000000000000000000" pitchFamily="2" charset="2"/>
              </a:rPr>
              <a:t>biological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circuits</a:t>
            </a:r>
            <a:r>
              <a:rPr lang="de-DE" dirty="0">
                <a:sym typeface="Wingdings" panose="05000000000000000000" pitchFamily="2" charset="2"/>
              </a:rPr>
              <a:t> / </a:t>
            </a:r>
            <a:r>
              <a:rPr lang="de-DE" dirty="0" err="1">
                <a:sym typeface="Wingdings" panose="05000000000000000000" pitchFamily="2" charset="2"/>
              </a:rPr>
              <a:t>networks</a:t>
            </a:r>
            <a:endParaRPr lang="de-DE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e-DE" dirty="0">
                <a:sym typeface="Wingdings" panose="05000000000000000000" pitchFamily="2" charset="2"/>
              </a:rPr>
              <a:t>Model </a:t>
            </a:r>
            <a:r>
              <a:rPr lang="de-DE" dirty="0" err="1">
                <a:sym typeface="Wingdings" panose="05000000000000000000" pitchFamily="2" charset="2"/>
              </a:rPr>
              <a:t>for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interpretation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of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data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from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complex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circuits</a:t>
            </a:r>
            <a:r>
              <a:rPr lang="de-DE" dirty="0">
                <a:sym typeface="Wingdings" panose="05000000000000000000" pitchFamily="2" charset="2"/>
              </a:rPr>
              <a:t> and </a:t>
            </a:r>
            <a:r>
              <a:rPr lang="de-DE" dirty="0" err="1">
                <a:sym typeface="Wingdings" panose="05000000000000000000" pitchFamily="2" charset="2"/>
              </a:rPr>
              <a:t>brains</a:t>
            </a:r>
            <a:endParaRPr lang="de-DE" dirty="0">
              <a:sym typeface="Wingdings" panose="05000000000000000000" pitchFamily="2" charset="2"/>
            </a:endParaRP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D92CC30-3ED4-325B-1A7F-27E0E5EAEA68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de-DE"/>
              <a:t>Dr. Jana Dahlmanns – Jana.Dahlmanns@fau.de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F4DE647-8299-3C1B-11AC-698E405F9A0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01D04CD-A18E-4C48-A0D4-2F175BEDACF1}" type="slidenum">
              <a:rPr lang="de-DE" smtClean="0"/>
              <a:t>22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9203423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lex_task_successful">
            <a:hlinkClick r:id="" action="ppaction://media"/>
            <a:extLst>
              <a:ext uri="{FF2B5EF4-FFF2-40B4-BE49-F238E27FC236}">
                <a16:creationId xmlns:a16="http://schemas.microsoft.com/office/drawing/2014/main" id="{7BA8E456-729C-681E-935F-DB94A2EF5D79}"/>
              </a:ext>
            </a:extLst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>
                  <p14:trim st="1600" end="3861.8"/>
                </p14:media>
              </p:ext>
            </p:extLst>
          </p:nvPr>
        </p:nvPicPr>
        <p:blipFill>
          <a:blip r:embed="rId4"/>
          <a:srcRect l="1108" t="3011" b="2996"/>
          <a:stretch>
            <a:fillRect/>
          </a:stretch>
        </p:blipFill>
        <p:spPr>
          <a:xfrm>
            <a:off x="2444435" y="860079"/>
            <a:ext cx="5579435" cy="6446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22737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9368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Benutzerdefiniert 1">
      <a:majorFont>
        <a:latin typeface="Inter"/>
        <a:ea typeface=""/>
        <a:cs typeface=""/>
      </a:majorFont>
      <a:minorFont>
        <a:latin typeface="Int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1239</Words>
  <Application>Microsoft Office PowerPoint</Application>
  <PresentationFormat>Breitbild</PresentationFormat>
  <Paragraphs>155</Paragraphs>
  <Slides>23</Slides>
  <Notes>5</Notes>
  <HiddenSlides>0</HiddenSlides>
  <MMClips>1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23</vt:i4>
      </vt:variant>
    </vt:vector>
  </HeadingPairs>
  <TitlesOfParts>
    <vt:vector size="31" baseType="lpstr">
      <vt:lpstr>MS Mincho</vt:lpstr>
      <vt:lpstr>Aptos</vt:lpstr>
      <vt:lpstr>Arial</vt:lpstr>
      <vt:lpstr>Cormorant Garamond</vt:lpstr>
      <vt:lpstr>Courier New</vt:lpstr>
      <vt:lpstr>Inter</vt:lpstr>
      <vt:lpstr>Wingdings</vt:lpstr>
      <vt:lpstr>Office</vt:lpstr>
      <vt:lpstr>The Minimum Viable Brain Selection and investigation of unsupervised adaptive learners with minimal neuronal architecture   Dr. Jana Katharina Dahlmanns</vt:lpstr>
      <vt:lpstr>1 - Who here knows how to work a coffee maker?</vt:lpstr>
      <vt:lpstr>2 – Complete this sentence:</vt:lpstr>
      <vt:lpstr>3 – Find the shortest path through this maze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Dahlmanns, Jana</dc:creator>
  <cp:lastModifiedBy>Dahlmanns, Jana</cp:lastModifiedBy>
  <cp:revision>43</cp:revision>
  <dcterms:created xsi:type="dcterms:W3CDTF">2026-05-06T11:26:19Z</dcterms:created>
  <dcterms:modified xsi:type="dcterms:W3CDTF">2026-06-08T13:13:56Z</dcterms:modified>
</cp:coreProperties>
</file>