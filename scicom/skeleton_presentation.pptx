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32"/>
  </p:notesMasterIdLst>
  <p:sldIdLst>
    <p:sldId id="256" r:id="rId2"/>
    <p:sldId id="269" r:id="rId3"/>
    <p:sldId id="270" r:id="rId4"/>
    <p:sldId id="271" r:id="rId5"/>
    <p:sldId id="304" r:id="rId6"/>
    <p:sldId id="272" r:id="rId7"/>
    <p:sldId id="291" r:id="rId8"/>
    <p:sldId id="301" r:id="rId9"/>
    <p:sldId id="300" r:id="rId10"/>
    <p:sldId id="303" r:id="rId11"/>
    <p:sldId id="299" r:id="rId12"/>
    <p:sldId id="292" r:id="rId13"/>
    <p:sldId id="293" r:id="rId14"/>
    <p:sldId id="294" r:id="rId15"/>
    <p:sldId id="295" r:id="rId16"/>
    <p:sldId id="296" r:id="rId17"/>
    <p:sldId id="298" r:id="rId18"/>
    <p:sldId id="297" r:id="rId19"/>
    <p:sldId id="278" r:id="rId20"/>
    <p:sldId id="274" r:id="rId21"/>
    <p:sldId id="275" r:id="rId22"/>
    <p:sldId id="276" r:id="rId23"/>
    <p:sldId id="280" r:id="rId24"/>
    <p:sldId id="281" r:id="rId25"/>
    <p:sldId id="282" r:id="rId26"/>
    <p:sldId id="284" r:id="rId27"/>
    <p:sldId id="286" r:id="rId28"/>
    <p:sldId id="288" r:id="rId29"/>
    <p:sldId id="289" r:id="rId30"/>
    <p:sldId id="290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117"/>
    <a:srgbClr val="00336E"/>
    <a:srgbClr val="19BDFD"/>
    <a:srgbClr val="969696"/>
    <a:srgbClr val="F8FAFA"/>
    <a:srgbClr val="E3E9EA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>
        <p:scale>
          <a:sx n="125" d="100"/>
          <a:sy n="125" d="100"/>
        </p:scale>
        <p:origin x="2496" y="6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19.06.2026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9770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A93-3D7E-1624-6151-DF804A6CB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64DC2-DDB6-5C15-5046-3CFA9DED6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EC8D6E5-A3E7-F522-9A4A-3A5B9297A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CD06A8-EAAC-4800-9E17-457FCD892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5837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microsoft.com/office/2007/relationships/media" Target="../media/media2.mp4"/><Relationship Id="rId7" Type="http://schemas.openxmlformats.org/officeDocument/2006/relationships/image" Target="../media/image29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A26246-6339-39AC-0818-300F5080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FD1AE331-75DB-3E75-5E42-DBC112CA5F3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D03769FD-B97B-F620-E12A-7531740BB341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4A0B3D49-3B1F-3D8A-B33E-159C901A8F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E938FC0-BBC4-ED11-2BB2-047944D37D7C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CD421887-4FA1-7E27-7B42-942F3A88314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BD66F344-AF4E-9915-327F-255A52603CAE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474BF98F-FE17-7066-6498-D4F7EDDE67C0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0B6812B8-5C1C-917C-7CFE-FFBA522B54F6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0A4389B-1772-F0F5-8B66-B93DCA2FA1CA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964A89D3-3977-4AB9-780B-98A41887F8E6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310BF71E-205F-6E74-CA71-7A6F6A69C7A9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1EB0970F-35F5-1A47-62CB-E0AB9DCED3BD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DE59DA31-11D6-28A7-1C95-A262463E1D4E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0E14226-8D39-35C4-2A11-425F490551AC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0F1E69A-EB96-C3C6-9754-81E279AFF1EC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BAB0ED01-BE74-CA3A-A4FE-33A3730F06F8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3EBFF6DF-6DD0-A4F9-E723-EF167F321CC4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A35081B2-E06A-A6B8-79BF-EB237D4CCC54}"/>
                </a:ext>
              </a:extLst>
            </p:cNvPr>
            <p:cNvSpPr txBox="1"/>
            <p:nvPr/>
          </p:nvSpPr>
          <p:spPr>
            <a:xfrm>
              <a:off x="7815257" y="249434"/>
              <a:ext cx="26479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EF0623F9-DCFF-A1EB-833C-8B6D187EDF4A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63EABFD-BCEC-5A15-23ED-EB7744F73EAE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F92C7C13-77E2-4220-E1FF-154266E92272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042F98B3-85A6-1699-97CE-08030C2AE5B5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903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580730"/>
            <a:ext cx="28479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1B05651-415E-7726-5B4C-7EB6F2347B9F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257175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257175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uppieren 1">
              <a:extLst>
                <a:ext uri="{FF2B5EF4-FFF2-40B4-BE49-F238E27FC236}">
                  <a16:creationId xmlns:a16="http://schemas.microsoft.com/office/drawing/2014/main" id="{5A4559F9-6779-4975-546B-254F17E25FCC}"/>
                </a:ext>
              </a:extLst>
            </p:cNvPr>
            <p:cNvGrpSpPr/>
            <p:nvPr/>
          </p:nvGrpSpPr>
          <p:grpSpPr>
            <a:xfrm>
              <a:off x="3467101" y="723194"/>
              <a:ext cx="3338511" cy="923924"/>
              <a:chOff x="3467101" y="2209094"/>
              <a:chExt cx="3338511" cy="923924"/>
            </a:xfrm>
          </p:grpSpPr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4D7B878-0F3C-65C5-7C09-31ACE74F84C3}"/>
                  </a:ext>
                </a:extLst>
              </p:cNvPr>
              <p:cNvSpPr txBox="1"/>
              <p:nvPr/>
            </p:nvSpPr>
            <p:spPr>
              <a:xfrm>
                <a:off x="3467101" y="2440224"/>
                <a:ext cx="24003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Charles Darwin:</a:t>
                </a:r>
              </a:p>
              <a:p>
                <a:pPr algn="r"/>
                <a:r>
                  <a:rPr lang="de-DE" sz="1200" dirty="0"/>
                  <a:t>‚</a:t>
                </a:r>
                <a:r>
                  <a:rPr lang="de-DE" sz="1200" dirty="0" err="1"/>
                  <a:t>brains</a:t>
                </a:r>
                <a:r>
                  <a:rPr lang="de-DE" sz="1200" dirty="0"/>
                  <a:t> </a:t>
                </a:r>
                <a:r>
                  <a:rPr lang="de-DE" sz="1200" dirty="0" err="1"/>
                  <a:t>that</a:t>
                </a:r>
                <a:r>
                  <a:rPr lang="de-DE" sz="1200" dirty="0"/>
                  <a:t> </a:t>
                </a:r>
                <a:r>
                  <a:rPr lang="de-DE" sz="1200" dirty="0" err="1"/>
                  <a:t>generalize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survive</a:t>
                </a:r>
                <a:r>
                  <a:rPr lang="de-DE" sz="1200" dirty="0"/>
                  <a:t>‘</a:t>
                </a:r>
              </a:p>
            </p:txBody>
          </p: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5B31EBB6-ABBC-593A-6E6E-13D3AE05575B}"/>
                  </a:ext>
                </a:extLst>
              </p:cNvPr>
              <p:cNvSpPr/>
              <p:nvPr/>
            </p:nvSpPr>
            <p:spPr>
              <a:xfrm>
                <a:off x="5881688" y="2209094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1859</a:t>
                </a:r>
              </a:p>
            </p:txBody>
          </p:sp>
        </p:grp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B0B1D9C2-721C-C16E-337E-0A741B5A1C69}"/>
                </a:ext>
              </a:extLst>
            </p:cNvPr>
            <p:cNvGrpSpPr/>
            <p:nvPr/>
          </p:nvGrpSpPr>
          <p:grpSpPr>
            <a:xfrm>
              <a:off x="3886202" y="3100859"/>
              <a:ext cx="2919410" cy="923924"/>
              <a:chOff x="3886202" y="3889678"/>
              <a:chExt cx="2919410" cy="923924"/>
            </a:xfrm>
          </p:grpSpPr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783BD30-3EC7-5E4B-F37A-12044C7C2BEA}"/>
                  </a:ext>
                </a:extLst>
              </p:cNvPr>
              <p:cNvSpPr txBox="1"/>
              <p:nvPr/>
            </p:nvSpPr>
            <p:spPr>
              <a:xfrm>
                <a:off x="3886202" y="4120808"/>
                <a:ext cx="1995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Santiago Ramón y Cajal</a:t>
                </a:r>
                <a:br>
                  <a:rPr lang="de-DE" sz="1200" dirty="0"/>
                </a:br>
                <a:r>
                  <a:rPr lang="de-DE" sz="1200" dirty="0" err="1"/>
                  <a:t>Importance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of</a:t>
                </a:r>
                <a:r>
                  <a:rPr lang="de-DE" sz="1200" dirty="0"/>
                  <a:t> </a:t>
                </a:r>
                <a:r>
                  <a:rPr lang="de-DE" sz="1200" dirty="0" err="1"/>
                  <a:t>plasticity</a:t>
                </a:r>
                <a:endParaRPr lang="de-DE" sz="1200" dirty="0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4584360E-75C3-E8F8-2E9C-6BE91C932BEB}"/>
                  </a:ext>
                </a:extLst>
              </p:cNvPr>
              <p:cNvSpPr/>
              <p:nvPr/>
            </p:nvSpPr>
            <p:spPr>
              <a:xfrm>
                <a:off x="5881688" y="3889678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1890s</a:t>
                </a:r>
              </a:p>
            </p:txBody>
          </p:sp>
        </p:grpSp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F8A8E1C0-4F68-02F8-6E5F-3B9F571E6361}"/>
                </a:ext>
              </a:extLst>
            </p:cNvPr>
            <p:cNvGrpSpPr/>
            <p:nvPr/>
          </p:nvGrpSpPr>
          <p:grpSpPr>
            <a:xfrm>
              <a:off x="3095625" y="5570263"/>
              <a:ext cx="3709987" cy="923924"/>
              <a:chOff x="3095625" y="5570263"/>
              <a:chExt cx="3709987" cy="923924"/>
            </a:xfrm>
          </p:grpSpPr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B8EAFF0E-529B-2CBF-C2C5-12B3BE518677}"/>
                  </a:ext>
                </a:extLst>
              </p:cNvPr>
              <p:cNvSpPr txBox="1"/>
              <p:nvPr/>
            </p:nvSpPr>
            <p:spPr>
              <a:xfrm>
                <a:off x="3095625" y="5801393"/>
                <a:ext cx="277177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Alan Turing</a:t>
                </a:r>
                <a:br>
                  <a:rPr lang="de-DE" sz="1200" dirty="0"/>
                </a:br>
                <a:r>
                  <a:rPr lang="de-DE" sz="1200" dirty="0" err="1"/>
                  <a:t>Computability</a:t>
                </a:r>
                <a:endParaRPr lang="de-DE" sz="1200" dirty="0"/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BA454841-9C2A-D008-AC92-C59843CE185C}"/>
                  </a:ext>
                </a:extLst>
              </p:cNvPr>
              <p:cNvSpPr/>
              <p:nvPr/>
            </p:nvSpPr>
            <p:spPr>
              <a:xfrm>
                <a:off x="5881688" y="5570263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1930s</a:t>
                </a:r>
              </a:p>
            </p:txBody>
          </p:sp>
        </p:grp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F2DA4D2-A314-C60C-4D95-376A940433EF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uppieren 7">
              <a:extLst>
                <a:ext uri="{FF2B5EF4-FFF2-40B4-BE49-F238E27FC236}">
                  <a16:creationId xmlns:a16="http://schemas.microsoft.com/office/drawing/2014/main" id="{4E3073E7-E148-9E42-9C72-6B3EE6904A75}"/>
                </a:ext>
              </a:extLst>
            </p:cNvPr>
            <p:cNvGrpSpPr/>
            <p:nvPr/>
          </p:nvGrpSpPr>
          <p:grpSpPr>
            <a:xfrm>
              <a:off x="7734295" y="1912027"/>
              <a:ext cx="3643317" cy="923924"/>
              <a:chOff x="7734295" y="1892567"/>
              <a:chExt cx="3643317" cy="923924"/>
            </a:xfrm>
          </p:grpSpPr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68F1C2D-CA4F-3997-B3B5-2F0619AC727F}"/>
                  </a:ext>
                </a:extLst>
              </p:cNvPr>
              <p:cNvSpPr txBox="1"/>
              <p:nvPr/>
            </p:nvSpPr>
            <p:spPr>
              <a:xfrm>
                <a:off x="7734295" y="2123696"/>
                <a:ext cx="27289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Randall Beer</a:t>
                </a:r>
                <a:br>
                  <a:rPr lang="de-DE" sz="1200" b="1" dirty="0"/>
                </a:br>
                <a:r>
                  <a:rPr lang="de-DE" sz="1200" dirty="0" err="1"/>
                  <a:t>Intelligence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as</a:t>
                </a:r>
                <a:r>
                  <a:rPr lang="de-DE" sz="1200" dirty="0"/>
                  <a:t> Adaptive </a:t>
                </a:r>
                <a:r>
                  <a:rPr lang="de-DE" sz="1200" dirty="0" err="1"/>
                  <a:t>Behavior</a:t>
                </a:r>
                <a:endParaRPr lang="de-DE" sz="1200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7E1E3FAD-FAB0-206E-9BE6-82E4C2D0CC35}"/>
                  </a:ext>
                </a:extLst>
              </p:cNvPr>
              <p:cNvSpPr/>
              <p:nvPr/>
            </p:nvSpPr>
            <p:spPr>
              <a:xfrm>
                <a:off x="10453688" y="1892567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1990</a:t>
                </a:r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867F2A86-AB34-476C-C72D-BB0D9149C3C1}"/>
                </a:ext>
              </a:extLst>
            </p:cNvPr>
            <p:cNvGrpSpPr/>
            <p:nvPr/>
          </p:nvGrpSpPr>
          <p:grpSpPr>
            <a:xfrm>
              <a:off x="7519987" y="4289691"/>
              <a:ext cx="3857625" cy="1015663"/>
              <a:chOff x="7519987" y="5479001"/>
              <a:chExt cx="3857625" cy="1015663"/>
            </a:xfrm>
          </p:grpSpPr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5C55C199-CF8D-BC8F-B958-86C6861EB473}"/>
                  </a:ext>
                </a:extLst>
              </p:cNvPr>
              <p:cNvSpPr txBox="1"/>
              <p:nvPr/>
            </p:nvSpPr>
            <p:spPr>
              <a:xfrm>
                <a:off x="7519987" y="5479001"/>
                <a:ext cx="2943220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Eduardo Izquierdo, Ezequiel Di Paolo, Matthew Egbert</a:t>
                </a:r>
                <a:r>
                  <a:rPr lang="de-DE" sz="1200" dirty="0"/>
                  <a:t> </a:t>
                </a:r>
              </a:p>
              <a:p>
                <a:pPr algn="r"/>
                <a:r>
                  <a:rPr lang="de-DE" sz="1200" dirty="0" err="1"/>
                  <a:t>chemotaxis</a:t>
                </a:r>
                <a:r>
                  <a:rPr lang="de-DE" sz="1200" dirty="0"/>
                  <a:t> </a:t>
                </a:r>
                <a:r>
                  <a:rPr lang="de-DE" sz="1200" dirty="0" err="1"/>
                  <a:t>models</a:t>
                </a:r>
                <a:r>
                  <a:rPr lang="de-DE" sz="1200" dirty="0"/>
                  <a:t>, minimal </a:t>
                </a:r>
                <a:r>
                  <a:rPr lang="de-DE" sz="1200" dirty="0" err="1"/>
                  <a:t>life</a:t>
                </a:r>
                <a:endParaRPr lang="de-DE" sz="1200" dirty="0"/>
              </a:p>
              <a:p>
                <a:pPr algn="r"/>
                <a:r>
                  <a:rPr lang="de-DE" sz="1200" b="1" dirty="0"/>
                  <a:t>Rolf Pfeifer, Josh Bongard</a:t>
                </a:r>
              </a:p>
              <a:p>
                <a:pPr algn="r"/>
                <a:r>
                  <a:rPr lang="de-DE" sz="1200" dirty="0"/>
                  <a:t>Embedded </a:t>
                </a:r>
                <a:r>
                  <a:rPr lang="de-DE" sz="1200" dirty="0" err="1"/>
                  <a:t>cognition</a:t>
                </a:r>
                <a:endParaRPr lang="de-DE" sz="1200" dirty="0"/>
              </a:p>
            </p:txBody>
          </p:sp>
          <p:sp>
            <p:nvSpPr>
              <p:cNvPr id="40" name="Ellipse 39">
                <a:extLst>
                  <a:ext uri="{FF2B5EF4-FFF2-40B4-BE49-F238E27FC236}">
                    <a16:creationId xmlns:a16="http://schemas.microsoft.com/office/drawing/2014/main" id="{A55570A4-2122-B7CD-00C0-26E5943D5786}"/>
                  </a:ext>
                </a:extLst>
              </p:cNvPr>
              <p:cNvSpPr/>
              <p:nvPr/>
            </p:nvSpPr>
            <p:spPr>
              <a:xfrm>
                <a:off x="10453688" y="5547805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Today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1FFDC38-9DF5-AB6D-9336-E345595430C5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Computational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Neuroethology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EB735F9-87D9-154C-23A9-88E7B3ACCAAE}"/>
              </a:ext>
            </a:extLst>
          </p:cNvPr>
          <p:cNvSpPr txBox="1"/>
          <p:nvPr/>
        </p:nvSpPr>
        <p:spPr>
          <a:xfrm>
            <a:off x="5857962" y="6219478"/>
            <a:ext cx="5457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Hillel </a:t>
            </a:r>
            <a:r>
              <a:rPr lang="de-DE" sz="1000" dirty="0" err="1"/>
              <a:t>Chiel</a:t>
            </a:r>
            <a:r>
              <a:rPr lang="de-DE" sz="1000" dirty="0"/>
              <a:t> &amp; Randall Beer (1997)</a:t>
            </a:r>
            <a:r>
              <a:rPr lang="en-US" sz="1000" dirty="0"/>
              <a:t> </a:t>
            </a:r>
            <a:r>
              <a:rPr lang="en-US" sz="1000" i="1" dirty="0"/>
              <a:t>The brain has a body: adaptive behavior </a:t>
            </a:r>
          </a:p>
          <a:p>
            <a:r>
              <a:rPr lang="en-US" sz="1000" i="1" dirty="0"/>
              <a:t>emerges from interactions of nervous system, body and environment</a:t>
            </a:r>
            <a:r>
              <a:rPr lang="de-DE" sz="1000" i="1" dirty="0"/>
              <a:t>. </a:t>
            </a:r>
            <a:r>
              <a:rPr lang="de-DE" sz="1000" dirty="0"/>
              <a:t>Trends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72F086E-DF5C-9FC2-E337-4FCE41F1C92C}"/>
              </a:ext>
            </a:extLst>
          </p:cNvPr>
          <p:cNvSpPr txBox="1"/>
          <p:nvPr/>
        </p:nvSpPr>
        <p:spPr>
          <a:xfrm>
            <a:off x="1998980" y="1263023"/>
            <a:ext cx="7609840" cy="4613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de-DE" i="1" dirty="0">
                <a:effectLst/>
              </a:rPr>
              <a:t>Studies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mechanisms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generally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focus</a:t>
            </a:r>
            <a:r>
              <a:rPr lang="de-DE" i="1" dirty="0">
                <a:effectLst/>
              </a:rPr>
              <a:t> on </a:t>
            </a:r>
            <a:r>
              <a:rPr lang="de-DE" i="1" dirty="0" err="1">
                <a:effectLst/>
              </a:rPr>
              <a:t>neurons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circuits</a:t>
            </a:r>
            <a:r>
              <a:rPr lang="de-DE" i="1" dirty="0">
                <a:effectLst/>
              </a:rPr>
              <a:t>. </a:t>
            </a:r>
            <a:br>
              <a:rPr lang="de-DE" i="1" dirty="0">
                <a:effectLst/>
              </a:rPr>
            </a:br>
            <a:r>
              <a:rPr lang="de-DE" i="1" dirty="0">
                <a:effectLst/>
              </a:rPr>
              <a:t>But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b="1" i="1" dirty="0">
                <a:effectLst/>
              </a:rPr>
              <a:t>also </a:t>
            </a:r>
            <a:r>
              <a:rPr lang="de-DE" b="1" i="1" dirty="0" err="1">
                <a:effectLst/>
              </a:rPr>
              <a:t>depends</a:t>
            </a:r>
            <a:r>
              <a:rPr lang="de-DE" b="1" i="1" dirty="0">
                <a:effectLst/>
              </a:rPr>
              <a:t> on </a:t>
            </a:r>
            <a:r>
              <a:rPr lang="de-DE" b="1" i="1" dirty="0" err="1">
                <a:effectLst/>
              </a:rPr>
              <a:t>interactions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among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the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i="1" dirty="0">
                <a:effectLst/>
              </a:rPr>
              <a:t>: </a:t>
            </a:r>
            <a:br>
              <a:rPr lang="de-DE" i="1" dirty="0">
                <a:effectLst/>
              </a:rPr>
            </a:br>
            <a:r>
              <a:rPr lang="de-DE" i="1" dirty="0" err="1">
                <a:effectLst/>
              </a:rPr>
              <a:t>sensory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preprocessing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motor</a:t>
            </a:r>
            <a:r>
              <a:rPr lang="de-DE" i="1" dirty="0">
                <a:effectLst/>
              </a:rPr>
              <a:t> post-</a:t>
            </a:r>
            <a:r>
              <a:rPr lang="de-DE" i="1" dirty="0" err="1">
                <a:effectLst/>
              </a:rPr>
              <a:t>processing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filter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inputs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to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outputs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from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the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nervous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system</a:t>
            </a:r>
            <a:r>
              <a:rPr lang="de-DE" i="1" dirty="0"/>
              <a:t> […] </a:t>
            </a:r>
            <a:r>
              <a:rPr lang="de-DE" i="1" dirty="0">
                <a:effectLst/>
              </a:rPr>
              <a:t>and </a:t>
            </a:r>
            <a:r>
              <a:rPr lang="de-DE" b="1" i="1" dirty="0" err="1">
                <a:effectLst/>
              </a:rPr>
              <a:t>continuous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feedback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between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are</a:t>
            </a:r>
            <a:r>
              <a:rPr lang="de-DE" b="1" i="1" dirty="0">
                <a:effectLst/>
              </a:rPr>
              <a:t> essential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normal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r>
              <a:rPr lang="de-DE" i="1" dirty="0"/>
              <a:t>[…] </a:t>
            </a:r>
            <a:br>
              <a:rPr lang="de-DE" b="1" i="1" dirty="0"/>
            </a:br>
            <a:r>
              <a:rPr lang="de-DE" b="1" i="1" dirty="0">
                <a:effectLst/>
              </a:rPr>
              <a:t>Computational </a:t>
            </a:r>
            <a:r>
              <a:rPr lang="de-DE" b="1" i="1" dirty="0" err="1">
                <a:effectLst/>
              </a:rPr>
              <a:t>neuroethology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which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jointly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models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neural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control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periphery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of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animals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is</a:t>
            </a:r>
            <a:r>
              <a:rPr lang="de-DE" b="1" i="1" dirty="0">
                <a:effectLst/>
              </a:rPr>
              <a:t> a promising </a:t>
            </a:r>
            <a:r>
              <a:rPr lang="de-DE" b="1" i="1" dirty="0" err="1">
                <a:effectLst/>
              </a:rPr>
              <a:t>methodology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understanding</a:t>
            </a:r>
            <a:r>
              <a:rPr lang="de-DE" b="1" i="1" dirty="0">
                <a:effectLst/>
              </a:rPr>
              <a:t> adaptive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endParaRPr lang="de-DE" i="1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2608F7A-583B-6643-EF69-25DFA3540695}"/>
              </a:ext>
            </a:extLst>
          </p:cNvPr>
          <p:cNvSpPr txBox="1"/>
          <p:nvPr/>
        </p:nvSpPr>
        <p:spPr>
          <a:xfrm>
            <a:off x="330200" y="-1024957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0613E2B-0CDB-45CA-183E-DA31CBD4D1D2}"/>
              </a:ext>
            </a:extLst>
          </p:cNvPr>
          <p:cNvSpPr txBox="1"/>
          <p:nvPr/>
        </p:nvSpPr>
        <p:spPr>
          <a:xfrm>
            <a:off x="9446895" y="2649270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</p:spTree>
    <p:extLst>
      <p:ext uri="{BB962C8B-B14F-4D97-AF65-F5344CB8AC3E}">
        <p14:creationId xmlns:p14="http://schemas.microsoft.com/office/powerpoint/2010/main" val="746378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553E-9D3F-F008-5388-CE7842BF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ACB6C97-6C8B-DB52-3A1F-224D4922D997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A18254-BE04-EC4F-FC2D-F332E22A4143}"/>
              </a:ext>
            </a:extLst>
          </p:cNvPr>
          <p:cNvSpPr txBox="1"/>
          <p:nvPr/>
        </p:nvSpPr>
        <p:spPr>
          <a:xfrm>
            <a:off x="6858000" y="6009937"/>
            <a:ext cx="5142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Zhao, M., Wang, N., Jiang, X. et al. (2024)</a:t>
            </a:r>
            <a:r>
              <a:rPr lang="en-US" sz="1000" dirty="0"/>
              <a:t> </a:t>
            </a:r>
            <a:r>
              <a:rPr lang="en-US" sz="1000" i="1" dirty="0"/>
              <a:t>An integrative data-driven model simulating C. elegans brain, body and environment interactions. </a:t>
            </a:r>
            <a:r>
              <a:rPr lang="de-DE" sz="1000" dirty="0"/>
              <a:t>Nat </a:t>
            </a:r>
            <a:r>
              <a:rPr lang="de-DE" sz="1000" dirty="0" err="1"/>
              <a:t>Comput</a:t>
            </a:r>
            <a:r>
              <a:rPr lang="de-DE" sz="1000" dirty="0"/>
              <a:t> </a:t>
            </a:r>
            <a:r>
              <a:rPr lang="de-DE" sz="1000" dirty="0" err="1"/>
              <a:t>Sci</a:t>
            </a:r>
            <a:r>
              <a:rPr lang="de-DE" sz="1000" dirty="0"/>
              <a:t> </a:t>
            </a:r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432"/>
          <a:stretch>
            <a:fillRect/>
          </a:stretch>
        </p:blipFill>
        <p:spPr bwMode="auto">
          <a:xfrm>
            <a:off x="330864" y="1108757"/>
            <a:ext cx="6527136" cy="2649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A859CB5-F991-BB16-B668-3F65019B8085}"/>
              </a:ext>
            </a:extLst>
          </p:cNvPr>
          <p:cNvSpPr txBox="1"/>
          <p:nvPr/>
        </p:nvSpPr>
        <p:spPr>
          <a:xfrm>
            <a:off x="7077162" y="1860270"/>
            <a:ext cx="3804198" cy="1660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Embedding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models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interactive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environments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reveals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neuronal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dynamics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biologically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realistic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not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isoalted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networks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 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718AE01-8ABC-F42D-5729-84D0AEBEB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64" y="3716583"/>
            <a:ext cx="6530917" cy="278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228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6FCD-F6F4-8EBA-27B1-887CC9E76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170" y="1303347"/>
            <a:ext cx="6638290" cy="47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30372F5-DE2C-AFB5-98EB-BD5EAF8304CE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C07ACE5-0976-DB87-420B-8C84A396E7B7}"/>
              </a:ext>
            </a:extLst>
          </p:cNvPr>
          <p:cNvSpPr txBox="1"/>
          <p:nvPr/>
        </p:nvSpPr>
        <p:spPr>
          <a:xfrm>
            <a:off x="7231380" y="5648375"/>
            <a:ext cx="41833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Ji-An, L., Benna, M.K. &amp; Mattar, M.G. </a:t>
            </a:r>
            <a:r>
              <a:rPr lang="de-DE" sz="1000" dirty="0"/>
              <a:t>(2025)</a:t>
            </a:r>
            <a:r>
              <a:rPr lang="en-US" sz="1000" dirty="0"/>
              <a:t> </a:t>
            </a:r>
            <a:r>
              <a:rPr lang="en-US" sz="1000" i="1" dirty="0"/>
              <a:t>Discovering cognitive strategies with tiny recurrent neural networks. </a:t>
            </a:r>
            <a:r>
              <a:rPr lang="de-DE" sz="1000" dirty="0"/>
              <a:t>Naure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5A212BB-54D8-918D-0CEC-DA09E562A53C}"/>
              </a:ext>
            </a:extLst>
          </p:cNvPr>
          <p:cNvSpPr txBox="1"/>
          <p:nvPr/>
        </p:nvSpPr>
        <p:spPr>
          <a:xfrm>
            <a:off x="7420971" y="1563090"/>
            <a:ext cx="3804198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Tiny RNNs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can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complex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bahvior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while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remaining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interpretable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251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62CD7-0515-87E1-F879-D8E6F1159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F63BA22-3FDA-DC93-623E-40789EA53C10}"/>
              </a:ext>
            </a:extLst>
          </p:cNvPr>
          <p:cNvSpPr txBox="1"/>
          <p:nvPr/>
        </p:nvSpPr>
        <p:spPr>
          <a:xfrm>
            <a:off x="2667000" y="2397948"/>
            <a:ext cx="6858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/>
              <a:t>Can minimal </a:t>
            </a:r>
            <a:r>
              <a:rPr lang="de-DE" sz="3200" dirty="0" err="1"/>
              <a:t>embedded</a:t>
            </a:r>
            <a:r>
              <a:rPr lang="de-DE" sz="3200" dirty="0"/>
              <a:t> </a:t>
            </a:r>
            <a:r>
              <a:rPr lang="de-DE" sz="3200" dirty="0" err="1"/>
              <a:t>networks</a:t>
            </a:r>
            <a:r>
              <a:rPr lang="de-DE" sz="3200" dirty="0"/>
              <a:t> </a:t>
            </a:r>
            <a:r>
              <a:rPr lang="de-DE" sz="3200" dirty="0" err="1"/>
              <a:t>evolve</a:t>
            </a:r>
            <a:r>
              <a:rPr lang="de-DE" sz="3200" dirty="0"/>
              <a:t> internal </a:t>
            </a:r>
            <a:r>
              <a:rPr lang="de-DE" sz="3200" dirty="0" err="1"/>
              <a:t>dynamics</a:t>
            </a:r>
            <a:r>
              <a:rPr lang="de-DE" sz="3200" dirty="0"/>
              <a:t> </a:t>
            </a:r>
            <a:r>
              <a:rPr lang="de-DE" sz="3200" dirty="0" err="1"/>
              <a:t>that</a:t>
            </a:r>
            <a:r>
              <a:rPr lang="de-DE" sz="3200" dirty="0"/>
              <a:t> support </a:t>
            </a:r>
            <a:r>
              <a:rPr lang="de-DE" sz="3200" dirty="0" err="1"/>
              <a:t>adaptation</a:t>
            </a:r>
            <a:r>
              <a:rPr lang="de-DE" sz="3200" dirty="0"/>
              <a:t> </a:t>
            </a:r>
            <a:r>
              <a:rPr lang="de-DE" sz="3200" dirty="0" err="1"/>
              <a:t>to</a:t>
            </a:r>
            <a:r>
              <a:rPr lang="de-DE" sz="3200" dirty="0"/>
              <a:t> </a:t>
            </a:r>
            <a:r>
              <a:rPr lang="de-DE" sz="3200" dirty="0" err="1"/>
              <a:t>changing</a:t>
            </a:r>
            <a:r>
              <a:rPr lang="de-DE" sz="3200" dirty="0"/>
              <a:t> </a:t>
            </a:r>
            <a:r>
              <a:rPr lang="de-DE" sz="3200" dirty="0" err="1"/>
              <a:t>task</a:t>
            </a:r>
            <a:r>
              <a:rPr lang="de-DE" sz="3200" dirty="0"/>
              <a:t> </a:t>
            </a:r>
            <a:r>
              <a:rPr lang="de-DE" sz="3200" dirty="0" err="1"/>
              <a:t>rules</a:t>
            </a:r>
            <a:r>
              <a:rPr lang="de-DE" sz="32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0AF1FD7-937C-CB55-1139-4C0AEA462B49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OUR QUESTION</a:t>
            </a:r>
          </a:p>
        </p:txBody>
      </p:sp>
    </p:spTree>
    <p:extLst>
      <p:ext uri="{BB962C8B-B14F-4D97-AF65-F5344CB8AC3E}">
        <p14:creationId xmlns:p14="http://schemas.microsoft.com/office/powerpoint/2010/main" val="3529437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E9D00-F8AE-F935-7DBA-7185ABE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C52EB998-07DE-5005-CD98-5C727A8CE31B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435200-B34E-98F6-61A3-B2706F6E841F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Embedded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14" name="Grafik 13" descr="https://www.science.org/cms/10.1126/science.adp7478/asset/7e30f92a-0dc5-4cde-8cfe-c1993b7dd44f/assets/images/large/science.adp7478-f1.jpg">
            <a:extLst>
              <a:ext uri="{FF2B5EF4-FFF2-40B4-BE49-F238E27FC236}">
                <a16:creationId xmlns:a16="http://schemas.microsoft.com/office/drawing/2014/main" id="{2A95D4D0-1C61-98C2-1C71-BE66C39D6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00" y="1105364"/>
            <a:ext cx="9501800" cy="5247661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AECB09CD-AD64-21C9-47D4-74E15A40E590}"/>
              </a:ext>
            </a:extLst>
          </p:cNvPr>
          <p:cNvSpPr txBox="1"/>
          <p:nvPr/>
        </p:nvSpPr>
        <p:spPr>
          <a:xfrm>
            <a:off x="5667462" y="6348649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997956D-244F-9A34-30D2-9A03B24404A2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b="1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250986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745B-74BD-769E-7C5B-9D67B90F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C47A53C-4E65-0726-4E24-1CEB5ADAC8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36" y="1420324"/>
            <a:ext cx="9966927" cy="487183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9F829D51-74B9-043F-DE5C-2B891B9E7320}"/>
              </a:ext>
            </a:extLst>
          </p:cNvPr>
          <p:cNvSpPr txBox="1"/>
          <p:nvPr/>
        </p:nvSpPr>
        <p:spPr>
          <a:xfrm>
            <a:off x="5060887" y="6292157"/>
            <a:ext cx="669051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Doncieux</a:t>
            </a:r>
            <a:r>
              <a:rPr lang="de-DE" sz="1000" dirty="0"/>
              <a:t> S, </a:t>
            </a:r>
            <a:r>
              <a:rPr lang="de-DE" sz="1000" dirty="0" err="1"/>
              <a:t>Bredeche</a:t>
            </a:r>
            <a:r>
              <a:rPr lang="de-DE" sz="1000" dirty="0"/>
              <a:t> N, Mouret J-B and Eiben AEG (2015) </a:t>
            </a:r>
            <a:r>
              <a:rPr lang="de-DE" sz="1000" i="1" dirty="0" err="1"/>
              <a:t>Evolutionary</a:t>
            </a:r>
            <a:r>
              <a:rPr lang="de-DE" sz="1000" i="1" dirty="0"/>
              <a:t> Robotics: </a:t>
            </a:r>
            <a:r>
              <a:rPr lang="de-DE" sz="1000" i="1" dirty="0" err="1"/>
              <a:t>What</a:t>
            </a:r>
            <a:r>
              <a:rPr lang="de-DE" sz="1000" i="1" dirty="0"/>
              <a:t>, Why, and </a:t>
            </a:r>
            <a:r>
              <a:rPr lang="de-DE" sz="1000" i="1" dirty="0" err="1"/>
              <a:t>Where</a:t>
            </a:r>
            <a:r>
              <a:rPr lang="de-DE" sz="1000" i="1" dirty="0"/>
              <a:t> </a:t>
            </a:r>
            <a:r>
              <a:rPr lang="de-DE" sz="1000" i="1" dirty="0" err="1"/>
              <a:t>to</a:t>
            </a:r>
            <a:r>
              <a:rPr lang="de-DE" sz="1000" i="1" dirty="0"/>
              <a:t>. </a:t>
            </a:r>
            <a:r>
              <a:rPr lang="de-DE" sz="1000" dirty="0"/>
              <a:t>Front. Robot. AI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3E149A-B5AB-0CE3-95D8-F84FE32DF0E9}"/>
              </a:ext>
            </a:extLst>
          </p:cNvPr>
          <p:cNvSpPr txBox="1"/>
          <p:nvPr/>
        </p:nvSpPr>
        <p:spPr>
          <a:xfrm>
            <a:off x="4079458" y="565843"/>
            <a:ext cx="4033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8A17B56-A352-9D7C-C645-EAE7A279F560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2A490E3-0F45-7188-A74E-3210AC18CEB4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b="1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9909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B616D-9FE5-AE7E-F2AB-CA3270F6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D522D7BF-ABB2-6CD2-1CDB-5427412F8ED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7224D6B-CAA5-5507-3492-8DD7521AE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" y="1349721"/>
            <a:ext cx="6955333" cy="415855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5DF840-9422-8BA2-331C-7F1C46F6EEA1}"/>
              </a:ext>
            </a:extLst>
          </p:cNvPr>
          <p:cNvSpPr txBox="1"/>
          <p:nvPr/>
        </p:nvSpPr>
        <p:spPr>
          <a:xfrm>
            <a:off x="57350" y="5584270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1943B92-50F8-7F83-2D47-35001C9577F0}"/>
              </a:ext>
            </a:extLst>
          </p:cNvPr>
          <p:cNvSpPr txBox="1"/>
          <p:nvPr/>
        </p:nvSpPr>
        <p:spPr>
          <a:xfrm>
            <a:off x="7180097" y="5507325"/>
            <a:ext cx="47833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Jiang, WC., </a:t>
            </a:r>
            <a:r>
              <a:rPr lang="de-DE" sz="1000" dirty="0" err="1"/>
              <a:t>Xu</a:t>
            </a:r>
            <a:r>
              <a:rPr lang="de-DE" sz="1000" dirty="0"/>
              <a:t>, S. &amp; Dudman, J.T. (2022) </a:t>
            </a:r>
            <a:r>
              <a:rPr lang="de-DE" sz="1000" i="1" dirty="0"/>
              <a:t>Hippocampal </a:t>
            </a:r>
            <a:r>
              <a:rPr lang="de-DE" sz="1000" i="1" dirty="0" err="1"/>
              <a:t>representations</a:t>
            </a:r>
            <a:r>
              <a:rPr lang="de-DE" sz="1000" i="1" dirty="0"/>
              <a:t>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foraging</a:t>
            </a:r>
            <a:r>
              <a:rPr lang="de-DE" sz="1000" i="1" dirty="0"/>
              <a:t> </a:t>
            </a:r>
            <a:r>
              <a:rPr lang="de-DE" sz="1000" i="1" dirty="0" err="1"/>
              <a:t>trajectories</a:t>
            </a:r>
            <a:r>
              <a:rPr lang="de-DE" sz="1000" i="1" dirty="0"/>
              <a:t> </a:t>
            </a:r>
            <a:r>
              <a:rPr lang="de-DE" sz="1000" i="1" dirty="0" err="1"/>
              <a:t>depend</a:t>
            </a:r>
            <a:r>
              <a:rPr lang="de-DE" sz="1000" i="1" dirty="0"/>
              <a:t> upon </a:t>
            </a:r>
            <a:r>
              <a:rPr lang="de-DE" sz="1000" i="1" dirty="0" err="1"/>
              <a:t>spatial</a:t>
            </a:r>
            <a:r>
              <a:rPr lang="de-DE" sz="1000" i="1" dirty="0"/>
              <a:t> </a:t>
            </a:r>
            <a:r>
              <a:rPr lang="de-DE" sz="1000" i="1" dirty="0" err="1"/>
              <a:t>context</a:t>
            </a:r>
            <a:r>
              <a:rPr lang="de-DE" sz="1000" i="1" dirty="0"/>
              <a:t>. </a:t>
            </a:r>
            <a:r>
              <a:rPr lang="de-DE" sz="1000" dirty="0"/>
              <a:t>Nat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D82E11A-6EF5-BB94-CCA8-3FF91BCD749F}"/>
              </a:ext>
            </a:extLst>
          </p:cNvPr>
          <p:cNvGrpSpPr/>
          <p:nvPr/>
        </p:nvGrpSpPr>
        <p:grpSpPr>
          <a:xfrm>
            <a:off x="7180097" y="1349720"/>
            <a:ext cx="5011903" cy="4158557"/>
            <a:chOff x="7180097" y="1349720"/>
            <a:chExt cx="5011903" cy="415855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C37FCF53-7D1F-656D-192D-A46F1480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097" y="1349720"/>
              <a:ext cx="5011903" cy="4158557"/>
            </a:xfrm>
            <a:prstGeom prst="rect">
              <a:avLst/>
            </a:prstGeom>
          </p:spPr>
        </p:pic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BCD14306-B807-43E0-9FCC-550E1274D6C3}"/>
                </a:ext>
              </a:extLst>
            </p:cNvPr>
            <p:cNvSpPr/>
            <p:nvPr/>
          </p:nvSpPr>
          <p:spPr>
            <a:xfrm>
              <a:off x="11856720" y="1349721"/>
              <a:ext cx="312420" cy="20792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30DFCA77-CB03-A12B-0098-9EC82565E7D5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FFF224-E14B-44C9-8D7F-D08586E7C14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1520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F827-1CE2-1688-D9BC-3D583D355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552BEF9-D46B-20A7-F18C-B6B4067944E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047D47C-4BED-84AB-5DE5-B2E6D1677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11" y="1027508"/>
            <a:ext cx="4719789" cy="47197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3AC85F2-7193-28AC-3DDA-C20ED38B5D57}"/>
              </a:ext>
            </a:extLst>
          </p:cNvPr>
          <p:cNvSpPr txBox="1"/>
          <p:nvPr/>
        </p:nvSpPr>
        <p:spPr>
          <a:xfrm>
            <a:off x="5667462" y="1759473"/>
            <a:ext cx="5674176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 poison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Sensory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input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: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+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current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field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Output: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movement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+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stay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signal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forage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Task: 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Metabolic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+ Movement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energy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refill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A042E3D4-6634-DF9F-0596-682FEBB84128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396A18A-E1F0-AE53-C981-A2C7B6F0067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87903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D8B7-F7A5-78D7-A829-584FE45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7CD38AB6-792C-918F-99CD-D561EA60AB07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8FB2912-22DB-5331-3D79-8D9F4189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60" y="1120222"/>
            <a:ext cx="11586056" cy="446142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1F9B94B-E0E8-D3DE-90AE-DED58B2244DF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B74233C4-3139-EB54-35E9-FAB929DF864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FA8E58-CD21-EE8F-D084-4FB1D2F3450C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83998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E3D-D935-F3AE-51B0-29D4CC4AF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D990FBD-5D9E-6221-3B24-995E513711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pic>
        <p:nvPicPr>
          <p:cNvPr id="8" name="Grafik 7" descr="Recurrent Neural Network">
            <a:extLst>
              <a:ext uri="{FF2B5EF4-FFF2-40B4-BE49-F238E27FC236}">
                <a16:creationId xmlns:a16="http://schemas.microsoft.com/office/drawing/2014/main" id="{15F6E816-F0C4-F4B0-D608-091F091C9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120222"/>
            <a:ext cx="6035635" cy="446778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3F4250B-B81F-29FB-7422-B2232C50DD9D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372F6B6-F14D-8D59-207B-B24ECCEEA728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B1A7DD2-78F4-B1A5-3435-9E35C0211D24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F2C1B6-21AD-7CFA-0250-7D38EA2BB1BD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68410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490C3-2292-F4D9-F2DF-229229EE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B82A7626-6351-79D1-957D-C9728470771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Unstructured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Neuronal Networks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2BB333-9D09-648A-C794-CDD70663BF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535D4A9-7CF0-A16D-81C8-B762BA74163A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9F73504-F8CF-6130-7705-14503768F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296" y="1203595"/>
            <a:ext cx="6214629" cy="441557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95F4664-A0AD-6A0B-421B-594063C63F72}"/>
              </a:ext>
            </a:extLst>
          </p:cNvPr>
          <p:cNvSpPr txBox="1"/>
          <p:nvPr/>
        </p:nvSpPr>
        <p:spPr>
          <a:xfrm>
            <a:off x="5377295" y="5614667"/>
            <a:ext cx="6214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A. Pathak, S.N. Menon, &amp; S. Sinha (2024) </a:t>
            </a:r>
            <a:r>
              <a:rPr lang="de-DE" sz="1000" i="1" dirty="0"/>
              <a:t>A </a:t>
            </a:r>
            <a:r>
              <a:rPr lang="de-DE" sz="1000" i="1" dirty="0" err="1"/>
              <a:t>hierarchy</a:t>
            </a:r>
            <a:r>
              <a:rPr lang="de-DE" sz="1000" i="1" dirty="0"/>
              <a:t> </a:t>
            </a:r>
            <a:r>
              <a:rPr lang="de-DE" sz="1000" i="1" dirty="0" err="1"/>
              <a:t>index</a:t>
            </a:r>
            <a:r>
              <a:rPr lang="de-DE" sz="1000" i="1" dirty="0"/>
              <a:t> </a:t>
            </a:r>
            <a:r>
              <a:rPr lang="de-DE" sz="1000" i="1" dirty="0" err="1"/>
              <a:t>for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in </a:t>
            </a:r>
            <a:r>
              <a:rPr lang="de-DE" sz="1000" i="1" dirty="0" err="1"/>
              <a:t>the</a:t>
            </a:r>
            <a:r>
              <a:rPr lang="de-DE" sz="1000" i="1" dirty="0"/>
              <a:t> </a:t>
            </a:r>
            <a:r>
              <a:rPr lang="de-DE" sz="1000" i="1" dirty="0" err="1"/>
              <a:t>brain</a:t>
            </a:r>
            <a:r>
              <a:rPr lang="de-DE" sz="1000" i="1" dirty="0"/>
              <a:t> </a:t>
            </a:r>
            <a:r>
              <a:rPr lang="de-DE" sz="1000" i="1" dirty="0" err="1"/>
              <a:t>reveals</a:t>
            </a:r>
            <a:r>
              <a:rPr lang="de-DE" sz="1000" i="1" dirty="0"/>
              <a:t> a </a:t>
            </a:r>
            <a:r>
              <a:rPr lang="de-DE" sz="1000" i="1" dirty="0" err="1"/>
              <a:t>complex</a:t>
            </a:r>
            <a:r>
              <a:rPr lang="de-DE" sz="1000" i="1" dirty="0"/>
              <a:t> </a:t>
            </a:r>
            <a:r>
              <a:rPr lang="de-DE" sz="1000" i="1" dirty="0" err="1"/>
              <a:t>entangled</a:t>
            </a:r>
            <a:r>
              <a:rPr lang="de-DE" sz="1000" i="1" dirty="0"/>
              <a:t> organizational </a:t>
            </a:r>
            <a:r>
              <a:rPr lang="de-DE" sz="1000" i="1" dirty="0" err="1"/>
              <a:t>structure</a:t>
            </a:r>
            <a:r>
              <a:rPr lang="de-DE" sz="1000" dirty="0"/>
              <a:t>, </a:t>
            </a:r>
            <a:r>
              <a:rPr lang="de-DE" sz="1000" dirty="0" err="1"/>
              <a:t>Proc</a:t>
            </a:r>
            <a:r>
              <a:rPr lang="de-DE" sz="1000" dirty="0"/>
              <a:t>. </a:t>
            </a:r>
            <a:r>
              <a:rPr lang="de-DE" sz="1000" dirty="0" err="1"/>
              <a:t>Natl</a:t>
            </a:r>
            <a:r>
              <a:rPr lang="de-DE" sz="1000" dirty="0"/>
              <a:t>. Acad. </a:t>
            </a:r>
            <a:r>
              <a:rPr lang="de-DE" sz="1000" dirty="0" err="1"/>
              <a:t>Sci</a:t>
            </a:r>
            <a:r>
              <a:rPr lang="de-DE" sz="1000" dirty="0"/>
              <a:t>. U.S.A.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0C7E1A-61D6-72CD-BAF9-6A050D77C5B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1AEB68F-A693-9B9D-9D07-3EBCCEDF8B4E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170569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23B9-E3A4-D16E-AD8C-DB7298DC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66033CFC-C0CA-82BE-E936-D2235327CACD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8495E11-51A3-6207-EDE3-27C62487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DA2B30D-EF04-2A3E-8BF3-B282C4658F02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32A42F5-0E91-16AC-5BE0-640F889466D9}"/>
              </a:ext>
            </a:extLst>
          </p:cNvPr>
          <p:cNvGrpSpPr/>
          <p:nvPr/>
        </p:nvGrpSpPr>
        <p:grpSpPr>
          <a:xfrm>
            <a:off x="2317288" y="1402080"/>
            <a:ext cx="1866092" cy="3581400"/>
            <a:chOff x="2317288" y="1402080"/>
            <a:chExt cx="1866092" cy="3581400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0915A880-BAEE-857A-AD83-AFD329308A49}"/>
                </a:ext>
              </a:extLst>
            </p:cNvPr>
            <p:cNvSpPr/>
            <p:nvPr/>
          </p:nvSpPr>
          <p:spPr>
            <a:xfrm>
              <a:off x="2317288" y="2823981"/>
              <a:ext cx="217559" cy="204970"/>
            </a:xfrm>
            <a:prstGeom prst="ellipse">
              <a:avLst/>
            </a:prstGeom>
            <a:noFill/>
            <a:ln w="38100"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de-DE" sz="4000" b="1">
                <a:solidFill>
                  <a:schemeClr val="tx1"/>
                </a:solidFill>
              </a:endParaRPr>
            </a:p>
          </p:txBody>
        </p: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4B63C75E-F780-20C9-A2E7-F1EF745EB499}"/>
                </a:ext>
              </a:extLst>
            </p:cNvPr>
            <p:cNvCxnSpPr>
              <a:stCxn id="7" idx="0"/>
            </p:cNvCxnSpPr>
            <p:nvPr/>
          </p:nvCxnSpPr>
          <p:spPr>
            <a:xfrm flipV="1">
              <a:off x="2426068" y="1402080"/>
              <a:ext cx="1757312" cy="1421901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49BC4549-4F4A-500A-6065-0D76B9D6A6C5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2426068" y="3028951"/>
              <a:ext cx="1559192" cy="1954529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/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3200" b="0" dirty="0"/>
              </a:p>
              <a:p>
                <a:endParaRPr lang="de-DE" sz="3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func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2284920E-FC3D-B0B3-7022-57DD8B0FA18C}"/>
              </a:ext>
            </a:extLst>
          </p:cNvPr>
          <p:cNvGrpSpPr/>
          <p:nvPr/>
        </p:nvGrpSpPr>
        <p:grpSpPr>
          <a:xfrm>
            <a:off x="5186714" y="1724000"/>
            <a:ext cx="5672553" cy="3329138"/>
            <a:chOff x="5186714" y="1724000"/>
            <a:chExt cx="5672553" cy="3329138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4BCB5E33-EF67-ADE9-D129-BD0CB1F235CC}"/>
                </a:ext>
              </a:extLst>
            </p:cNvPr>
            <p:cNvGrpSpPr/>
            <p:nvPr/>
          </p:nvGrpSpPr>
          <p:grpSpPr>
            <a:xfrm>
              <a:off x="5186714" y="1724000"/>
              <a:ext cx="5672553" cy="2820560"/>
              <a:chOff x="5186714" y="1724000"/>
              <a:chExt cx="5672553" cy="2820560"/>
            </a:xfrm>
          </p:grpSpPr>
          <p:grpSp>
            <p:nvGrpSpPr>
              <p:cNvPr id="33" name="Gruppieren 32">
                <a:extLst>
                  <a:ext uri="{FF2B5EF4-FFF2-40B4-BE49-F238E27FC236}">
                    <a16:creationId xmlns:a16="http://schemas.microsoft.com/office/drawing/2014/main" id="{4EDFD337-B00B-8B63-FC6C-45C1FA69DB35}"/>
                  </a:ext>
                </a:extLst>
              </p:cNvPr>
              <p:cNvGrpSpPr/>
              <p:nvPr/>
            </p:nvGrpSpPr>
            <p:grpSpPr>
              <a:xfrm>
                <a:off x="5186714" y="1724000"/>
                <a:ext cx="5672553" cy="459655"/>
                <a:chOff x="5186714" y="1724000"/>
                <a:chExt cx="5672553" cy="459655"/>
              </a:xfrm>
            </p:grpSpPr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ED2C7CD-6FAC-28D7-14F1-48671F23BCF4}"/>
                    </a:ext>
                  </a:extLst>
                </p:cNvPr>
                <p:cNvSpPr txBox="1"/>
                <p:nvPr/>
              </p:nvSpPr>
              <p:spPr>
                <a:xfrm>
                  <a:off x="5186714" y="1906656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Tonic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activation</a:t>
                  </a:r>
                  <a:r>
                    <a:rPr lang="de-DE" sz="1200" b="1" dirty="0">
                      <a:solidFill>
                        <a:srgbClr val="00336E"/>
                      </a:solidFill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bias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B33A397-EA73-06E6-F92E-916FC17E1EED}"/>
                    </a:ext>
                  </a:extLst>
                </p:cNvPr>
                <p:cNvSpPr txBox="1"/>
                <p:nvPr/>
              </p:nvSpPr>
              <p:spPr>
                <a:xfrm>
                  <a:off x="6949440" y="1724000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Weighted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sum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of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inputs</a:t>
                  </a:r>
                  <a:endParaRPr lang="de-DE" sz="1200" b="1" dirty="0">
                    <a:solidFill>
                      <a:srgbClr val="00336E"/>
                    </a:solidFill>
                    <a:ea typeface="Cormorant Garamond" pitchFamily="2" charset="0"/>
                    <a:cs typeface="Cormorant Garamond" pitchFamily="2" charset="0"/>
                  </a:endParaRPr>
                </a:p>
              </p:txBody>
            </p:sp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18E8B0EC-94AF-6E2F-71BB-C4360C43C3CE}"/>
                    </a:ext>
                  </a:extLst>
                </p:cNvPr>
                <p:cNvSpPr txBox="1"/>
                <p:nvPr/>
              </p:nvSpPr>
              <p:spPr>
                <a:xfrm>
                  <a:off x="8888427" y="1906656"/>
                  <a:ext cx="197084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Random normal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noise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</p:grpSp>
          <p:grpSp>
            <p:nvGrpSpPr>
              <p:cNvPr id="43" name="Gruppieren 42">
                <a:extLst>
                  <a:ext uri="{FF2B5EF4-FFF2-40B4-BE49-F238E27FC236}">
                    <a16:creationId xmlns:a16="http://schemas.microsoft.com/office/drawing/2014/main" id="{E50F2E35-0FA3-ACFE-EF44-83F9369855F2}"/>
                  </a:ext>
                </a:extLst>
              </p:cNvPr>
              <p:cNvGrpSpPr/>
              <p:nvPr/>
            </p:nvGrpSpPr>
            <p:grpSpPr>
              <a:xfrm>
                <a:off x="5494941" y="4079625"/>
                <a:ext cx="4270991" cy="464935"/>
                <a:chOff x="5494941" y="4079625"/>
                <a:chExt cx="4270991" cy="464935"/>
              </a:xfrm>
            </p:grpSpPr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E67509C-E279-CBCA-1EE4-BB2176591876}"/>
                    </a:ext>
                  </a:extLst>
                </p:cNvPr>
                <p:cNvSpPr txBox="1"/>
                <p:nvPr/>
              </p:nvSpPr>
              <p:spPr>
                <a:xfrm>
                  <a:off x="5494941" y="4267561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Threshold</a:t>
                  </a:r>
                </a:p>
              </p:txBody>
            </p:sp>
            <p:cxnSp>
              <p:nvCxnSpPr>
                <p:cNvPr id="39" name="Gerade Verbindung mit Pfeil 38">
                  <a:extLst>
                    <a:ext uri="{FF2B5EF4-FFF2-40B4-BE49-F238E27FC236}">
                      <a16:creationId xmlns:a16="http://schemas.microsoft.com/office/drawing/2014/main" id="{F75640FB-8BBC-C581-2D6F-694FD8F1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50802" y="4079625"/>
                  <a:ext cx="196576" cy="265627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Gerade Verbindung mit Pfeil 39">
                  <a:extLst>
                    <a:ext uri="{FF2B5EF4-FFF2-40B4-BE49-F238E27FC236}">
                      <a16:creationId xmlns:a16="http://schemas.microsoft.com/office/drawing/2014/main" id="{1F778EDE-FD0C-DF56-6716-BC579DD543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58940" y="4130040"/>
                  <a:ext cx="3006992" cy="276020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2E5E92B3-F14F-D0FA-53ED-4361903B5EC4}"/>
                </a:ext>
              </a:extLst>
            </p:cNvPr>
            <p:cNvSpPr/>
            <p:nvPr/>
          </p:nvSpPr>
          <p:spPr>
            <a:xfrm>
              <a:off x="7142649" y="3687905"/>
              <a:ext cx="2077551" cy="548447"/>
            </a:xfrm>
            <a:prstGeom prst="rect">
              <a:avLst/>
            </a:prstGeom>
            <a:noFill/>
            <a:ln w="57150">
              <a:solidFill>
                <a:srgbClr val="B3811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1A2CFFD2-3B55-FAAE-27F9-D2E060614E79}"/>
                </a:ext>
              </a:extLst>
            </p:cNvPr>
            <p:cNvSpPr txBox="1"/>
            <p:nvPr/>
          </p:nvSpPr>
          <p:spPr>
            <a:xfrm>
              <a:off x="6912187" y="4345252"/>
              <a:ext cx="253847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Meaningful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threshold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mapping</a:t>
              </a:r>
              <a:endParaRPr lang="de-DE" sz="2000" b="1" dirty="0">
                <a:solidFill>
                  <a:srgbClr val="B38117"/>
                </a:solidFill>
                <a:ea typeface="Cormorant Garamond" pitchFamily="2" charset="0"/>
                <a:cs typeface="Cormorant Garamond" pitchFamily="2" charset="0"/>
              </a:endParaRP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230123C6-07BE-0B3C-E2D0-B303AEC4F20F}"/>
              </a:ext>
            </a:extLst>
          </p:cNvPr>
          <p:cNvSpPr txBox="1"/>
          <p:nvPr/>
        </p:nvSpPr>
        <p:spPr>
          <a:xfrm>
            <a:off x="8934451" y="5628739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Candadai</a:t>
            </a:r>
            <a:r>
              <a:rPr lang="de-DE" sz="1000" dirty="0"/>
              <a:t> M. et al. (2020)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78B07249-CD06-6AAD-314E-55F8BA6DF36C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74906E-046E-E5F6-CDB2-EE1B81239C0A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552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8E4584B-AF6A-6670-98FC-917F66E7D7D7}"/>
              </a:ext>
            </a:extLst>
          </p:cNvPr>
          <p:cNvSpPr txBox="1"/>
          <p:nvPr/>
        </p:nvSpPr>
        <p:spPr>
          <a:xfrm>
            <a:off x="2367459" y="3154053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B522-44B8-0315-D237-CB503C9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E96BFBCA-8679-4F98-42A4-01AE8F99A3EC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1CDF33-35D9-D66E-9EE9-100D39F303C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0918FDC-92A0-1693-9512-6E0C6C1289B2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DD60698-261F-156F-027A-8538EC3025DB}"/>
              </a:ext>
            </a:extLst>
          </p:cNvPr>
          <p:cNvSpPr txBox="1"/>
          <p:nvPr/>
        </p:nvSpPr>
        <p:spPr>
          <a:xfrm>
            <a:off x="2367459" y="739140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418A79-6477-C3E0-D218-D0E4B8C3250A}"/>
              </a:ext>
            </a:extLst>
          </p:cNvPr>
          <p:cNvSpPr txBox="1"/>
          <p:nvPr/>
        </p:nvSpPr>
        <p:spPr>
          <a:xfrm>
            <a:off x="5019675" y="1502736"/>
            <a:ext cx="2152650" cy="231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Initially: 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dense targets, no regrow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Tick 100: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sparse targets, fast regrow</a:t>
            </a:r>
            <a:endParaRPr lang="de-DE" sz="2000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8" name="flex_task_unsuccessful">
            <a:hlinkClick r:id="" action="ppaction://media"/>
            <a:extLst>
              <a:ext uri="{FF2B5EF4-FFF2-40B4-BE49-F238E27FC236}">
                <a16:creationId xmlns:a16="http://schemas.microsoft.com/office/drawing/2014/main" id="{E39877F6-A866-6866-5F21-28A514CD591E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200"/>
                </p14:media>
              </p:ext>
            </p:extLst>
          </p:nvPr>
        </p:nvPicPr>
        <p:blipFill>
          <a:blip r:embed="rId7"/>
          <a:srcRect l="1431"/>
          <a:stretch>
            <a:fillRect/>
          </a:stretch>
        </p:blipFill>
        <p:spPr>
          <a:xfrm>
            <a:off x="387945" y="1502736"/>
            <a:ext cx="3959028" cy="4324540"/>
          </a:xfrm>
          <a:prstGeom prst="rect">
            <a:avLst/>
          </a:prstGeom>
        </p:spPr>
      </p:pic>
      <p:pic>
        <p:nvPicPr>
          <p:cNvPr id="10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F23F2F-2C69-8053-411F-05BBAC757D3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1129" b="1540"/>
          <a:stretch>
            <a:fillRect/>
          </a:stretch>
        </p:blipFill>
        <p:spPr>
          <a:xfrm>
            <a:off x="7845027" y="1496576"/>
            <a:ext cx="3959028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53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872E9-188D-CACD-9779-ADAF6066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0CAE569-0983-40E0-923E-D14443E6DDEC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56FD6BF-A7E3-C8D0-9285-D6066B60809A}"/>
              </a:ext>
            </a:extLst>
          </p:cNvPr>
          <p:cNvSpPr txBox="1"/>
          <p:nvPr/>
        </p:nvSpPr>
        <p:spPr>
          <a:xfrm>
            <a:off x="673504" y="2411400"/>
            <a:ext cx="171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</a:t>
            </a:r>
          </a:p>
          <a:p>
            <a:r>
              <a:rPr lang="en-US" sz="1200" dirty="0"/>
              <a:t>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16AE5240-0479-9956-4CD7-A7F958CA42FD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4848A3B0-353C-68DB-E31D-9F13FEBFFC7A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313B21F7-89CA-0F57-46CF-23CB7A8AE521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3337974-AD07-435C-D3CB-AC68E7B78856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7668104-F610-4AB7-985F-FFA1CCAA3B19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2DB9E80-09FF-2718-BD5C-C936957F1B61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C3A9C33-DF96-7401-F833-4582934F821C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41B9823E-346B-7746-017F-86C25318ECB9}"/>
              </a:ext>
            </a:extLst>
          </p:cNvPr>
          <p:cNvSpPr/>
          <p:nvPr/>
        </p:nvSpPr>
        <p:spPr>
          <a:xfrm>
            <a:off x="431337" y="3141480"/>
            <a:ext cx="1836990" cy="392293"/>
          </a:xfrm>
          <a:prstGeom prst="ellipse">
            <a:avLst/>
          </a:prstGeom>
          <a:noFill/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3736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C9A2-F6FA-74D1-F0FA-15D106FE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D7D3C3F9-6B25-1623-5BA4-19E8E162796B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E7655D9-6825-AB05-867F-FE594998082B}"/>
              </a:ext>
            </a:extLst>
          </p:cNvPr>
          <p:cNvSpPr txBox="1"/>
          <p:nvPr/>
        </p:nvSpPr>
        <p:spPr>
          <a:xfrm>
            <a:off x="-11904" y="3004291"/>
            <a:ext cx="284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Outlook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A5C072-1042-18D6-3173-F6EE082134D1}"/>
              </a:ext>
            </a:extLst>
          </p:cNvPr>
          <p:cNvSpPr txBox="1"/>
          <p:nvPr/>
        </p:nvSpPr>
        <p:spPr>
          <a:xfrm>
            <a:off x="3578226" y="1573130"/>
            <a:ext cx="74405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Build</a:t>
            </a:r>
            <a:r>
              <a:rPr lang="de-DE" sz="2400" dirty="0"/>
              <a:t> minimal </a:t>
            </a:r>
            <a:r>
              <a:rPr lang="de-DE" sz="2400" dirty="0" err="1"/>
              <a:t>networks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adapt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 </a:t>
            </a:r>
            <a:r>
              <a:rPr lang="de-DE" sz="2400" dirty="0" err="1"/>
              <a:t>they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never</a:t>
            </a:r>
            <a:r>
              <a:rPr lang="de-DE" sz="2400" dirty="0"/>
              <a:t> </a:t>
            </a:r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trained</a:t>
            </a:r>
            <a:r>
              <a:rPr lang="de-DE" sz="2400" dirty="0"/>
              <a:t> on, </a:t>
            </a:r>
            <a:br>
              <a:rPr lang="de-DE" sz="2400" dirty="0"/>
            </a:br>
            <a:r>
              <a:rPr lang="de-DE" sz="2400" dirty="0"/>
              <a:t>and </a:t>
            </a:r>
            <a:r>
              <a:rPr lang="de-DE" sz="2400" dirty="0" err="1"/>
              <a:t>characterize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structural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possible.</a:t>
            </a:r>
          </a:p>
          <a:p>
            <a:endParaRPr lang="de-DE" sz="2400" dirty="0"/>
          </a:p>
          <a:p>
            <a:endParaRPr lang="de-DE" sz="24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 err="1">
                <a:sym typeface="Wingdings" panose="05000000000000000000" pitchFamily="2" charset="2"/>
              </a:rPr>
              <a:t>Candidate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wiring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motifs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targeted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investigation</a:t>
            </a:r>
            <a:r>
              <a:rPr lang="de-DE" sz="2400" dirty="0">
                <a:sym typeface="Wingdings" panose="05000000000000000000" pitchFamily="2" charset="2"/>
              </a:rPr>
              <a:t> in </a:t>
            </a:r>
            <a:r>
              <a:rPr lang="de-DE" sz="2400" dirty="0" err="1">
                <a:sym typeface="Wingdings" panose="05000000000000000000" pitchFamily="2" charset="2"/>
              </a:rPr>
              <a:t>biological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/ </a:t>
            </a:r>
            <a:r>
              <a:rPr lang="de-DE" sz="2400" dirty="0" err="1">
                <a:sym typeface="Wingdings" panose="05000000000000000000" pitchFamily="2" charset="2"/>
              </a:rPr>
              <a:t>networks</a:t>
            </a:r>
            <a:endParaRPr lang="de-DE" sz="2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>
                <a:sym typeface="Wingdings" panose="05000000000000000000" pitchFamily="2" charset="2"/>
              </a:rPr>
              <a:t>Model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interpretation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of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data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from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complex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and </a:t>
            </a:r>
            <a:r>
              <a:rPr lang="de-DE" sz="2400" dirty="0" err="1">
                <a:sym typeface="Wingdings" panose="05000000000000000000" pitchFamily="2" charset="2"/>
              </a:rPr>
              <a:t>brains</a:t>
            </a: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60078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1772</Words>
  <Application>Microsoft Office PowerPoint</Application>
  <PresentationFormat>Breitbild</PresentationFormat>
  <Paragraphs>200</Paragraphs>
  <Slides>30</Slides>
  <Notes>7</Notes>
  <HiddenSlides>1</HiddenSlides>
  <MMClips>2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40" baseType="lpstr">
      <vt:lpstr>MS Mincho</vt:lpstr>
      <vt:lpstr>Aptos</vt:lpstr>
      <vt:lpstr>Arial</vt:lpstr>
      <vt:lpstr>Bell MT</vt:lpstr>
      <vt:lpstr>Cambria Math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64</cp:revision>
  <dcterms:created xsi:type="dcterms:W3CDTF">2026-05-06T11:26:19Z</dcterms:created>
  <dcterms:modified xsi:type="dcterms:W3CDTF">2026-06-19T11:41:21Z</dcterms:modified>
</cp:coreProperties>
</file>