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" y="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68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05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75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33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284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4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212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749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469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422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158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A8876D6-4F88-2181-559B-F9C528A6BB9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0533D-F09C-441E-936C-5A7061C2C138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D04CD-A18E-4C48-A0D4-2F175BEDAC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60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de/fotos/weisse-und-schwarze-kaffeemaschine-AjcABUQ7WuA?utm_source=unsplash&amp;utm_medium=referral&amp;utm_content=creditCopyText" TargetMode="External"/><Relationship Id="rId2" Type="http://schemas.openxmlformats.org/officeDocument/2006/relationships/hyperlink" Target="https://unsplash.com/de/@ronan18?utm_source=unsplash&amp;utm_medium=referral&amp;utm_content=creditCopyTex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B57590F-F699-4A16-8D69-2AAA7EEA52AF}"/>
              </a:ext>
            </a:extLst>
          </p:cNvPr>
          <p:cNvSpPr txBox="1"/>
          <p:nvPr/>
        </p:nvSpPr>
        <p:spPr>
          <a:xfrm>
            <a:off x="901700" y="2505672"/>
            <a:ext cx="10179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Selection</a:t>
            </a:r>
            <a:r>
              <a:rPr lang="de-DE" sz="2400" b="1" dirty="0"/>
              <a:t> and </a:t>
            </a:r>
            <a:r>
              <a:rPr lang="de-DE" sz="2400" b="1" dirty="0" err="1"/>
              <a:t>investigation</a:t>
            </a:r>
            <a:r>
              <a:rPr lang="de-DE" sz="2400" b="1" dirty="0"/>
              <a:t>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unsupervised</a:t>
            </a:r>
            <a:r>
              <a:rPr lang="de-DE" sz="2400" b="1" dirty="0"/>
              <a:t> adaptive </a:t>
            </a:r>
            <a:r>
              <a:rPr lang="de-DE" sz="2400" b="1" dirty="0" err="1"/>
              <a:t>learners</a:t>
            </a:r>
            <a:r>
              <a:rPr lang="de-DE" sz="2400" b="1" dirty="0"/>
              <a:t> </a:t>
            </a:r>
            <a:r>
              <a:rPr lang="de-DE" sz="2400" b="1" dirty="0" err="1"/>
              <a:t>with</a:t>
            </a:r>
            <a:r>
              <a:rPr lang="de-DE" sz="2400" b="1" dirty="0"/>
              <a:t> </a:t>
            </a:r>
            <a:r>
              <a:rPr lang="de-DE" sz="2400" b="1" dirty="0" err="1"/>
              <a:t>minmal</a:t>
            </a:r>
            <a:r>
              <a:rPr lang="de-DE" sz="2400" b="1" dirty="0"/>
              <a:t> neuronal </a:t>
            </a:r>
            <a:r>
              <a:rPr lang="de-DE" sz="2400" b="1" dirty="0" err="1"/>
              <a:t>architecture</a:t>
            </a:r>
            <a:endParaRPr lang="de-DE" sz="2400" b="1" dirty="0"/>
          </a:p>
          <a:p>
            <a:pPr algn="ctr"/>
            <a:endParaRPr lang="de-DE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4D0FB2-EC5C-F189-F212-AE1123632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98" y="329383"/>
            <a:ext cx="2812058" cy="134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96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0C3C505-7C0F-E0E3-0170-0AC7FF6E1DA9}"/>
              </a:ext>
            </a:extLst>
          </p:cNvPr>
          <p:cNvSpPr txBox="1"/>
          <p:nvPr/>
        </p:nvSpPr>
        <p:spPr>
          <a:xfrm>
            <a:off x="955426" y="1325201"/>
            <a:ext cx="514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1 - Who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knows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coffee</a:t>
            </a:r>
            <a:r>
              <a:rPr lang="de-DE" dirty="0"/>
              <a:t> </a:t>
            </a:r>
            <a:r>
              <a:rPr lang="de-DE" dirty="0" err="1"/>
              <a:t>maker</a:t>
            </a:r>
            <a:r>
              <a:rPr lang="de-DE" dirty="0"/>
              <a:t>?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967ADF7-314F-D965-009A-9301567912C0}"/>
              </a:ext>
            </a:extLst>
          </p:cNvPr>
          <p:cNvSpPr txBox="1"/>
          <p:nvPr/>
        </p:nvSpPr>
        <p:spPr>
          <a:xfrm>
            <a:off x="9739265" y="6460577"/>
            <a:ext cx="22927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 err="1"/>
              <a:t>Photo</a:t>
            </a:r>
            <a:r>
              <a:rPr lang="de-DE" sz="1050" dirty="0"/>
              <a:t> </a:t>
            </a:r>
            <a:r>
              <a:rPr lang="de-DE" sz="1050" dirty="0" err="1"/>
              <a:t>by</a:t>
            </a:r>
            <a:r>
              <a:rPr lang="de-DE" sz="1050" dirty="0"/>
              <a:t> </a:t>
            </a:r>
            <a:r>
              <a:rPr lang="de-DE" sz="1050" dirty="0">
                <a:hlinkClick r:id="rId2"/>
              </a:rPr>
              <a:t>Ronan Furuta</a:t>
            </a:r>
            <a:r>
              <a:rPr lang="de-DE" sz="1050" dirty="0"/>
              <a:t> on </a:t>
            </a:r>
            <a:r>
              <a:rPr lang="de-DE" sz="1050" dirty="0" err="1">
                <a:hlinkClick r:id="rId3"/>
              </a:rPr>
              <a:t>Unsplash</a:t>
            </a:r>
            <a:r>
              <a:rPr lang="de-DE" sz="1050" dirty="0"/>
              <a:t>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473C84E-445B-BACD-6861-7F15FC414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598" y="962336"/>
            <a:ext cx="3530851" cy="470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2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54FBCC8-5E31-A187-52BC-B09F38AF0543}"/>
              </a:ext>
            </a:extLst>
          </p:cNvPr>
          <p:cNvSpPr txBox="1"/>
          <p:nvPr/>
        </p:nvSpPr>
        <p:spPr>
          <a:xfrm>
            <a:off x="1071549" y="900129"/>
            <a:ext cx="2952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 –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C3071AE-6EDF-A2C9-A890-5A1575E675A5}"/>
              </a:ext>
            </a:extLst>
          </p:cNvPr>
          <p:cNvSpPr txBox="1"/>
          <p:nvPr/>
        </p:nvSpPr>
        <p:spPr>
          <a:xfrm>
            <a:off x="1301435" y="2802977"/>
            <a:ext cx="9390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/>
              <a:t>The </a:t>
            </a:r>
            <a:r>
              <a:rPr lang="de-DE" sz="2800" b="1" dirty="0" err="1"/>
              <a:t>weather</a:t>
            </a:r>
            <a:r>
              <a:rPr lang="de-DE" sz="2800" b="1" dirty="0"/>
              <a:t> outside </a:t>
            </a:r>
            <a:r>
              <a:rPr lang="de-DE" sz="2800" b="1" dirty="0" err="1"/>
              <a:t>is</a:t>
            </a:r>
            <a:r>
              <a:rPr lang="de-DE" sz="2800" b="1" dirty="0"/>
              <a:t> nice </a:t>
            </a:r>
            <a:r>
              <a:rPr lang="de-DE" sz="2800" b="1" dirty="0" err="1"/>
              <a:t>today</a:t>
            </a:r>
            <a:r>
              <a:rPr lang="de-DE" sz="2800" b="1" dirty="0"/>
              <a:t>, </a:t>
            </a:r>
            <a:r>
              <a:rPr lang="de-DE" sz="2800" b="1" dirty="0" err="1"/>
              <a:t>the</a:t>
            </a:r>
            <a:r>
              <a:rPr lang="de-DE" sz="2800" b="1" dirty="0"/>
              <a:t> </a:t>
            </a:r>
            <a:r>
              <a:rPr lang="de-DE" sz="2800" b="1" dirty="0" err="1"/>
              <a:t>sky</a:t>
            </a:r>
            <a:r>
              <a:rPr lang="de-DE" sz="2800" b="1" dirty="0"/>
              <a:t> </a:t>
            </a:r>
            <a:r>
              <a:rPr lang="de-DE" sz="2800" b="1" dirty="0" err="1"/>
              <a:t>is</a:t>
            </a:r>
            <a:r>
              <a:rPr lang="de-DE" sz="2800" b="1" dirty="0"/>
              <a:t> ________.</a:t>
            </a:r>
          </a:p>
        </p:txBody>
      </p:sp>
    </p:spTree>
    <p:extLst>
      <p:ext uri="{BB962C8B-B14F-4D97-AF65-F5344CB8AC3E}">
        <p14:creationId xmlns:p14="http://schemas.microsoft.com/office/powerpoint/2010/main" val="2861102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0D8A66A-0DCA-A62C-88AB-60D786B4BD95}"/>
              </a:ext>
            </a:extLst>
          </p:cNvPr>
          <p:cNvSpPr txBox="1"/>
          <p:nvPr/>
        </p:nvSpPr>
        <p:spPr>
          <a:xfrm>
            <a:off x="548803" y="756279"/>
            <a:ext cx="455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 – 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shortest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maze</a:t>
            </a:r>
            <a:r>
              <a:rPr lang="de-DE" dirty="0"/>
              <a:t>.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503983C-3D62-6428-B7F2-2A9BE9ADF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753" y="1437227"/>
            <a:ext cx="4664494" cy="466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8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4D7F688-F842-C95A-099E-C7B7A6510290}"/>
              </a:ext>
            </a:extLst>
          </p:cNvPr>
          <p:cNvSpPr txBox="1"/>
          <p:nvPr/>
        </p:nvSpPr>
        <p:spPr>
          <a:xfrm>
            <a:off x="3644273" y="248259"/>
            <a:ext cx="5317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Why </a:t>
            </a:r>
            <a:r>
              <a:rPr lang="de-DE" b="1" dirty="0" err="1"/>
              <a:t>are</a:t>
            </a:r>
            <a:r>
              <a:rPr lang="de-DE" b="1" dirty="0"/>
              <a:t> </a:t>
            </a:r>
            <a:r>
              <a:rPr lang="de-DE" b="1" dirty="0" err="1"/>
              <a:t>brains</a:t>
            </a:r>
            <a:r>
              <a:rPr lang="de-DE" b="1" dirty="0"/>
              <a:t> so </a:t>
            </a:r>
            <a:r>
              <a:rPr lang="de-DE" b="1" dirty="0" err="1"/>
              <a:t>good</a:t>
            </a:r>
            <a:r>
              <a:rPr lang="de-DE" b="1" dirty="0"/>
              <a:t> at flexible </a:t>
            </a:r>
            <a:r>
              <a:rPr lang="de-DE" b="1" dirty="0" err="1"/>
              <a:t>generalization</a:t>
            </a:r>
            <a:r>
              <a:rPr lang="de-DE" b="1" dirty="0"/>
              <a:t>?</a:t>
            </a:r>
          </a:p>
          <a:p>
            <a:pPr algn="ctr"/>
            <a:endParaRPr lang="de-DE" b="1" dirty="0"/>
          </a:p>
          <a:p>
            <a:pPr algn="ctr"/>
            <a:r>
              <a:rPr lang="de-DE" b="1" dirty="0"/>
              <a:t>Why </a:t>
            </a:r>
            <a:r>
              <a:rPr lang="de-DE" b="1" dirty="0" err="1"/>
              <a:t>can‘t</a:t>
            </a:r>
            <a:r>
              <a:rPr lang="de-DE" b="1" dirty="0"/>
              <a:t> </a:t>
            </a:r>
            <a:r>
              <a:rPr lang="de-DE" b="1" dirty="0" err="1"/>
              <a:t>we</a:t>
            </a:r>
            <a:r>
              <a:rPr lang="de-DE" b="1" dirty="0"/>
              <a:t> </a:t>
            </a:r>
            <a:r>
              <a:rPr lang="de-DE" b="1" dirty="0" err="1"/>
              <a:t>explain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?</a:t>
            </a:r>
          </a:p>
          <a:p>
            <a:pPr algn="ctr"/>
            <a:endParaRPr lang="de-DE" b="1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89B74C3-6F09-5A82-422F-269F57F12B4A}"/>
              </a:ext>
            </a:extLst>
          </p:cNvPr>
          <p:cNvCxnSpPr>
            <a:cxnSpLocks/>
          </p:cNvCxnSpPr>
          <p:nvPr/>
        </p:nvCxnSpPr>
        <p:spPr>
          <a:xfrm>
            <a:off x="0" y="5323559"/>
            <a:ext cx="12045950" cy="33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B42EF9FC-1160-3418-1A99-70E98FEF5535}"/>
              </a:ext>
            </a:extLst>
          </p:cNvPr>
          <p:cNvSpPr txBox="1"/>
          <p:nvPr/>
        </p:nvSpPr>
        <p:spPr>
          <a:xfrm>
            <a:off x="31745" y="1569045"/>
            <a:ext cx="22986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350 BCE</a:t>
            </a:r>
            <a:br>
              <a:rPr lang="de-DE" dirty="0"/>
            </a:br>
            <a:r>
              <a:rPr lang="de-DE" dirty="0"/>
              <a:t>Aristotle in </a:t>
            </a:r>
            <a:r>
              <a:rPr lang="de-DE" i="1" dirty="0"/>
              <a:t>De Anima</a:t>
            </a:r>
            <a:br>
              <a:rPr lang="de-DE" dirty="0"/>
            </a:br>
            <a:r>
              <a:rPr lang="de-DE" dirty="0" err="1"/>
              <a:t>substrate-independece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thought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72514F-876D-59D3-5534-95C862237C21}"/>
              </a:ext>
            </a:extLst>
          </p:cNvPr>
          <p:cNvSpPr txBox="1"/>
          <p:nvPr/>
        </p:nvSpPr>
        <p:spPr>
          <a:xfrm>
            <a:off x="879478" y="3035828"/>
            <a:ext cx="2298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1859 Darwin</a:t>
            </a:r>
          </a:p>
          <a:p>
            <a:r>
              <a:rPr lang="de-DE" dirty="0"/>
              <a:t>‚</a:t>
            </a:r>
            <a:r>
              <a:rPr lang="de-DE" dirty="0" err="1"/>
              <a:t>brains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generalize</a:t>
            </a:r>
            <a:r>
              <a:rPr lang="de-DE" dirty="0"/>
              <a:t> </a:t>
            </a:r>
            <a:r>
              <a:rPr lang="de-DE" dirty="0" err="1"/>
              <a:t>survive</a:t>
            </a:r>
            <a:r>
              <a:rPr lang="de-DE" dirty="0"/>
              <a:t>‘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066AFC9-BB0A-2943-AC3E-A86B6CDA9841}"/>
              </a:ext>
            </a:extLst>
          </p:cNvPr>
          <p:cNvSpPr txBox="1"/>
          <p:nvPr/>
        </p:nvSpPr>
        <p:spPr>
          <a:xfrm>
            <a:off x="2549526" y="2281314"/>
            <a:ext cx="1495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1890s Cajal</a:t>
            </a:r>
            <a:br>
              <a:rPr lang="de-DE" dirty="0"/>
            </a:br>
            <a:r>
              <a:rPr lang="de-DE" dirty="0" err="1"/>
              <a:t>Importance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plasticity</a:t>
            </a:r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8C08B96-9E05-C408-20E1-6649023D904C}"/>
              </a:ext>
            </a:extLst>
          </p:cNvPr>
          <p:cNvSpPr txBox="1"/>
          <p:nvPr/>
        </p:nvSpPr>
        <p:spPr>
          <a:xfrm>
            <a:off x="6056191" y="1496640"/>
            <a:ext cx="29051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1943 </a:t>
            </a:r>
            <a:r>
              <a:rPr lang="de-DE" dirty="0" err="1"/>
              <a:t>Mc</a:t>
            </a:r>
            <a:r>
              <a:rPr lang="de-DE" dirty="0"/>
              <a:t> Culloch and Pitts</a:t>
            </a:r>
            <a:br>
              <a:rPr lang="de-DE" dirty="0"/>
            </a:br>
            <a:r>
              <a:rPr lang="de-DE" dirty="0"/>
              <a:t>immense </a:t>
            </a:r>
            <a:r>
              <a:rPr lang="de-DE" dirty="0" err="1"/>
              <a:t>computational</a:t>
            </a:r>
            <a:r>
              <a:rPr lang="de-DE" dirty="0"/>
              <a:t> power </a:t>
            </a:r>
            <a:r>
              <a:rPr lang="de-DE" dirty="0" err="1"/>
              <a:t>of</a:t>
            </a:r>
            <a:r>
              <a:rPr lang="de-DE" dirty="0"/>
              <a:t> simple neuronal </a:t>
            </a:r>
            <a:r>
              <a:rPr lang="de-DE" dirty="0" err="1"/>
              <a:t>networks</a:t>
            </a:r>
            <a:br>
              <a:rPr lang="de-DE" dirty="0"/>
            </a:b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91B0ACF-1E3E-57C1-5F0A-08A4249D6E10}"/>
              </a:ext>
            </a:extLst>
          </p:cNvPr>
          <p:cNvCxnSpPr>
            <a:cxnSpLocks/>
          </p:cNvCxnSpPr>
          <p:nvPr/>
        </p:nvCxnSpPr>
        <p:spPr>
          <a:xfrm>
            <a:off x="-1377950" y="3110376"/>
            <a:ext cx="0" cy="2238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BC7D1EA-FA0D-0FA4-0410-87310DE765CC}"/>
              </a:ext>
            </a:extLst>
          </p:cNvPr>
          <p:cNvCxnSpPr>
            <a:cxnSpLocks/>
          </p:cNvCxnSpPr>
          <p:nvPr/>
        </p:nvCxnSpPr>
        <p:spPr>
          <a:xfrm>
            <a:off x="1676400" y="4216760"/>
            <a:ext cx="0" cy="11578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B60B16-B9D5-DFF3-9BB5-B6BD14477A0D}"/>
              </a:ext>
            </a:extLst>
          </p:cNvPr>
          <p:cNvCxnSpPr>
            <a:cxnSpLocks/>
          </p:cNvCxnSpPr>
          <p:nvPr/>
        </p:nvCxnSpPr>
        <p:spPr>
          <a:xfrm>
            <a:off x="3297233" y="3429002"/>
            <a:ext cx="0" cy="1894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25B5581-48D2-CC36-1782-565468EC969B}"/>
              </a:ext>
            </a:extLst>
          </p:cNvPr>
          <p:cNvCxnSpPr>
            <a:cxnSpLocks/>
          </p:cNvCxnSpPr>
          <p:nvPr/>
        </p:nvCxnSpPr>
        <p:spPr>
          <a:xfrm>
            <a:off x="6845300" y="4902960"/>
            <a:ext cx="0" cy="446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67E3794-57D9-5D89-0D73-95E4F798EA65}"/>
              </a:ext>
            </a:extLst>
          </p:cNvPr>
          <p:cNvSpPr txBox="1"/>
          <p:nvPr/>
        </p:nvSpPr>
        <p:spPr>
          <a:xfrm>
            <a:off x="4337054" y="2967335"/>
            <a:ext cx="1589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1930s Alan Turing</a:t>
            </a:r>
            <a:br>
              <a:rPr lang="de-DE" dirty="0"/>
            </a:br>
            <a:r>
              <a:rPr lang="de-DE" dirty="0" err="1"/>
              <a:t>Computability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98ADDA6-F112-68B2-B6B7-6F95A5C020E7}"/>
              </a:ext>
            </a:extLst>
          </p:cNvPr>
          <p:cNvSpPr txBox="1"/>
          <p:nvPr/>
        </p:nvSpPr>
        <p:spPr>
          <a:xfrm>
            <a:off x="9033212" y="1628362"/>
            <a:ext cx="14723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1982 </a:t>
            </a:r>
            <a:r>
              <a:rPr lang="de-DE" dirty="0" err="1"/>
              <a:t>Hopfield</a:t>
            </a:r>
            <a:br>
              <a:rPr lang="de-DE" dirty="0"/>
            </a:br>
            <a:r>
              <a:rPr lang="de-DE" dirty="0" err="1"/>
              <a:t>Associative</a:t>
            </a:r>
            <a:r>
              <a:rPr lang="de-DE" dirty="0"/>
              <a:t> neuronal </a:t>
            </a:r>
            <a:r>
              <a:rPr lang="de-DE" dirty="0" err="1"/>
              <a:t>networks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5E86178-8AB5-1631-D072-E8EA050673F7}"/>
              </a:ext>
            </a:extLst>
          </p:cNvPr>
          <p:cNvSpPr txBox="1"/>
          <p:nvPr/>
        </p:nvSpPr>
        <p:spPr>
          <a:xfrm>
            <a:off x="6056191" y="2808857"/>
            <a:ext cx="2905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1949 Hebb</a:t>
            </a:r>
            <a:br>
              <a:rPr lang="de-DE" dirty="0"/>
            </a:br>
            <a:r>
              <a:rPr lang="de-DE" dirty="0" err="1"/>
              <a:t>plasticity</a:t>
            </a:r>
            <a:r>
              <a:rPr lang="de-DE" dirty="0"/>
              <a:t> </a:t>
            </a:r>
            <a:r>
              <a:rPr lang="de-DE" dirty="0" err="1"/>
              <a:t>mechanism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A3095A3-8778-65B6-64F6-3DB8A6C48E08}"/>
              </a:ext>
            </a:extLst>
          </p:cNvPr>
          <p:cNvSpPr txBox="1"/>
          <p:nvPr/>
        </p:nvSpPr>
        <p:spPr>
          <a:xfrm>
            <a:off x="6153052" y="3616598"/>
            <a:ext cx="180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1948 Wiener</a:t>
            </a:r>
            <a:br>
              <a:rPr lang="de-DE" dirty="0"/>
            </a:b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and </a:t>
            </a:r>
            <a:r>
              <a:rPr lang="de-DE" dirty="0" err="1"/>
              <a:t>feedback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75B8176-6099-F77E-8E55-AE57C4B2DFA4}"/>
              </a:ext>
            </a:extLst>
          </p:cNvPr>
          <p:cNvSpPr txBox="1"/>
          <p:nvPr/>
        </p:nvSpPr>
        <p:spPr>
          <a:xfrm>
            <a:off x="9736896" y="3220494"/>
            <a:ext cx="1535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1990 Randall Beer</a:t>
            </a:r>
            <a:br>
              <a:rPr lang="de-DE" dirty="0"/>
            </a:br>
            <a:r>
              <a:rPr lang="de-DE" dirty="0" err="1"/>
              <a:t>Intelligence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Adaptive </a:t>
            </a:r>
            <a:r>
              <a:rPr lang="de-DE" dirty="0" err="1"/>
              <a:t>Behavior</a:t>
            </a:r>
            <a:endParaRPr lang="de-DE" dirty="0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2F22C57F-0549-0A40-716B-5DF367C7D267}"/>
              </a:ext>
            </a:extLst>
          </p:cNvPr>
          <p:cNvCxnSpPr>
            <a:cxnSpLocks/>
          </p:cNvCxnSpPr>
          <p:nvPr/>
        </p:nvCxnSpPr>
        <p:spPr>
          <a:xfrm>
            <a:off x="4978400" y="3969705"/>
            <a:ext cx="0" cy="1379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4B0D44BF-7AF3-9D14-53A8-44081AE3946D}"/>
              </a:ext>
            </a:extLst>
          </p:cNvPr>
          <p:cNvSpPr txBox="1"/>
          <p:nvPr/>
        </p:nvSpPr>
        <p:spPr>
          <a:xfrm>
            <a:off x="2952257" y="5497678"/>
            <a:ext cx="8535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Today – </a:t>
            </a:r>
            <a:r>
              <a:rPr lang="de-DE" dirty="0" err="1"/>
              <a:t>we</a:t>
            </a:r>
            <a:r>
              <a:rPr lang="de-DE" dirty="0"/>
              <a:t> still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Rolf Pfeifer, Josh Bongard Embedded </a:t>
            </a:r>
            <a:r>
              <a:rPr lang="de-DE" dirty="0" err="1"/>
              <a:t>cognition</a:t>
            </a:r>
            <a:endParaRPr lang="de-DE" dirty="0"/>
          </a:p>
          <a:p>
            <a:pPr algn="r"/>
            <a:r>
              <a:rPr lang="de-DE" dirty="0"/>
              <a:t>Kenneth Stanley NEAT </a:t>
            </a:r>
            <a:r>
              <a:rPr lang="de-DE" dirty="0" err="1"/>
              <a:t>algorithm</a:t>
            </a:r>
            <a:endParaRPr lang="de-DE" dirty="0"/>
          </a:p>
          <a:p>
            <a:pPr algn="r"/>
            <a:r>
              <a:rPr lang="de-DE" dirty="0"/>
              <a:t>Izquierdo, Di Paolo Egbert – </a:t>
            </a:r>
            <a:r>
              <a:rPr lang="de-DE" dirty="0" err="1"/>
              <a:t>chemotaxis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/ minimal </a:t>
            </a:r>
            <a:r>
              <a:rPr lang="de-DE" dirty="0" err="1"/>
              <a:t>life</a:t>
            </a:r>
            <a:endParaRPr lang="de-DE" dirty="0"/>
          </a:p>
          <a:p>
            <a:pPr algn="r"/>
            <a:endParaRPr lang="de-DE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EE525FE-8203-A89A-A34E-2EFFF9902AE8}"/>
              </a:ext>
            </a:extLst>
          </p:cNvPr>
          <p:cNvCxnSpPr>
            <a:cxnSpLocks/>
          </p:cNvCxnSpPr>
          <p:nvPr/>
        </p:nvCxnSpPr>
        <p:spPr>
          <a:xfrm>
            <a:off x="9499600" y="3204646"/>
            <a:ext cx="0" cy="2118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8939105-A446-17A8-A54F-E1FFBC8DA441}"/>
              </a:ext>
            </a:extLst>
          </p:cNvPr>
          <p:cNvCxnSpPr>
            <a:cxnSpLocks/>
          </p:cNvCxnSpPr>
          <p:nvPr/>
        </p:nvCxnSpPr>
        <p:spPr>
          <a:xfrm>
            <a:off x="10274300" y="4816925"/>
            <a:ext cx="0" cy="5066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02FF7C3-A2A3-CF23-E852-B0CE07EE9398}"/>
              </a:ext>
            </a:extLst>
          </p:cNvPr>
          <p:cNvCxnSpPr>
            <a:cxnSpLocks/>
          </p:cNvCxnSpPr>
          <p:nvPr/>
        </p:nvCxnSpPr>
        <p:spPr>
          <a:xfrm>
            <a:off x="12966700" y="5349086"/>
            <a:ext cx="0" cy="5066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0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A483A-42A1-C624-C4BF-5F6A116F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C34B002-6F0F-E2A9-5A8D-35E8245D38CC}"/>
              </a:ext>
            </a:extLst>
          </p:cNvPr>
          <p:cNvSpPr txBox="1"/>
          <p:nvPr/>
        </p:nvSpPr>
        <p:spPr>
          <a:xfrm>
            <a:off x="3581467" y="558802"/>
            <a:ext cx="502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Why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brains</a:t>
            </a:r>
            <a:r>
              <a:rPr lang="de-DE" dirty="0"/>
              <a:t> so </a:t>
            </a:r>
            <a:r>
              <a:rPr lang="de-DE" dirty="0" err="1"/>
              <a:t>good</a:t>
            </a:r>
            <a:r>
              <a:rPr lang="de-DE" dirty="0"/>
              <a:t> at flexible </a:t>
            </a:r>
            <a:r>
              <a:rPr lang="de-DE" dirty="0" err="1"/>
              <a:t>generalization</a:t>
            </a:r>
            <a:r>
              <a:rPr lang="de-DE" dirty="0"/>
              <a:t>?</a:t>
            </a:r>
          </a:p>
          <a:p>
            <a:endParaRPr lang="de-DE" dirty="0"/>
          </a:p>
          <a:p>
            <a:r>
              <a:rPr lang="de-DE" dirty="0"/>
              <a:t>Why </a:t>
            </a:r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?</a:t>
            </a:r>
          </a:p>
          <a:p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D02961B-6FF1-0FC0-28E9-371B87139242}"/>
              </a:ext>
            </a:extLst>
          </p:cNvPr>
          <p:cNvSpPr txBox="1"/>
          <p:nvPr/>
        </p:nvSpPr>
        <p:spPr>
          <a:xfrm>
            <a:off x="781050" y="2249269"/>
            <a:ext cx="76390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Recent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on </a:t>
            </a:r>
            <a:r>
              <a:rPr lang="de-DE" dirty="0" err="1"/>
              <a:t>connectome</a:t>
            </a:r>
            <a:r>
              <a:rPr lang="de-DE" dirty="0"/>
              <a:t> </a:t>
            </a:r>
            <a:r>
              <a:rPr lang="de-DE" dirty="0" err="1"/>
              <a:t>modelling</a:t>
            </a:r>
            <a:r>
              <a:rPr lang="de-DE" dirty="0"/>
              <a:t> and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endParaRPr lang="de-DE" dirty="0"/>
          </a:p>
          <a:p>
            <a:r>
              <a:rPr lang="de-DE" dirty="0"/>
              <a:t>E.g.</a:t>
            </a:r>
          </a:p>
          <a:p>
            <a:r>
              <a:rPr lang="en-US" sz="1050" dirty="0"/>
              <a:t>Zhao, M., Wang, N., Jiang, X. </a:t>
            </a:r>
            <a:r>
              <a:rPr lang="en-US" sz="1050" i="1" dirty="0"/>
              <a:t>et al.</a:t>
            </a:r>
            <a:r>
              <a:rPr lang="en-US" sz="1050" dirty="0"/>
              <a:t> An integrative data-driven model simulating </a:t>
            </a:r>
            <a:r>
              <a:rPr lang="en-US" sz="1050" i="1" dirty="0"/>
              <a:t>C. elegans</a:t>
            </a:r>
            <a:r>
              <a:rPr lang="en-US" sz="1050" dirty="0"/>
              <a:t> brain, body and environment interactions. </a:t>
            </a:r>
            <a:r>
              <a:rPr lang="en-US" sz="1050" i="1" dirty="0"/>
              <a:t>Nat </a:t>
            </a:r>
            <a:r>
              <a:rPr lang="en-US" sz="1050" i="1" dirty="0" err="1"/>
              <a:t>Comput</a:t>
            </a:r>
            <a:r>
              <a:rPr lang="en-US" sz="1050" i="1" dirty="0"/>
              <a:t> Sci</a:t>
            </a:r>
            <a:r>
              <a:rPr lang="en-US" sz="1050" dirty="0"/>
              <a:t> </a:t>
            </a:r>
            <a:r>
              <a:rPr lang="en-US" sz="1050" b="1" dirty="0"/>
              <a:t>4</a:t>
            </a:r>
            <a:r>
              <a:rPr lang="en-US" sz="1050" dirty="0"/>
              <a:t>, 978–990 (2024). https://doi.org/10.1038/s43588-024-00738-w</a:t>
            </a:r>
            <a:endParaRPr lang="de-DE" sz="1050" dirty="0"/>
          </a:p>
        </p:txBody>
      </p:sp>
      <p:pic>
        <p:nvPicPr>
          <p:cNvPr id="1026" name="Picture 2" descr="An integrative data-driven model simulating C. elegans brain ...">
            <a:extLst>
              <a:ext uri="{FF2B5EF4-FFF2-40B4-BE49-F238E27FC236}">
                <a16:creationId xmlns:a16="http://schemas.microsoft.com/office/drawing/2014/main" id="{E3AAAB6F-CFA3-5ECB-AF23-A96FEC7A6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989" y="2044331"/>
            <a:ext cx="3040062" cy="2769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59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D5C2-FCA0-7E11-E02C-FD749F99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57B6DFA-5D8E-D159-4F36-AD309A0ED0A6}"/>
              </a:ext>
            </a:extLst>
          </p:cNvPr>
          <p:cNvSpPr txBox="1"/>
          <p:nvPr/>
        </p:nvSpPr>
        <p:spPr>
          <a:xfrm>
            <a:off x="3581467" y="558802"/>
            <a:ext cx="502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Why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brains</a:t>
            </a:r>
            <a:r>
              <a:rPr lang="de-DE" dirty="0"/>
              <a:t> so </a:t>
            </a:r>
            <a:r>
              <a:rPr lang="de-DE" dirty="0" err="1"/>
              <a:t>good</a:t>
            </a:r>
            <a:r>
              <a:rPr lang="de-DE" dirty="0"/>
              <a:t> at flexible </a:t>
            </a:r>
            <a:r>
              <a:rPr lang="de-DE" dirty="0" err="1"/>
              <a:t>generalization</a:t>
            </a:r>
            <a:r>
              <a:rPr lang="de-DE" dirty="0"/>
              <a:t>?</a:t>
            </a:r>
          </a:p>
          <a:p>
            <a:endParaRPr lang="de-DE" dirty="0"/>
          </a:p>
          <a:p>
            <a:r>
              <a:rPr lang="de-DE" dirty="0"/>
              <a:t>Why </a:t>
            </a:r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?</a:t>
            </a:r>
          </a:p>
          <a:p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1560742-BD6F-4C8E-1E09-0823C2FFD5B1}"/>
              </a:ext>
            </a:extLst>
          </p:cNvPr>
          <p:cNvSpPr txBox="1"/>
          <p:nvPr/>
        </p:nvSpPr>
        <p:spPr>
          <a:xfrm>
            <a:off x="8832850" y="1620619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Top-down </a:t>
            </a:r>
            <a:r>
              <a:rPr lang="de-DE" dirty="0" err="1"/>
              <a:t>approach</a:t>
            </a:r>
            <a:endParaRPr lang="de-DE" dirty="0"/>
          </a:p>
        </p:txBody>
      </p:sp>
      <p:pic>
        <p:nvPicPr>
          <p:cNvPr id="1026" name="Picture 2" descr="An integrative data-driven model simulating C. elegans brain ...">
            <a:extLst>
              <a:ext uri="{FF2B5EF4-FFF2-40B4-BE49-F238E27FC236}">
                <a16:creationId xmlns:a16="http://schemas.microsoft.com/office/drawing/2014/main" id="{F738C034-5C69-0021-6CC2-AAE3E8FC0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68802" r="53264" b="17211"/>
          <a:stretch>
            <a:fillRect/>
          </a:stretch>
        </p:blipFill>
        <p:spPr bwMode="auto">
          <a:xfrm>
            <a:off x="9264650" y="2055594"/>
            <a:ext cx="1244600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feil: nach unten 2">
            <a:extLst>
              <a:ext uri="{FF2B5EF4-FFF2-40B4-BE49-F238E27FC236}">
                <a16:creationId xmlns:a16="http://schemas.microsoft.com/office/drawing/2014/main" id="{D4376827-1986-BEC5-C53E-1795CEDDFB02}"/>
              </a:ext>
            </a:extLst>
          </p:cNvPr>
          <p:cNvSpPr/>
          <p:nvPr/>
        </p:nvSpPr>
        <p:spPr>
          <a:xfrm>
            <a:off x="9747250" y="2508250"/>
            <a:ext cx="349250" cy="603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C1B77C3-F212-28B9-53E0-E72EF8C85E59}"/>
              </a:ext>
            </a:extLst>
          </p:cNvPr>
          <p:cNvSpPr txBox="1"/>
          <p:nvPr/>
        </p:nvSpPr>
        <p:spPr>
          <a:xfrm>
            <a:off x="8940800" y="6060999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Bottom-up</a:t>
            </a:r>
            <a:r>
              <a:rPr lang="de-DE" dirty="0"/>
              <a:t> </a:t>
            </a:r>
            <a:r>
              <a:rPr lang="de-DE" dirty="0" err="1"/>
              <a:t>approach</a:t>
            </a:r>
            <a:endParaRPr lang="de-DE" dirty="0"/>
          </a:p>
        </p:txBody>
      </p:sp>
      <p:sp>
        <p:nvSpPr>
          <p:cNvPr id="6" name="Pfeil: nach unten 5">
            <a:extLst>
              <a:ext uri="{FF2B5EF4-FFF2-40B4-BE49-F238E27FC236}">
                <a16:creationId xmlns:a16="http://schemas.microsoft.com/office/drawing/2014/main" id="{4406EBD8-0DBF-67FE-D907-CD1829780E94}"/>
              </a:ext>
            </a:extLst>
          </p:cNvPr>
          <p:cNvSpPr/>
          <p:nvPr/>
        </p:nvSpPr>
        <p:spPr>
          <a:xfrm rot="10800000">
            <a:off x="9791700" y="4415057"/>
            <a:ext cx="349250" cy="603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1D3448-D572-0487-CA0D-1438EEF093BD}"/>
              </a:ext>
            </a:extLst>
          </p:cNvPr>
          <p:cNvSpPr txBox="1"/>
          <p:nvPr/>
        </p:nvSpPr>
        <p:spPr>
          <a:xfrm>
            <a:off x="984251" y="2440545"/>
            <a:ext cx="484505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Recent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on CTRNNs &amp; minimal </a:t>
            </a:r>
            <a:r>
              <a:rPr lang="de-DE" dirty="0" err="1"/>
              <a:t>cognition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E.g.</a:t>
            </a:r>
            <a:br>
              <a:rPr lang="de-DE" dirty="0"/>
            </a:br>
            <a:r>
              <a:rPr lang="en-US" sz="1100" dirty="0"/>
              <a:t>Ji-An, L., Benna, M.K. &amp; Mattar, M.G. Discovering cognitive strategies with tiny recurrent neural networks. </a:t>
            </a:r>
            <a:r>
              <a:rPr lang="en-US" sz="1100" i="1" dirty="0"/>
              <a:t>Nature</a:t>
            </a:r>
            <a:r>
              <a:rPr lang="en-US" sz="1100" dirty="0"/>
              <a:t> </a:t>
            </a:r>
            <a:r>
              <a:rPr lang="en-US" sz="1100" b="1" dirty="0"/>
              <a:t>644</a:t>
            </a:r>
            <a:r>
              <a:rPr lang="en-US" sz="1100" dirty="0"/>
              <a:t>, 993–1001 (2025). https://doi.org/10.1038/s41586-025-09142-4</a:t>
            </a:r>
            <a:endParaRPr lang="de-DE" dirty="0"/>
          </a:p>
        </p:txBody>
      </p:sp>
      <p:pic>
        <p:nvPicPr>
          <p:cNvPr id="2050" name="Picture 2" descr="Fig. 1: Model overview and performance on animal tasks.">
            <a:extLst>
              <a:ext uri="{FF2B5EF4-FFF2-40B4-BE49-F238E27FC236}">
                <a16:creationId xmlns:a16="http://schemas.microsoft.com/office/drawing/2014/main" id="{5D49F99D-1303-8EE7-EB30-DA0BAF418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0" y="3987664"/>
            <a:ext cx="3238500" cy="232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ig. 1: Model overview and performance on animal tasks.">
            <a:extLst>
              <a:ext uri="{FF2B5EF4-FFF2-40B4-BE49-F238E27FC236}">
                <a16:creationId xmlns:a16="http://schemas.microsoft.com/office/drawing/2014/main" id="{61EBF8C4-8028-6011-E24C-3BEE4AFC44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90" t="2188" r="22451" b="71832"/>
          <a:stretch>
            <a:fillRect/>
          </a:stretch>
        </p:blipFill>
        <p:spPr bwMode="auto">
          <a:xfrm>
            <a:off x="9690102" y="5276060"/>
            <a:ext cx="552449" cy="60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B6AD87F-7014-AEA9-AD39-7805855F0A1F}"/>
              </a:ext>
            </a:extLst>
          </p:cNvPr>
          <p:cNvSpPr txBox="1"/>
          <p:nvPr/>
        </p:nvSpPr>
        <p:spPr>
          <a:xfrm>
            <a:off x="4456806" y="5648615"/>
            <a:ext cx="4667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i="1" dirty="0"/>
              <a:t>Minimal </a:t>
            </a:r>
            <a:r>
              <a:rPr lang="de-DE" sz="1200" i="1" dirty="0" err="1"/>
              <a:t>models</a:t>
            </a:r>
            <a:r>
              <a:rPr lang="de-DE" sz="1200" i="1" dirty="0"/>
              <a:t> </a:t>
            </a:r>
            <a:r>
              <a:rPr lang="de-DE" sz="1200" i="1" dirty="0" err="1"/>
              <a:t>have</a:t>
            </a:r>
            <a:r>
              <a:rPr lang="de-DE" sz="1200" i="1" dirty="0"/>
              <a:t> a </a:t>
            </a:r>
            <a:r>
              <a:rPr lang="de-DE" sz="1200" i="1" dirty="0" err="1"/>
              <a:t>long</a:t>
            </a:r>
            <a:r>
              <a:rPr lang="de-DE" sz="1200" i="1" dirty="0"/>
              <a:t> and </a:t>
            </a:r>
            <a:r>
              <a:rPr lang="de-DE" sz="1200" i="1" dirty="0" err="1"/>
              <a:t>productive</a:t>
            </a:r>
            <a:r>
              <a:rPr lang="de-DE" sz="1200" i="1" dirty="0"/>
              <a:t> </a:t>
            </a:r>
            <a:r>
              <a:rPr lang="de-DE" sz="1200" i="1" dirty="0" err="1"/>
              <a:t>history</a:t>
            </a:r>
            <a:r>
              <a:rPr lang="de-DE" sz="1200" i="1" dirty="0"/>
              <a:t> in </a:t>
            </a:r>
            <a:r>
              <a:rPr lang="de-DE" sz="1200" i="1" dirty="0" err="1"/>
              <a:t>neuroscience</a:t>
            </a:r>
            <a:r>
              <a:rPr lang="de-DE" sz="1200" i="1" dirty="0"/>
              <a:t>. </a:t>
            </a:r>
            <a:r>
              <a:rPr lang="de-DE" sz="1200" i="1" dirty="0" err="1"/>
              <a:t>we‘re</a:t>
            </a:r>
            <a:r>
              <a:rPr lang="de-DE" sz="1200" i="1" dirty="0"/>
              <a:t> </a:t>
            </a:r>
            <a:r>
              <a:rPr lang="de-DE" sz="1200" i="1" dirty="0" err="1"/>
              <a:t>applying</a:t>
            </a:r>
            <a:r>
              <a:rPr lang="de-DE" sz="1200" i="1" dirty="0"/>
              <a:t> </a:t>
            </a:r>
            <a:r>
              <a:rPr lang="de-DE" sz="1200" i="1" dirty="0" err="1"/>
              <a:t>that</a:t>
            </a:r>
            <a:r>
              <a:rPr lang="de-DE" sz="1200" i="1" dirty="0"/>
              <a:t> </a:t>
            </a:r>
            <a:r>
              <a:rPr lang="de-DE" sz="1200" i="1" dirty="0" err="1"/>
              <a:t>logic</a:t>
            </a:r>
            <a:r>
              <a:rPr lang="de-DE" sz="1200" i="1" dirty="0"/>
              <a:t> </a:t>
            </a:r>
            <a:r>
              <a:rPr lang="de-DE" sz="1200" i="1" dirty="0" err="1"/>
              <a:t>to</a:t>
            </a:r>
            <a:r>
              <a:rPr lang="de-DE" sz="1200" i="1" dirty="0"/>
              <a:t> </a:t>
            </a:r>
            <a:r>
              <a:rPr lang="de-DE" sz="1200" i="1" dirty="0" err="1"/>
              <a:t>the</a:t>
            </a:r>
            <a:r>
              <a:rPr lang="de-DE" sz="1200" i="1" dirty="0"/>
              <a:t> </a:t>
            </a:r>
            <a:r>
              <a:rPr lang="de-DE" sz="1200" i="1" dirty="0" err="1"/>
              <a:t>question</a:t>
            </a:r>
            <a:r>
              <a:rPr lang="de-DE" sz="1200" i="1" dirty="0"/>
              <a:t> </a:t>
            </a:r>
            <a:r>
              <a:rPr lang="de-DE" sz="1200" i="1" dirty="0" err="1"/>
              <a:t>of</a:t>
            </a:r>
            <a:r>
              <a:rPr lang="de-DE" sz="1200" i="1" dirty="0"/>
              <a:t> adaptive </a:t>
            </a:r>
            <a:r>
              <a:rPr lang="de-DE" sz="1200" i="1" dirty="0" err="1"/>
              <a:t>flexibility</a:t>
            </a:r>
            <a:r>
              <a:rPr lang="de-DE" sz="12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945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55FCAEC-34E8-53FB-8159-ED260B22F6F9}"/>
              </a:ext>
            </a:extLst>
          </p:cNvPr>
          <p:cNvSpPr txBox="1"/>
          <p:nvPr/>
        </p:nvSpPr>
        <p:spPr>
          <a:xfrm>
            <a:off x="781050" y="736600"/>
            <a:ext cx="10179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Selection</a:t>
            </a:r>
            <a:r>
              <a:rPr lang="de-DE" dirty="0"/>
              <a:t> and </a:t>
            </a:r>
            <a:r>
              <a:rPr lang="de-DE" dirty="0" err="1"/>
              <a:t>investigation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unsupervised</a:t>
            </a:r>
            <a:r>
              <a:rPr lang="de-DE" dirty="0"/>
              <a:t> adaptive </a:t>
            </a:r>
            <a:r>
              <a:rPr lang="de-DE" dirty="0" err="1"/>
              <a:t>learners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minmal</a:t>
            </a:r>
            <a:r>
              <a:rPr lang="de-DE" dirty="0"/>
              <a:t> neuronal </a:t>
            </a:r>
            <a:r>
              <a:rPr lang="de-DE" dirty="0" err="1"/>
              <a:t>architecture</a:t>
            </a:r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Minimum viable </a:t>
            </a:r>
            <a:r>
              <a:rPr lang="de-DE" dirty="0" err="1">
                <a:sym typeface="Wingdings" panose="05000000000000000000" pitchFamily="2" charset="2"/>
              </a:rPr>
              <a:t>brain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828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93349-700C-B4EB-D8A6-634D63E8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90181E4-1F3B-1993-1CDC-7655B8C3F8A2}"/>
              </a:ext>
            </a:extLst>
          </p:cNvPr>
          <p:cNvSpPr txBox="1"/>
          <p:nvPr/>
        </p:nvSpPr>
        <p:spPr>
          <a:xfrm>
            <a:off x="781050" y="736600"/>
            <a:ext cx="10179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Selection</a:t>
            </a:r>
            <a:r>
              <a:rPr lang="de-DE" dirty="0"/>
              <a:t> and </a:t>
            </a:r>
            <a:r>
              <a:rPr lang="de-DE" dirty="0" err="1"/>
              <a:t>investigation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unsupervised</a:t>
            </a:r>
            <a:r>
              <a:rPr lang="de-DE" dirty="0"/>
              <a:t> adaptive </a:t>
            </a:r>
            <a:r>
              <a:rPr lang="de-DE" dirty="0" err="1"/>
              <a:t>learners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b="1" dirty="0" err="1"/>
              <a:t>minmal</a:t>
            </a:r>
            <a:r>
              <a:rPr lang="de-DE" b="1" dirty="0"/>
              <a:t> neuronal </a:t>
            </a:r>
            <a:r>
              <a:rPr lang="de-DE" b="1" dirty="0" err="1"/>
              <a:t>architecture</a:t>
            </a:r>
            <a:endParaRPr lang="de-DE" b="1" dirty="0"/>
          </a:p>
          <a:p>
            <a:pPr algn="ctr"/>
            <a:endParaRPr lang="de-DE" dirty="0"/>
          </a:p>
          <a:p>
            <a:pPr algn="ctr"/>
            <a:r>
              <a:rPr lang="de-DE" dirty="0"/>
              <a:t> 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228D7A65-B891-499C-8C9D-FDACB41353C1}"/>
              </a:ext>
            </a:extLst>
          </p:cNvPr>
          <p:cNvCxnSpPr/>
          <p:nvPr/>
        </p:nvCxnSpPr>
        <p:spPr>
          <a:xfrm flipH="1">
            <a:off x="7575550" y="1104900"/>
            <a:ext cx="1174750" cy="1162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7F00B778-41BF-13C7-4B7A-9B13B4589133}"/>
              </a:ext>
            </a:extLst>
          </p:cNvPr>
          <p:cNvSpPr txBox="1"/>
          <p:nvPr/>
        </p:nvSpPr>
        <p:spPr>
          <a:xfrm>
            <a:off x="2413002" y="2527302"/>
            <a:ext cx="7980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~ 15 </a:t>
            </a:r>
            <a:r>
              <a:rPr lang="de-DE" dirty="0" err="1"/>
              <a:t>neurons</a:t>
            </a:r>
            <a:endParaRPr lang="de-DE" dirty="0"/>
          </a:p>
          <a:p>
            <a:r>
              <a:rPr lang="de-DE" dirty="0"/>
              <a:t>Details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an </a:t>
            </a:r>
            <a:r>
              <a:rPr lang="de-DE" dirty="0" err="1"/>
              <a:t>implementation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citations</a:t>
            </a:r>
            <a:r>
              <a:rPr lang="de-DE" dirty="0"/>
              <a:t> (e.g. </a:t>
            </a:r>
            <a:r>
              <a:rPr lang="de-DE" dirty="0" err="1"/>
              <a:t>Candadai</a:t>
            </a:r>
            <a:r>
              <a:rPr lang="de-DE" dirty="0"/>
              <a:t> et. al)</a:t>
            </a:r>
          </a:p>
          <a:p>
            <a:r>
              <a:rPr lang="de-DE" dirty="0"/>
              <a:t>Details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wiring-based</a:t>
            </a:r>
            <a:r>
              <a:rPr lang="de-DE" dirty="0"/>
              <a:t> </a:t>
            </a:r>
            <a:r>
              <a:rPr lang="de-DE" dirty="0" err="1"/>
              <a:t>plasticity</a:t>
            </a:r>
            <a:r>
              <a:rPr lang="de-DE" dirty="0"/>
              <a:t> 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weight</a:t>
            </a:r>
            <a:r>
              <a:rPr lang="de-DE" dirty="0"/>
              <a:t> update </a:t>
            </a:r>
            <a:r>
              <a:rPr lang="de-DE" dirty="0" err="1"/>
              <a:t>formula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37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55203-822B-A659-E6D8-443300CB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7532651-DF74-743E-F7B0-402E4B5AC864}"/>
              </a:ext>
            </a:extLst>
          </p:cNvPr>
          <p:cNvSpPr txBox="1"/>
          <p:nvPr/>
        </p:nvSpPr>
        <p:spPr>
          <a:xfrm>
            <a:off x="781050" y="736600"/>
            <a:ext cx="10179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Selection</a:t>
            </a:r>
            <a:r>
              <a:rPr lang="de-DE" dirty="0"/>
              <a:t> and </a:t>
            </a:r>
            <a:r>
              <a:rPr lang="de-DE" dirty="0" err="1"/>
              <a:t>investigation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b="1" dirty="0" err="1"/>
              <a:t>unsupervised</a:t>
            </a:r>
            <a:r>
              <a:rPr lang="de-DE" b="1" dirty="0"/>
              <a:t> adaptive </a:t>
            </a:r>
            <a:r>
              <a:rPr lang="de-DE" b="1" dirty="0" err="1"/>
              <a:t>learners</a:t>
            </a:r>
            <a:r>
              <a:rPr lang="de-DE" b="1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minmal</a:t>
            </a:r>
            <a:r>
              <a:rPr lang="de-DE" dirty="0"/>
              <a:t> neuronal </a:t>
            </a:r>
            <a:r>
              <a:rPr lang="de-DE" dirty="0" err="1"/>
              <a:t>architecture</a:t>
            </a:r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 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33085005-3F81-65FE-9BA8-0D0509C419B3}"/>
              </a:ext>
            </a:extLst>
          </p:cNvPr>
          <p:cNvCxnSpPr>
            <a:cxnSpLocks/>
          </p:cNvCxnSpPr>
          <p:nvPr/>
        </p:nvCxnSpPr>
        <p:spPr>
          <a:xfrm>
            <a:off x="5753100" y="1078907"/>
            <a:ext cx="0" cy="1448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941C30A-4E69-2636-E2E2-82F70938965D}"/>
              </a:ext>
            </a:extLst>
          </p:cNvPr>
          <p:cNvSpPr txBox="1"/>
          <p:nvPr/>
        </p:nvSpPr>
        <p:spPr>
          <a:xfrm>
            <a:off x="1880221" y="3092450"/>
            <a:ext cx="486581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foraging</a:t>
            </a:r>
            <a:r>
              <a:rPr lang="de-DE" dirty="0"/>
              <a:t> </a:t>
            </a:r>
            <a:r>
              <a:rPr lang="de-DE" dirty="0" err="1"/>
              <a:t>taks</a:t>
            </a:r>
            <a:r>
              <a:rPr lang="de-DE" dirty="0"/>
              <a:t> (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citations</a:t>
            </a:r>
            <a:r>
              <a:rPr lang="de-DE" dirty="0"/>
              <a:t>)</a:t>
            </a:r>
          </a:p>
          <a:p>
            <a:r>
              <a:rPr lang="de-DE" dirty="0" err="1"/>
              <a:t>Unsupervised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</a:p>
          <a:p>
            <a:r>
              <a:rPr lang="de-DE" dirty="0" err="1"/>
              <a:t>Evolutionary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(</a:t>
            </a:r>
            <a:r>
              <a:rPr lang="de-DE" dirty="0" err="1"/>
              <a:t>citation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/>
              <a:t>Two-level non-</a:t>
            </a:r>
            <a:r>
              <a:rPr lang="de-DE" dirty="0" err="1"/>
              <a:t>stationary</a:t>
            </a:r>
            <a:r>
              <a:rPr lang="de-DE" dirty="0"/>
              <a:t> EA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run</a:t>
            </a:r>
            <a:r>
              <a:rPr lang="de-DE" dirty="0">
                <a:sym typeface="Wingdings" panose="05000000000000000000" pitchFamily="2" charset="2"/>
              </a:rPr>
              <a:t>-time </a:t>
            </a:r>
            <a:r>
              <a:rPr lang="de-DE" dirty="0" err="1">
                <a:sym typeface="Wingdings" panose="05000000000000000000" pitchFamily="2" charset="2"/>
              </a:rPr>
              <a:t>adaptability</a:t>
            </a:r>
            <a:r>
              <a:rPr lang="de-DE" dirty="0">
                <a:sym typeface="Wingdings" panose="05000000000000000000" pitchFamily="2" charset="2"/>
              </a:rPr>
              <a:t> &amp; </a:t>
            </a:r>
            <a:r>
              <a:rPr lang="de-DE" dirty="0" err="1">
                <a:sym typeface="Wingdings" panose="05000000000000000000" pitchFamily="2" charset="2"/>
              </a:rPr>
              <a:t>plasticity</a:t>
            </a:r>
            <a:endParaRPr lang="de-DE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Ablation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prohibit</a:t>
            </a:r>
            <a:r>
              <a:rPr lang="de-DE" dirty="0">
                <a:sym typeface="Wingdings" panose="05000000000000000000" pitchFamily="2" charset="2"/>
              </a:rPr>
              <a:t> multiple </a:t>
            </a:r>
            <a:r>
              <a:rPr lang="de-DE" dirty="0" err="1">
                <a:sym typeface="Wingdings" panose="05000000000000000000" pitchFamily="2" charset="2"/>
              </a:rPr>
              <a:t>static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strategies</a:t>
            </a:r>
            <a:endParaRPr lang="de-DE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Testing</a:t>
            </a:r>
            <a:r>
              <a:rPr lang="de-DE" dirty="0">
                <a:sym typeface="Wingdings" panose="05000000000000000000" pitchFamily="2" charset="2"/>
              </a:rPr>
              <a:t> on </a:t>
            </a:r>
            <a:r>
              <a:rPr lang="de-DE" dirty="0" err="1">
                <a:sym typeface="Wingdings" panose="05000000000000000000" pitchFamily="2" charset="2"/>
              </a:rPr>
              <a:t>previously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unseen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tasks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457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338866F-1B0D-C6E9-000E-F2C93E258AEE}"/>
              </a:ext>
            </a:extLst>
          </p:cNvPr>
          <p:cNvSpPr txBox="1"/>
          <p:nvPr/>
        </p:nvSpPr>
        <p:spPr>
          <a:xfrm>
            <a:off x="4354048" y="552450"/>
            <a:ext cx="5643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Current </a:t>
            </a:r>
            <a:r>
              <a:rPr lang="de-DE" dirty="0" err="1"/>
              <a:t>Results</a:t>
            </a:r>
            <a:r>
              <a:rPr lang="de-DE" dirty="0"/>
              <a:t> – </a:t>
            </a:r>
            <a:r>
              <a:rPr lang="de-DE" dirty="0" err="1"/>
              <a:t>Unsupervised</a:t>
            </a:r>
            <a:r>
              <a:rPr lang="de-DE" dirty="0"/>
              <a:t> </a:t>
            </a:r>
            <a:r>
              <a:rPr lang="de-DE" dirty="0" err="1"/>
              <a:t>leraning</a:t>
            </a:r>
            <a:r>
              <a:rPr lang="de-DE" dirty="0"/>
              <a:t> on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E6CACB6-FD47-4188-E3B9-82548044312F}"/>
              </a:ext>
            </a:extLst>
          </p:cNvPr>
          <p:cNvSpPr txBox="1"/>
          <p:nvPr/>
        </p:nvSpPr>
        <p:spPr>
          <a:xfrm>
            <a:off x="2362202" y="2717800"/>
            <a:ext cx="42966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Show EA </a:t>
            </a:r>
            <a:r>
              <a:rPr lang="de-DE" dirty="0" err="1"/>
              <a:t>results</a:t>
            </a:r>
            <a:r>
              <a:rPr lang="de-DE" dirty="0"/>
              <a:t>, </a:t>
            </a:r>
            <a:r>
              <a:rPr lang="de-DE" dirty="0" err="1"/>
              <a:t>wiring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lookup</a:t>
            </a:r>
            <a:r>
              <a:rPr lang="de-DE" dirty="0"/>
              <a:t> </a:t>
            </a:r>
            <a:r>
              <a:rPr lang="de-DE" dirty="0" err="1"/>
              <a:t>solution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EA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beats</a:t>
            </a:r>
            <a:r>
              <a:rPr lang="de-DE" dirty="0"/>
              <a:t> </a:t>
            </a:r>
            <a:r>
              <a:rPr lang="de-DE" dirty="0" err="1"/>
              <a:t>lookup</a:t>
            </a:r>
            <a:r>
              <a:rPr lang="de-DE" dirty="0"/>
              <a:t> – </a:t>
            </a:r>
            <a:r>
              <a:rPr lang="de-DE" dirty="0" err="1"/>
              <a:t>why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862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98806-010B-C150-EF54-E021DF146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2EC67F4-2EFC-1353-53A6-3D1EC34CED8B}"/>
              </a:ext>
            </a:extLst>
          </p:cNvPr>
          <p:cNvSpPr txBox="1"/>
          <p:nvPr/>
        </p:nvSpPr>
        <p:spPr>
          <a:xfrm>
            <a:off x="4354048" y="552450"/>
            <a:ext cx="5643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Current </a:t>
            </a:r>
            <a:r>
              <a:rPr lang="de-DE" dirty="0" err="1"/>
              <a:t>Results</a:t>
            </a:r>
            <a:r>
              <a:rPr lang="de-DE" dirty="0"/>
              <a:t> – </a:t>
            </a:r>
            <a:r>
              <a:rPr lang="de-DE" dirty="0" err="1"/>
              <a:t>Unsupervised</a:t>
            </a:r>
            <a:r>
              <a:rPr lang="de-DE" dirty="0"/>
              <a:t> </a:t>
            </a:r>
            <a:r>
              <a:rPr lang="de-DE" dirty="0" err="1"/>
              <a:t>leraning</a:t>
            </a:r>
            <a:r>
              <a:rPr lang="de-DE" dirty="0"/>
              <a:t> on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3E27FEC-CF18-B41E-767F-E067590DAD6A}"/>
              </a:ext>
            </a:extLst>
          </p:cNvPr>
          <p:cNvSpPr txBox="1"/>
          <p:nvPr/>
        </p:nvSpPr>
        <p:spPr>
          <a:xfrm>
            <a:off x="2362200" y="2717800"/>
            <a:ext cx="84619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Reason: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exhaustion</a:t>
            </a:r>
            <a:r>
              <a:rPr lang="de-DE" dirty="0"/>
              <a:t> – </a:t>
            </a:r>
            <a:r>
              <a:rPr lang="de-DE" dirty="0" err="1"/>
              <a:t>exploitation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 not optimal in </a:t>
            </a:r>
            <a:r>
              <a:rPr lang="de-DE" dirty="0" err="1"/>
              <a:t>lookup</a:t>
            </a:r>
            <a:r>
              <a:rPr lang="de-DE" dirty="0"/>
              <a:t> </a:t>
            </a:r>
            <a:r>
              <a:rPr lang="de-DE" dirty="0" err="1"/>
              <a:t>solution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Show </a:t>
            </a:r>
            <a:r>
              <a:rPr lang="de-DE" dirty="0" err="1"/>
              <a:t>how</a:t>
            </a:r>
            <a:r>
              <a:rPr lang="de-DE" dirty="0"/>
              <a:t> EA </a:t>
            </a:r>
            <a:r>
              <a:rPr lang="de-DE" dirty="0" err="1"/>
              <a:t>solutions</a:t>
            </a:r>
            <a:r>
              <a:rPr lang="de-DE" dirty="0"/>
              <a:t>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exploitation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 and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comparison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962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731082E-4466-5528-BC28-6E3503A92BB2}"/>
              </a:ext>
            </a:extLst>
          </p:cNvPr>
          <p:cNvSpPr txBox="1"/>
          <p:nvPr/>
        </p:nvSpPr>
        <p:spPr>
          <a:xfrm>
            <a:off x="5114643" y="4953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Outlook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CAD1419-0DA4-6952-9705-FC6DE9F77D12}"/>
              </a:ext>
            </a:extLst>
          </p:cNvPr>
          <p:cNvSpPr txBox="1"/>
          <p:nvPr/>
        </p:nvSpPr>
        <p:spPr>
          <a:xfrm>
            <a:off x="1587501" y="1435100"/>
            <a:ext cx="74405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Build</a:t>
            </a:r>
            <a:r>
              <a:rPr lang="de-DE" dirty="0"/>
              <a:t> minimal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adapt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never</a:t>
            </a:r>
            <a:r>
              <a:rPr lang="de-DE" dirty="0"/>
              <a:t> </a:t>
            </a:r>
            <a:r>
              <a:rPr lang="de-DE" dirty="0" err="1"/>
              <a:t>explicitly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on, and </a:t>
            </a:r>
            <a:r>
              <a:rPr lang="de-DE" dirty="0" err="1"/>
              <a:t>characterize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properties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possible.</a:t>
            </a:r>
          </a:p>
          <a:p>
            <a:endParaRPr lang="de-DE" dirty="0"/>
          </a:p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 err="1">
                <a:sym typeface="Wingdings" panose="05000000000000000000" pitchFamily="2" charset="2"/>
              </a:rPr>
              <a:t>Candidate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wiring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motifs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targeted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investigation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biological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circuits</a:t>
            </a:r>
            <a:r>
              <a:rPr lang="de-DE" dirty="0">
                <a:sym typeface="Wingdings" panose="05000000000000000000" pitchFamily="2" charset="2"/>
              </a:rPr>
              <a:t> / </a:t>
            </a:r>
            <a:r>
              <a:rPr lang="de-DE" dirty="0" err="1">
                <a:sym typeface="Wingdings" panose="05000000000000000000" pitchFamily="2" charset="2"/>
              </a:rPr>
              <a:t>networks</a:t>
            </a:r>
            <a:endParaRPr lang="de-DE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Model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interpretation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data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from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complex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circuits</a:t>
            </a:r>
            <a:r>
              <a:rPr lang="de-DE" dirty="0">
                <a:sym typeface="Wingdings" panose="05000000000000000000" pitchFamily="2" charset="2"/>
              </a:rPr>
              <a:t> and </a:t>
            </a:r>
            <a:r>
              <a:rPr lang="de-DE" dirty="0" err="1">
                <a:sym typeface="Wingdings" panose="05000000000000000000" pitchFamily="2" charset="2"/>
              </a:rPr>
              <a:t>brains</a:t>
            </a:r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9203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558</Words>
  <Application>Microsoft Office PowerPoint</Application>
  <PresentationFormat>Breitbild</PresentationFormat>
  <Paragraphs>74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Dahlmanns, Jana</dc:creator>
  <cp:lastModifiedBy>Dahlmanns, Jana</cp:lastModifiedBy>
  <cp:revision>10</cp:revision>
  <dcterms:created xsi:type="dcterms:W3CDTF">2026-05-06T11:26:19Z</dcterms:created>
  <dcterms:modified xsi:type="dcterms:W3CDTF">2026-05-21T11:41:25Z</dcterms:modified>
</cp:coreProperties>
</file>