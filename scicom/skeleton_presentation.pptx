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2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78" r:id="rId13"/>
    <p:sldId id="274" r:id="rId14"/>
    <p:sldId id="275" r:id="rId15"/>
    <p:sldId id="276" r:id="rId16"/>
    <p:sldId id="280" r:id="rId17"/>
    <p:sldId id="281" r:id="rId18"/>
    <p:sldId id="282" r:id="rId19"/>
    <p:sldId id="284" r:id="rId20"/>
    <p:sldId id="26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8FAFA"/>
    <a:srgbClr val="E3E9EA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>
        <p:scale>
          <a:sx n="125" d="100"/>
          <a:sy n="125" d="100"/>
        </p:scale>
        <p:origin x="2052" y="1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519987" y="249434"/>
              <a:ext cx="294322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73" y="957362"/>
            <a:ext cx="7500940" cy="4973908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948" y="957362"/>
            <a:ext cx="7513596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948" y="957362"/>
            <a:ext cx="7513596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948" y="957362"/>
            <a:ext cx="7513596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948" y="957362"/>
            <a:ext cx="7513596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61D35B51-BC7E-C69E-726A-D2E8E7263E08}"/>
              </a:ext>
            </a:extLst>
          </p:cNvPr>
          <p:cNvGrpSpPr/>
          <p:nvPr/>
        </p:nvGrpSpPr>
        <p:grpSpPr>
          <a:xfrm>
            <a:off x="4195989" y="735357"/>
            <a:ext cx="10203543" cy="6057826"/>
            <a:chOff x="4195989" y="735357"/>
            <a:chExt cx="10203543" cy="6057826"/>
          </a:xfrm>
        </p:grpSpPr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39415EE7-D00F-C603-EEA2-139BA96482FE}"/>
                </a:ext>
              </a:extLst>
            </p:cNvPr>
            <p:cNvSpPr txBox="1"/>
            <p:nvPr/>
          </p:nvSpPr>
          <p:spPr>
            <a:xfrm>
              <a:off x="4195989" y="5605807"/>
              <a:ext cx="10203543" cy="11873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288000">
                <a:lnSpc>
                  <a:spcPct val="115000"/>
                </a:lnSpc>
                <a:spcAft>
                  <a:spcPts val="1000"/>
                </a:spcAft>
                <a:buNone/>
              </a:pPr>
              <a:r>
                <a:rPr lang="en-US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Kruskal-Wallis: p &lt;&lt; 0.01; </a:t>
              </a:r>
              <a:r>
                <a:rPr lang="el-GR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ε</a:t>
              </a:r>
              <a:r>
                <a:rPr lang="de-DE" sz="800" baseline="300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2</a:t>
              </a:r>
              <a:r>
                <a:rPr lang="de-DE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 = 0.4 (large </a:t>
              </a:r>
              <a:r>
                <a:rPr lang="de-DE" sz="800" dirty="0" err="1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effect</a:t>
              </a:r>
              <a:r>
                <a:rPr lang="de-DE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 </a:t>
              </a:r>
              <a:r>
                <a:rPr lang="de-DE" sz="800" dirty="0" err="1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size</a:t>
              </a:r>
              <a:r>
                <a:rPr lang="de-DE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)</a:t>
              </a:r>
              <a:endPara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endParaRPr>
            </a:p>
            <a:p>
              <a:pPr defTabSz="288000">
                <a:lnSpc>
                  <a:spcPct val="115000"/>
                </a:lnSpc>
                <a:spcAft>
                  <a:spcPts val="1000"/>
                </a:spcAft>
                <a:buNone/>
              </a:pPr>
              <a: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MWU + Holm-Bonferroni: </a:t>
              </a:r>
              <a:b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</a:br>
              <a: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Hard-Coded vs Random:	p &lt;&lt; 0.01;	r = -0.87 (large effect size)</a:t>
              </a:r>
              <a:b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</a:br>
              <a: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EA vs Random:			p &lt;&lt; 0.01; 	r = -0.97 (large effect size)</a:t>
              </a:r>
              <a:b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</a:br>
              <a:r>
                <a:rPr lang="en-US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EA vs Hard-Coded</a:t>
              </a:r>
              <a: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:		</a:t>
              </a:r>
              <a:r>
                <a:rPr lang="en-US" sz="8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p = 9*10</a:t>
              </a:r>
              <a:r>
                <a:rPr lang="en-US" sz="800" baseline="30000" dirty="0">
                  <a:effectLst/>
                  <a:ea typeface="MS Mincho" panose="02020609040205080304" pitchFamily="49" charset="-128"/>
                  <a:cs typeface="Times New Roman" panose="02020603050405020304" pitchFamily="18" charset="0"/>
                </a:rPr>
                <a:t>-</a:t>
              </a:r>
              <a:r>
                <a:rPr lang="en-US" sz="800" baseline="300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90</a:t>
              </a:r>
              <a:r>
                <a:rPr lang="en-US" sz="800" dirty="0">
                  <a:ea typeface="MS Mincho" panose="02020609040205080304" pitchFamily="49" charset="-128"/>
                  <a:cs typeface="Times New Roman" panose="02020603050405020304" pitchFamily="18" charset="0"/>
                </a:rPr>
                <a:t>;	r = -0.7 (large effect size)</a:t>
              </a:r>
              <a:endPara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endParaRPr>
            </a:p>
            <a:p>
              <a:pPr>
                <a:lnSpc>
                  <a:spcPct val="115000"/>
                </a:lnSpc>
                <a:spcAft>
                  <a:spcPts val="1000"/>
                </a:spcAft>
                <a:buNone/>
              </a:pPr>
              <a:endPara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F204B855-5563-7A74-7C69-6AE301321926}"/>
                </a:ext>
              </a:extLst>
            </p:cNvPr>
            <p:cNvGrpSpPr/>
            <p:nvPr/>
          </p:nvGrpSpPr>
          <p:grpSpPr>
            <a:xfrm>
              <a:off x="4195989" y="735357"/>
              <a:ext cx="6957786" cy="4870450"/>
              <a:chOff x="4195989" y="735357"/>
              <a:chExt cx="6957786" cy="4870450"/>
            </a:xfrm>
          </p:grpSpPr>
          <p:pic>
            <p:nvPicPr>
              <p:cNvPr id="25" name="Grafik 24">
                <a:extLst>
                  <a:ext uri="{FF2B5EF4-FFF2-40B4-BE49-F238E27FC236}">
                    <a16:creationId xmlns:a16="http://schemas.microsoft.com/office/drawing/2014/main" id="{A16FEB82-BC73-606C-8212-BB85B7519B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95989" y="735357"/>
                <a:ext cx="6957786" cy="4870450"/>
              </a:xfrm>
              <a:prstGeom prst="rect">
                <a:avLst/>
              </a:prstGeom>
            </p:spPr>
          </p:pic>
          <p:grpSp>
            <p:nvGrpSpPr>
              <p:cNvPr id="40" name="Gruppieren 39">
                <a:extLst>
                  <a:ext uri="{FF2B5EF4-FFF2-40B4-BE49-F238E27FC236}">
                    <a16:creationId xmlns:a16="http://schemas.microsoft.com/office/drawing/2014/main" id="{6F99784B-DEAC-D516-FD5C-D2F68B99A8D7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429366"/>
                <a:chOff x="5795963" y="1196059"/>
                <a:chExt cx="4205287" cy="429366"/>
              </a:xfrm>
            </p:grpSpPr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928CD72C-2642-FB87-37C5-11001206F7B3}"/>
                    </a:ext>
                  </a:extLst>
                </p:cNvPr>
                <p:cNvGrpSpPr/>
                <p:nvPr/>
              </p:nvGrpSpPr>
              <p:grpSpPr>
                <a:xfrm>
                  <a:off x="5795963" y="1196059"/>
                  <a:ext cx="4205287" cy="153888"/>
                  <a:chOff x="5795963" y="1196059"/>
                  <a:chExt cx="4205287" cy="153888"/>
                </a:xfrm>
              </p:grpSpPr>
              <p:cxnSp>
                <p:nvCxnSpPr>
                  <p:cNvPr id="28" name="Gerader Verbinder 27">
                    <a:extLst>
                      <a:ext uri="{FF2B5EF4-FFF2-40B4-BE49-F238E27FC236}">
                        <a16:creationId xmlns:a16="http://schemas.microsoft.com/office/drawing/2014/main" id="{33F3B53C-D96D-7C07-B258-EC028CF36C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95963" y="1295998"/>
                    <a:ext cx="4205287" cy="0"/>
                  </a:xfrm>
                  <a:prstGeom prst="line">
                    <a:avLst/>
                  </a:prstGeom>
                  <a:ln w="9525">
                    <a:solidFill>
                      <a:schemeClr val="tx1"/>
                    </a:solidFill>
                    <a:headEnd type="diamond" w="sm" len="sm"/>
                    <a:tailEnd type="diamond" w="sm" len="sm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BFD885DD-9D36-4AE2-BE1F-226E80B6FF12}"/>
                      </a:ext>
                    </a:extLst>
                  </p:cNvPr>
                  <p:cNvSpPr txBox="1"/>
                  <p:nvPr/>
                </p:nvSpPr>
                <p:spPr>
                  <a:xfrm>
                    <a:off x="7770366" y="1196059"/>
                    <a:ext cx="256480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r>
                      <a:rPr lang="de-DE" sz="1000" dirty="0">
                        <a:latin typeface="+mj-lt"/>
                        <a:ea typeface="Cormorant Garamond" pitchFamily="2" charset="0"/>
                        <a:cs typeface="Cormorant Garamond" pitchFamily="2" charset="0"/>
                      </a:rPr>
                      <a:t>****</a:t>
                    </a:r>
                  </a:p>
                </p:txBody>
              </p:sp>
            </p:grpSp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40A8EA23-B109-136D-9368-BB6AE23A6140}"/>
                    </a:ext>
                  </a:extLst>
                </p:cNvPr>
                <p:cNvGrpSpPr/>
                <p:nvPr/>
              </p:nvGrpSpPr>
              <p:grpSpPr>
                <a:xfrm>
                  <a:off x="5795963" y="1471537"/>
                  <a:ext cx="2095500" cy="153888"/>
                  <a:chOff x="5795963" y="1471537"/>
                  <a:chExt cx="2095500" cy="153888"/>
                </a:xfrm>
              </p:grpSpPr>
              <p:cxnSp>
                <p:nvCxnSpPr>
                  <p:cNvPr id="27" name="Gerader Verbinder 26">
                    <a:extLst>
                      <a:ext uri="{FF2B5EF4-FFF2-40B4-BE49-F238E27FC236}">
                        <a16:creationId xmlns:a16="http://schemas.microsoft.com/office/drawing/2014/main" id="{16B4C276-179F-43B7-247E-E4F362A8E68C}"/>
                      </a:ext>
                    </a:extLst>
                  </p:cNvPr>
                  <p:cNvCxnSpPr/>
                  <p:nvPr/>
                </p:nvCxnSpPr>
                <p:spPr>
                  <a:xfrm>
                    <a:off x="5795963" y="1567797"/>
                    <a:ext cx="2095500" cy="0"/>
                  </a:xfrm>
                  <a:prstGeom prst="line">
                    <a:avLst/>
                  </a:prstGeom>
                  <a:ln w="9525">
                    <a:solidFill>
                      <a:schemeClr val="tx1"/>
                    </a:solidFill>
                    <a:headEnd type="diamond" w="sm" len="sm"/>
                    <a:tailEnd type="diamond" w="sm" len="sm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C218FAF5-7FBA-89F4-D1BB-A0AA365621B1}"/>
                      </a:ext>
                    </a:extLst>
                  </p:cNvPr>
                  <p:cNvSpPr txBox="1"/>
                  <p:nvPr/>
                </p:nvSpPr>
                <p:spPr>
                  <a:xfrm>
                    <a:off x="6715473" y="1471537"/>
                    <a:ext cx="256480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r>
                      <a:rPr lang="de-DE" sz="1000" dirty="0">
                        <a:latin typeface="+mj-lt"/>
                        <a:ea typeface="Cormorant Garamond" pitchFamily="2" charset="0"/>
                        <a:cs typeface="Cormorant Garamond" pitchFamily="2" charset="0"/>
                      </a:rPr>
                      <a:t>****</a:t>
                    </a:r>
                  </a:p>
                </p:txBody>
              </p:sp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0C164916-B0E8-1C90-62B6-FEAD759E7EEF}"/>
                    </a:ext>
                  </a:extLst>
                </p:cNvPr>
                <p:cNvGrpSpPr/>
                <p:nvPr/>
              </p:nvGrpSpPr>
              <p:grpSpPr>
                <a:xfrm>
                  <a:off x="7891463" y="1327944"/>
                  <a:ext cx="2109787" cy="153888"/>
                  <a:chOff x="7891463" y="1327944"/>
                  <a:chExt cx="2109787" cy="153888"/>
                </a:xfrm>
              </p:grpSpPr>
              <p:cxnSp>
                <p:nvCxnSpPr>
                  <p:cNvPr id="31" name="Gerader Verbinder 30">
                    <a:extLst>
                      <a:ext uri="{FF2B5EF4-FFF2-40B4-BE49-F238E27FC236}">
                        <a16:creationId xmlns:a16="http://schemas.microsoft.com/office/drawing/2014/main" id="{A56BB575-0721-5FCE-8A49-8359140275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91463" y="1432903"/>
                    <a:ext cx="2109787" cy="0"/>
                  </a:xfrm>
                  <a:prstGeom prst="line">
                    <a:avLst/>
                  </a:prstGeom>
                  <a:ln w="9525">
                    <a:solidFill>
                      <a:schemeClr val="tx1"/>
                    </a:solidFill>
                    <a:headEnd type="diamond" w="sm" len="sm"/>
                    <a:tailEnd type="diamond" w="sm" len="sm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1C59633D-AE3D-345A-EA3E-8EFBA03EDB18}"/>
                      </a:ext>
                    </a:extLst>
                  </p:cNvPr>
                  <p:cNvSpPr txBox="1"/>
                  <p:nvPr/>
                </p:nvSpPr>
                <p:spPr>
                  <a:xfrm>
                    <a:off x="8818116" y="1327944"/>
                    <a:ext cx="256480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r>
                      <a:rPr lang="de-DE" sz="1000" dirty="0">
                        <a:latin typeface="+mj-lt"/>
                        <a:ea typeface="Cormorant Garamond" pitchFamily="2" charset="0"/>
                        <a:cs typeface="Cormorant Garamond" pitchFamily="2" charset="0"/>
                      </a:rPr>
                      <a:t>****</a:t>
                    </a:r>
                  </a:p>
                </p:txBody>
              </p:sp>
            </p:grp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6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1224</Words>
  <Application>Microsoft Office PowerPoint</Application>
  <PresentationFormat>Breitbild</PresentationFormat>
  <Paragraphs>151</Paragraphs>
  <Slides>20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8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38</cp:revision>
  <dcterms:created xsi:type="dcterms:W3CDTF">2026-05-06T11:26:19Z</dcterms:created>
  <dcterms:modified xsi:type="dcterms:W3CDTF">2026-05-26T13:23:17Z</dcterms:modified>
</cp:coreProperties>
</file>