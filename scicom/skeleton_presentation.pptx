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75" d="100"/>
          <a:sy n="75" d="100"/>
        </p:scale>
        <p:origin x="1890" y="7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27E916-C75D-9C2B-6665-95E9CF2C87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36C911A-B715-559D-C127-965F783C80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5688E09-5377-230C-C6E3-EAD2820B9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3D88C20-1C3D-4330-0F42-728FE3559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F8C86E6-E0A8-492C-CE3A-D6075E891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57697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CB162A-CD58-DAFB-1805-A0F0EDC43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EC9CA43-25B9-6C39-459C-D1C161CD8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340DF17-C67E-F880-595E-8E613EC3A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E495E8-063A-E658-94D3-C04D49906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C0FAE0-3615-F942-0D58-6EB506921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7680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6667EE-9ABC-EEB9-E205-9F7BD080A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497200F-1969-E5E8-87B2-06C4AC365F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3A4C9C6-B43C-64C3-9FE6-323E23553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36E6D20-C15E-9A4B-E7C4-B48CA5649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CD58647-ED64-B26F-8FA9-258F0409B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5382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867456-CE41-7F1A-F976-585AEB959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09C2F1-2368-3FAE-949C-28AD90AC7F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CAA5B-5B72-8C19-14E0-829E3D2653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6DE57E-9AF3-1A7A-680D-54D58C141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08E8690-61EC-8FA1-3D58-6A43E638F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A39A715-AD94-4E37-2FB9-DD956B904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6043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2897A3-BBE2-0178-D3B6-A2F4470C08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9AFBFAD-CCD5-C466-C3C2-0778C021FC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8E4BB46-2A14-ED1E-FBAC-818FEAC423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259A10A-5871-6450-B1EA-D950DC23DD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1596505-DA20-DEDA-71C3-FDFF053047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F298891-3462-9432-D3A7-F7CED2C3C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F2AFBA9-7B01-47C9-9A16-B4E338599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FA5641-62D1-9FF5-689E-D559DA6EA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800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531508-165D-9017-7E5A-16ADD8006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7DCC3F3-597F-1CA5-C9DC-63DBBD159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B80327D-32D6-7007-E74E-13D3E17D8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085E929-7B40-CEB8-D14D-60BF3D170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39737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C90DB18-04BE-5056-4475-100035092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E078228-42F4-E236-61BB-4F693E8D9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F97A12-9A22-D2AC-2F64-31569A7F9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36313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1BB630-BF5A-9032-5984-1B2246D96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EB9898-4742-5563-88ED-EE8FB8A04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E0F5BA3-2937-EDF1-14B0-307ECFD64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B6C7E50-BAAE-7DD6-49AF-F78B764BE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AD678E0-68D3-2A8A-BDAB-F07709B6E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E423B8A-F9C1-1539-4183-E0480930D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7436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BD6DA6-511F-8F1A-9987-234F961B8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D718EE9-9344-AD32-876D-E325B6A167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7F6FFB3-C257-EDBB-E48C-6BCC52685E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BD67272-E47E-CE0A-55D0-7A50A72D4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C8FE082-EDE7-A7C7-E3C9-817E195FB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F85447-0B83-6F1A-B160-9B1D93F61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9029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22F862-EFDF-C5EB-166E-87EDE9615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3C4DDDA-7266-6231-D9F5-47D70A81AE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ABA2675-595F-92BD-894A-78AEE13FC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FF3026B-1179-3C9C-E9B8-0E2F737FC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7F486B-64FF-F3D3-EE4B-677591FC6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0693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5990D56-7320-25A8-9542-A6CED4BC99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DCFC3AF-E876-08C8-D39A-7A32A40B17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8D3FFA-B7A0-94FE-247D-FA698C0C7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33D-F09C-441E-936C-5A7061C2C138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3ECDCED-5AD4-6072-0AAB-158DD6BA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55A1D1-9CEF-4777-9589-A938C6651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5155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A1950D5-9FBE-8E49-A139-4078C1EF1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0AF363B-9155-F59F-39EE-90CB0BE51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F512EA-0863-63EE-2C4F-B04A2BC1F1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A0533D-F09C-441E-936C-5A7061C2C138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0DD8B73-9711-F3FF-2368-31865764F0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CDE3201-B355-7E23-5DC2-91F07C40C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1D04CD-A18E-4C48-A0D4-2F175BEDAC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17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unsplash.com/de/fotos/weisse-und-schwarze-kaffeemaschine-AjcABUQ7WuA?utm_source=unsplash&amp;utm_medium=referral&amp;utm_content=creditCopyText" TargetMode="External"/><Relationship Id="rId2" Type="http://schemas.openxmlformats.org/officeDocument/2006/relationships/hyperlink" Target="https://unsplash.com/de/@ronan18?utm_source=unsplash&amp;utm_medium=referral&amp;utm_content=creditCopyText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3B57590F-F699-4A16-8D69-2AAA7EEA52AF}"/>
              </a:ext>
            </a:extLst>
          </p:cNvPr>
          <p:cNvSpPr txBox="1"/>
          <p:nvPr/>
        </p:nvSpPr>
        <p:spPr>
          <a:xfrm>
            <a:off x="901700" y="2505670"/>
            <a:ext cx="101790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 err="1"/>
              <a:t>Selection</a:t>
            </a:r>
            <a:r>
              <a:rPr lang="de-DE" sz="2400" b="1" dirty="0"/>
              <a:t> and </a:t>
            </a:r>
            <a:r>
              <a:rPr lang="de-DE" sz="2400" b="1" dirty="0" err="1"/>
              <a:t>investigation</a:t>
            </a:r>
            <a:r>
              <a:rPr lang="de-DE" sz="2400" b="1" dirty="0"/>
              <a:t> </a:t>
            </a:r>
            <a:r>
              <a:rPr lang="de-DE" sz="2400" b="1" dirty="0" err="1"/>
              <a:t>of</a:t>
            </a:r>
            <a:r>
              <a:rPr lang="de-DE" sz="2400" b="1" dirty="0"/>
              <a:t> </a:t>
            </a:r>
            <a:r>
              <a:rPr lang="de-DE" sz="2400" b="1" dirty="0" err="1"/>
              <a:t>unsupervised</a:t>
            </a:r>
            <a:r>
              <a:rPr lang="de-DE" sz="2400" b="1" dirty="0"/>
              <a:t> adaptive </a:t>
            </a:r>
            <a:r>
              <a:rPr lang="de-DE" sz="2400" b="1" dirty="0" err="1"/>
              <a:t>learners</a:t>
            </a:r>
            <a:r>
              <a:rPr lang="de-DE" sz="2400" b="1" dirty="0"/>
              <a:t> </a:t>
            </a:r>
            <a:r>
              <a:rPr lang="de-DE" sz="2400" b="1" dirty="0" err="1"/>
              <a:t>with</a:t>
            </a:r>
            <a:r>
              <a:rPr lang="de-DE" sz="2400" b="1" dirty="0"/>
              <a:t> </a:t>
            </a:r>
            <a:r>
              <a:rPr lang="de-DE" sz="2400" b="1" dirty="0" err="1"/>
              <a:t>minmal</a:t>
            </a:r>
            <a:r>
              <a:rPr lang="de-DE" sz="2400" b="1" dirty="0"/>
              <a:t> neuronal </a:t>
            </a:r>
            <a:r>
              <a:rPr lang="de-DE" sz="2400" b="1" dirty="0" err="1"/>
              <a:t>architecture</a:t>
            </a:r>
            <a:endParaRPr lang="de-DE" sz="2400" b="1" dirty="0"/>
          </a:p>
          <a:p>
            <a:pPr algn="ctr"/>
            <a:endParaRPr lang="de-DE" sz="2400" b="1" dirty="0"/>
          </a:p>
        </p:txBody>
      </p:sp>
    </p:spTree>
    <p:extLst>
      <p:ext uri="{BB962C8B-B14F-4D97-AF65-F5344CB8AC3E}">
        <p14:creationId xmlns:p14="http://schemas.microsoft.com/office/powerpoint/2010/main" val="1079969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80C3C505-7C0F-E0E3-0170-0AC7FF6E1DA9}"/>
              </a:ext>
            </a:extLst>
          </p:cNvPr>
          <p:cNvSpPr txBox="1"/>
          <p:nvPr/>
        </p:nvSpPr>
        <p:spPr>
          <a:xfrm>
            <a:off x="955426" y="1325201"/>
            <a:ext cx="5140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1 - Who </a:t>
            </a:r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knows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coffee</a:t>
            </a:r>
            <a:r>
              <a:rPr lang="de-DE" dirty="0"/>
              <a:t> </a:t>
            </a:r>
            <a:r>
              <a:rPr lang="de-DE" dirty="0" err="1"/>
              <a:t>maker</a:t>
            </a:r>
            <a:r>
              <a:rPr lang="de-DE" dirty="0"/>
              <a:t>?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967ADF7-314F-D965-009A-9301567912C0}"/>
              </a:ext>
            </a:extLst>
          </p:cNvPr>
          <p:cNvSpPr txBox="1"/>
          <p:nvPr/>
        </p:nvSpPr>
        <p:spPr>
          <a:xfrm>
            <a:off x="9739265" y="6460577"/>
            <a:ext cx="229279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 err="1"/>
              <a:t>Photo</a:t>
            </a:r>
            <a:r>
              <a:rPr lang="de-DE" sz="1050" dirty="0"/>
              <a:t> </a:t>
            </a:r>
            <a:r>
              <a:rPr lang="de-DE" sz="1050" dirty="0" err="1"/>
              <a:t>by</a:t>
            </a:r>
            <a:r>
              <a:rPr lang="de-DE" sz="1050" dirty="0"/>
              <a:t> </a:t>
            </a:r>
            <a:r>
              <a:rPr lang="de-DE" sz="1050" dirty="0">
                <a:hlinkClick r:id="rId2"/>
              </a:rPr>
              <a:t>Ronan Furuta</a:t>
            </a:r>
            <a:r>
              <a:rPr lang="de-DE" sz="1050" dirty="0"/>
              <a:t> on </a:t>
            </a:r>
            <a:r>
              <a:rPr lang="de-DE" sz="1050" dirty="0" err="1">
                <a:hlinkClick r:id="rId3"/>
              </a:rPr>
              <a:t>Unsplash</a:t>
            </a:r>
            <a:r>
              <a:rPr lang="de-DE" sz="1050" dirty="0"/>
              <a:t> 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7473C84E-445B-BACD-6861-7F15FC4142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3596" y="962334"/>
            <a:ext cx="3530851" cy="470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0520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F54FBCC8-5E31-A187-52BC-B09F38AF0543}"/>
              </a:ext>
            </a:extLst>
          </p:cNvPr>
          <p:cNvSpPr txBox="1"/>
          <p:nvPr/>
        </p:nvSpPr>
        <p:spPr>
          <a:xfrm>
            <a:off x="1071548" y="900129"/>
            <a:ext cx="2952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 – </a:t>
            </a:r>
            <a:r>
              <a:rPr lang="de-DE" dirty="0" err="1"/>
              <a:t>Complete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sentence</a:t>
            </a:r>
            <a:r>
              <a:rPr lang="de-DE" dirty="0"/>
              <a:t>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C3071AE-6EDF-A2C9-A890-5A1575E675A5}"/>
              </a:ext>
            </a:extLst>
          </p:cNvPr>
          <p:cNvSpPr txBox="1"/>
          <p:nvPr/>
        </p:nvSpPr>
        <p:spPr>
          <a:xfrm>
            <a:off x="1301435" y="2802977"/>
            <a:ext cx="93907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b="1" dirty="0"/>
              <a:t>The </a:t>
            </a:r>
            <a:r>
              <a:rPr lang="de-DE" sz="2800" b="1" dirty="0" err="1"/>
              <a:t>weather</a:t>
            </a:r>
            <a:r>
              <a:rPr lang="de-DE" sz="2800" b="1" dirty="0"/>
              <a:t> outside </a:t>
            </a:r>
            <a:r>
              <a:rPr lang="de-DE" sz="2800" b="1" dirty="0" err="1"/>
              <a:t>is</a:t>
            </a:r>
            <a:r>
              <a:rPr lang="de-DE" sz="2800" b="1" dirty="0"/>
              <a:t> nice </a:t>
            </a:r>
            <a:r>
              <a:rPr lang="de-DE" sz="2800" b="1" dirty="0" err="1"/>
              <a:t>today</a:t>
            </a:r>
            <a:r>
              <a:rPr lang="de-DE" sz="2800" b="1" dirty="0"/>
              <a:t>, </a:t>
            </a:r>
            <a:r>
              <a:rPr lang="de-DE" sz="2800" b="1" dirty="0" err="1"/>
              <a:t>the</a:t>
            </a:r>
            <a:r>
              <a:rPr lang="de-DE" sz="2800" b="1" dirty="0"/>
              <a:t> </a:t>
            </a:r>
            <a:r>
              <a:rPr lang="de-DE" sz="2800" b="1" dirty="0" err="1"/>
              <a:t>sky</a:t>
            </a:r>
            <a:r>
              <a:rPr lang="de-DE" sz="2800" b="1" dirty="0"/>
              <a:t> </a:t>
            </a:r>
            <a:r>
              <a:rPr lang="de-DE" sz="2800" b="1" dirty="0" err="1"/>
              <a:t>is</a:t>
            </a:r>
            <a:r>
              <a:rPr lang="de-DE" sz="2800" b="1" dirty="0"/>
              <a:t> ________.</a:t>
            </a:r>
          </a:p>
        </p:txBody>
      </p:sp>
    </p:spTree>
    <p:extLst>
      <p:ext uri="{BB962C8B-B14F-4D97-AF65-F5344CB8AC3E}">
        <p14:creationId xmlns:p14="http://schemas.microsoft.com/office/powerpoint/2010/main" val="28611023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F0D8A66A-0DCA-A62C-88AB-60D786B4BD95}"/>
              </a:ext>
            </a:extLst>
          </p:cNvPr>
          <p:cNvSpPr txBox="1"/>
          <p:nvPr/>
        </p:nvSpPr>
        <p:spPr>
          <a:xfrm>
            <a:off x="548803" y="756279"/>
            <a:ext cx="4553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 – Find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shortest</a:t>
            </a:r>
            <a:r>
              <a:rPr lang="de-DE" dirty="0"/>
              <a:t> </a:t>
            </a:r>
            <a:r>
              <a:rPr lang="de-DE" dirty="0" err="1"/>
              <a:t>path</a:t>
            </a:r>
            <a:r>
              <a:rPr lang="de-DE" dirty="0"/>
              <a:t> 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maze</a:t>
            </a:r>
            <a:r>
              <a:rPr lang="de-DE" dirty="0"/>
              <a:t>.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9503983C-3D62-6428-B7F2-2A9BE9ADFD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3753" y="1437227"/>
            <a:ext cx="4664494" cy="4664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980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F4D7F688-F842-C95A-099E-C7B7A6510290}"/>
              </a:ext>
            </a:extLst>
          </p:cNvPr>
          <p:cNvSpPr txBox="1"/>
          <p:nvPr/>
        </p:nvSpPr>
        <p:spPr>
          <a:xfrm>
            <a:off x="3644271" y="248257"/>
            <a:ext cx="53170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 dirty="0"/>
              <a:t>Why </a:t>
            </a:r>
            <a:r>
              <a:rPr lang="de-DE" b="1" dirty="0" err="1"/>
              <a:t>are</a:t>
            </a:r>
            <a:r>
              <a:rPr lang="de-DE" b="1" dirty="0"/>
              <a:t> </a:t>
            </a:r>
            <a:r>
              <a:rPr lang="de-DE" b="1" dirty="0" err="1"/>
              <a:t>brains</a:t>
            </a:r>
            <a:r>
              <a:rPr lang="de-DE" b="1" dirty="0"/>
              <a:t> so </a:t>
            </a:r>
            <a:r>
              <a:rPr lang="de-DE" b="1" dirty="0" err="1"/>
              <a:t>good</a:t>
            </a:r>
            <a:r>
              <a:rPr lang="de-DE" b="1" dirty="0"/>
              <a:t> at flexible </a:t>
            </a:r>
            <a:r>
              <a:rPr lang="de-DE" b="1" dirty="0" err="1"/>
              <a:t>generalization</a:t>
            </a:r>
            <a:r>
              <a:rPr lang="de-DE" b="1" dirty="0"/>
              <a:t>?</a:t>
            </a:r>
          </a:p>
          <a:p>
            <a:pPr algn="ctr"/>
            <a:endParaRPr lang="de-DE" b="1" dirty="0"/>
          </a:p>
          <a:p>
            <a:pPr algn="ctr"/>
            <a:r>
              <a:rPr lang="de-DE" b="1" dirty="0"/>
              <a:t>Why </a:t>
            </a:r>
            <a:r>
              <a:rPr lang="de-DE" b="1" dirty="0" err="1"/>
              <a:t>can‘t</a:t>
            </a:r>
            <a:r>
              <a:rPr lang="de-DE" b="1" dirty="0"/>
              <a:t> </a:t>
            </a:r>
            <a:r>
              <a:rPr lang="de-DE" b="1" dirty="0" err="1"/>
              <a:t>we</a:t>
            </a:r>
            <a:r>
              <a:rPr lang="de-DE" b="1" dirty="0"/>
              <a:t> </a:t>
            </a:r>
            <a:r>
              <a:rPr lang="de-DE" b="1" dirty="0" err="1"/>
              <a:t>explain</a:t>
            </a:r>
            <a:r>
              <a:rPr lang="de-DE" b="1" dirty="0"/>
              <a:t> </a:t>
            </a:r>
            <a:r>
              <a:rPr lang="de-DE" b="1" dirty="0" err="1"/>
              <a:t>it</a:t>
            </a:r>
            <a:r>
              <a:rPr lang="de-DE" b="1" dirty="0"/>
              <a:t>?</a:t>
            </a:r>
          </a:p>
          <a:p>
            <a:pPr algn="ctr"/>
            <a:endParaRPr lang="de-DE" b="1" dirty="0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89B74C3-6F09-5A82-422F-269F57F12B4A}"/>
              </a:ext>
            </a:extLst>
          </p:cNvPr>
          <p:cNvCxnSpPr>
            <a:cxnSpLocks/>
          </p:cNvCxnSpPr>
          <p:nvPr/>
        </p:nvCxnSpPr>
        <p:spPr>
          <a:xfrm>
            <a:off x="0" y="5323557"/>
            <a:ext cx="12045950" cy="338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B42EF9FC-1160-3418-1A99-70E98FEF5535}"/>
              </a:ext>
            </a:extLst>
          </p:cNvPr>
          <p:cNvSpPr txBox="1"/>
          <p:nvPr/>
        </p:nvSpPr>
        <p:spPr>
          <a:xfrm>
            <a:off x="31745" y="1569045"/>
            <a:ext cx="229869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350 BCE</a:t>
            </a:r>
            <a:br>
              <a:rPr lang="de-DE" dirty="0"/>
            </a:br>
            <a:r>
              <a:rPr lang="de-DE" dirty="0"/>
              <a:t>Aristotle in </a:t>
            </a:r>
            <a:r>
              <a:rPr lang="de-DE" i="1" dirty="0"/>
              <a:t>De Anima</a:t>
            </a:r>
            <a:br>
              <a:rPr lang="de-DE" dirty="0"/>
            </a:br>
            <a:r>
              <a:rPr lang="de-DE" dirty="0" err="1"/>
              <a:t>substrate-independece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thought</a:t>
            </a: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C72514F-876D-59D3-5534-95C862237C21}"/>
              </a:ext>
            </a:extLst>
          </p:cNvPr>
          <p:cNvSpPr txBox="1"/>
          <p:nvPr/>
        </p:nvSpPr>
        <p:spPr>
          <a:xfrm>
            <a:off x="879477" y="3035828"/>
            <a:ext cx="22986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1859 Darwin</a:t>
            </a:r>
          </a:p>
          <a:p>
            <a:r>
              <a:rPr lang="de-DE" dirty="0"/>
              <a:t>‚</a:t>
            </a:r>
            <a:r>
              <a:rPr lang="de-DE" dirty="0" err="1"/>
              <a:t>brains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generalize</a:t>
            </a:r>
            <a:r>
              <a:rPr lang="de-DE" dirty="0"/>
              <a:t> </a:t>
            </a:r>
            <a:r>
              <a:rPr lang="de-DE" dirty="0" err="1"/>
              <a:t>survive</a:t>
            </a:r>
            <a:r>
              <a:rPr lang="de-DE" dirty="0"/>
              <a:t>‘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066AFC9-BB0A-2943-AC3E-A86B6CDA9841}"/>
              </a:ext>
            </a:extLst>
          </p:cNvPr>
          <p:cNvSpPr txBox="1"/>
          <p:nvPr/>
        </p:nvSpPr>
        <p:spPr>
          <a:xfrm>
            <a:off x="2549524" y="2281314"/>
            <a:ext cx="14954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1890s Cajal</a:t>
            </a:r>
            <a:br>
              <a:rPr lang="de-DE" dirty="0"/>
            </a:br>
            <a:r>
              <a:rPr lang="de-DE" dirty="0" err="1"/>
              <a:t>Importance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plasticity</a:t>
            </a:r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8C08B96-9E05-C408-20E1-6649023D904C}"/>
              </a:ext>
            </a:extLst>
          </p:cNvPr>
          <p:cNvSpPr txBox="1"/>
          <p:nvPr/>
        </p:nvSpPr>
        <p:spPr>
          <a:xfrm>
            <a:off x="6056189" y="1496640"/>
            <a:ext cx="290511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1943 </a:t>
            </a:r>
            <a:r>
              <a:rPr lang="de-DE" dirty="0" err="1"/>
              <a:t>Mc</a:t>
            </a:r>
            <a:r>
              <a:rPr lang="de-DE" dirty="0"/>
              <a:t> Culloch and Pitts</a:t>
            </a:r>
            <a:br>
              <a:rPr lang="de-DE" dirty="0"/>
            </a:br>
            <a:r>
              <a:rPr lang="de-DE" dirty="0"/>
              <a:t>immense </a:t>
            </a:r>
            <a:r>
              <a:rPr lang="de-DE" dirty="0" err="1"/>
              <a:t>computational</a:t>
            </a:r>
            <a:r>
              <a:rPr lang="de-DE" dirty="0"/>
              <a:t> power </a:t>
            </a:r>
            <a:r>
              <a:rPr lang="de-DE" dirty="0" err="1"/>
              <a:t>of</a:t>
            </a:r>
            <a:r>
              <a:rPr lang="de-DE" dirty="0"/>
              <a:t> simple neuronal </a:t>
            </a:r>
            <a:r>
              <a:rPr lang="de-DE" dirty="0" err="1"/>
              <a:t>networks</a:t>
            </a:r>
            <a:br>
              <a:rPr lang="de-DE" dirty="0"/>
            </a:br>
            <a:endParaRPr lang="de-DE" dirty="0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91B0ACF-1E3E-57C1-5F0A-08A4249D6E10}"/>
              </a:ext>
            </a:extLst>
          </p:cNvPr>
          <p:cNvCxnSpPr>
            <a:cxnSpLocks/>
          </p:cNvCxnSpPr>
          <p:nvPr/>
        </p:nvCxnSpPr>
        <p:spPr>
          <a:xfrm>
            <a:off x="146050" y="3110376"/>
            <a:ext cx="0" cy="22387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7BC7D1EA-FA0D-0FA4-0410-87310DE765CC}"/>
              </a:ext>
            </a:extLst>
          </p:cNvPr>
          <p:cNvCxnSpPr>
            <a:cxnSpLocks/>
          </p:cNvCxnSpPr>
          <p:nvPr/>
        </p:nvCxnSpPr>
        <p:spPr>
          <a:xfrm>
            <a:off x="1676400" y="4216760"/>
            <a:ext cx="0" cy="11578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74B60B16-B9D5-DFF3-9BB5-B6BD14477A0D}"/>
              </a:ext>
            </a:extLst>
          </p:cNvPr>
          <p:cNvCxnSpPr>
            <a:cxnSpLocks/>
          </p:cNvCxnSpPr>
          <p:nvPr/>
        </p:nvCxnSpPr>
        <p:spPr>
          <a:xfrm>
            <a:off x="3297233" y="3429000"/>
            <a:ext cx="0" cy="18945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B25B5581-48D2-CC36-1782-565468EC969B}"/>
              </a:ext>
            </a:extLst>
          </p:cNvPr>
          <p:cNvCxnSpPr>
            <a:cxnSpLocks/>
          </p:cNvCxnSpPr>
          <p:nvPr/>
        </p:nvCxnSpPr>
        <p:spPr>
          <a:xfrm>
            <a:off x="6845300" y="4902960"/>
            <a:ext cx="0" cy="4461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367E3794-57D9-5D89-0D73-95E4F798EA65}"/>
              </a:ext>
            </a:extLst>
          </p:cNvPr>
          <p:cNvSpPr txBox="1"/>
          <p:nvPr/>
        </p:nvSpPr>
        <p:spPr>
          <a:xfrm>
            <a:off x="4337052" y="2967335"/>
            <a:ext cx="15890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1930s Alan Turing</a:t>
            </a:r>
            <a:br>
              <a:rPr lang="de-DE" dirty="0"/>
            </a:br>
            <a:r>
              <a:rPr lang="de-DE" dirty="0" err="1"/>
              <a:t>Computability</a:t>
            </a:r>
            <a:endParaRPr lang="de-DE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98ADDA6-F112-68B2-B6B7-6F95A5C020E7}"/>
              </a:ext>
            </a:extLst>
          </p:cNvPr>
          <p:cNvSpPr txBox="1"/>
          <p:nvPr/>
        </p:nvSpPr>
        <p:spPr>
          <a:xfrm>
            <a:off x="9033210" y="1628362"/>
            <a:ext cx="147239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1982 </a:t>
            </a:r>
            <a:r>
              <a:rPr lang="de-DE" dirty="0" err="1"/>
              <a:t>Hopfield</a:t>
            </a:r>
            <a:br>
              <a:rPr lang="de-DE" dirty="0"/>
            </a:br>
            <a:r>
              <a:rPr lang="de-DE" dirty="0" err="1"/>
              <a:t>Associative</a:t>
            </a:r>
            <a:r>
              <a:rPr lang="de-DE" dirty="0"/>
              <a:t> neuronal </a:t>
            </a:r>
            <a:r>
              <a:rPr lang="de-DE" dirty="0" err="1"/>
              <a:t>networks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5E86178-8AB5-1631-D072-E8EA050673F7}"/>
              </a:ext>
            </a:extLst>
          </p:cNvPr>
          <p:cNvSpPr txBox="1"/>
          <p:nvPr/>
        </p:nvSpPr>
        <p:spPr>
          <a:xfrm>
            <a:off x="6056189" y="2808855"/>
            <a:ext cx="29051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1949 Hebb</a:t>
            </a:r>
            <a:br>
              <a:rPr lang="de-DE" dirty="0"/>
            </a:br>
            <a:r>
              <a:rPr lang="de-DE" dirty="0" err="1"/>
              <a:t>plasticity</a:t>
            </a:r>
            <a:r>
              <a:rPr lang="de-DE" dirty="0"/>
              <a:t> </a:t>
            </a:r>
            <a:r>
              <a:rPr lang="de-DE" dirty="0" err="1"/>
              <a:t>mechanism</a:t>
            </a:r>
            <a:endParaRPr lang="de-DE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CA3095A3-8778-65B6-64F6-3DB8A6C48E08}"/>
              </a:ext>
            </a:extLst>
          </p:cNvPr>
          <p:cNvSpPr txBox="1"/>
          <p:nvPr/>
        </p:nvSpPr>
        <p:spPr>
          <a:xfrm>
            <a:off x="6153052" y="3616596"/>
            <a:ext cx="1803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1948 Wiener</a:t>
            </a:r>
            <a:br>
              <a:rPr lang="de-DE" dirty="0"/>
            </a:br>
            <a:r>
              <a:rPr lang="de-DE" dirty="0" err="1"/>
              <a:t>information</a:t>
            </a:r>
            <a:r>
              <a:rPr lang="de-DE" dirty="0"/>
              <a:t> </a:t>
            </a:r>
            <a:r>
              <a:rPr lang="de-DE" dirty="0" err="1"/>
              <a:t>processing</a:t>
            </a:r>
            <a:r>
              <a:rPr lang="de-DE" dirty="0"/>
              <a:t> and </a:t>
            </a:r>
            <a:r>
              <a:rPr lang="de-DE" dirty="0" err="1"/>
              <a:t>feedback</a:t>
            </a:r>
            <a:endParaRPr lang="de-DE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75B8176-6099-F77E-8E55-AE57C4B2DFA4}"/>
              </a:ext>
            </a:extLst>
          </p:cNvPr>
          <p:cNvSpPr txBox="1"/>
          <p:nvPr/>
        </p:nvSpPr>
        <p:spPr>
          <a:xfrm>
            <a:off x="9736894" y="3220494"/>
            <a:ext cx="15351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1990 Randall Beer</a:t>
            </a:r>
            <a:br>
              <a:rPr lang="de-DE" dirty="0"/>
            </a:br>
            <a:r>
              <a:rPr lang="de-DE" dirty="0" err="1"/>
              <a:t>Intelligence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Adaptive </a:t>
            </a:r>
            <a:r>
              <a:rPr lang="de-DE" dirty="0" err="1"/>
              <a:t>Behavior</a:t>
            </a:r>
            <a:endParaRPr lang="de-DE" dirty="0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2F22C57F-0549-0A40-716B-5DF367C7D267}"/>
              </a:ext>
            </a:extLst>
          </p:cNvPr>
          <p:cNvCxnSpPr>
            <a:cxnSpLocks/>
          </p:cNvCxnSpPr>
          <p:nvPr/>
        </p:nvCxnSpPr>
        <p:spPr>
          <a:xfrm>
            <a:off x="4978400" y="3969703"/>
            <a:ext cx="0" cy="13793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4B0D44BF-7AF3-9D14-53A8-44081AE3946D}"/>
              </a:ext>
            </a:extLst>
          </p:cNvPr>
          <p:cNvSpPr txBox="1"/>
          <p:nvPr/>
        </p:nvSpPr>
        <p:spPr>
          <a:xfrm>
            <a:off x="2952257" y="5497678"/>
            <a:ext cx="853519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/>
              <a:t>Today – </a:t>
            </a:r>
            <a:r>
              <a:rPr lang="de-DE" dirty="0" err="1"/>
              <a:t>we</a:t>
            </a:r>
            <a:r>
              <a:rPr lang="de-DE" dirty="0"/>
              <a:t> still </a:t>
            </a:r>
            <a:r>
              <a:rPr lang="de-DE" dirty="0" err="1"/>
              <a:t>don‘t</a:t>
            </a:r>
            <a:r>
              <a:rPr lang="de-DE" dirty="0"/>
              <a:t> </a:t>
            </a:r>
            <a:r>
              <a:rPr lang="de-DE" dirty="0" err="1"/>
              <a:t>know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Rolf Pfeifer, Josh Bongard Embedded </a:t>
            </a:r>
            <a:r>
              <a:rPr lang="de-DE" dirty="0" err="1"/>
              <a:t>cognition</a:t>
            </a:r>
            <a:endParaRPr lang="de-DE" dirty="0"/>
          </a:p>
          <a:p>
            <a:pPr algn="r"/>
            <a:r>
              <a:rPr lang="de-DE" dirty="0"/>
              <a:t>Kenneth Stanley NEAT </a:t>
            </a:r>
            <a:r>
              <a:rPr lang="de-DE" dirty="0" err="1"/>
              <a:t>algorithm</a:t>
            </a:r>
            <a:endParaRPr lang="de-DE" dirty="0"/>
          </a:p>
          <a:p>
            <a:pPr algn="r"/>
            <a:r>
              <a:rPr lang="de-DE" dirty="0"/>
              <a:t>Izquierdo, Di Paolo Egbert – </a:t>
            </a:r>
            <a:r>
              <a:rPr lang="de-DE" dirty="0" err="1"/>
              <a:t>chemotaxis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/ minimal </a:t>
            </a:r>
            <a:r>
              <a:rPr lang="de-DE" dirty="0" err="1"/>
              <a:t>life</a:t>
            </a:r>
            <a:endParaRPr lang="de-DE" dirty="0"/>
          </a:p>
          <a:p>
            <a:pPr algn="r"/>
            <a:endParaRPr lang="de-DE" dirty="0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2EE525FE-8203-A89A-A34E-2EFFF9902AE8}"/>
              </a:ext>
            </a:extLst>
          </p:cNvPr>
          <p:cNvCxnSpPr>
            <a:cxnSpLocks/>
          </p:cNvCxnSpPr>
          <p:nvPr/>
        </p:nvCxnSpPr>
        <p:spPr>
          <a:xfrm>
            <a:off x="9499600" y="3204644"/>
            <a:ext cx="0" cy="21189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B8939105-A446-17A8-A54F-E1FFBC8DA441}"/>
              </a:ext>
            </a:extLst>
          </p:cNvPr>
          <p:cNvCxnSpPr>
            <a:cxnSpLocks/>
          </p:cNvCxnSpPr>
          <p:nvPr/>
        </p:nvCxnSpPr>
        <p:spPr>
          <a:xfrm>
            <a:off x="10274300" y="4816925"/>
            <a:ext cx="0" cy="5066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02FF7C3-A2A3-CF23-E852-B0CE07EE9398}"/>
              </a:ext>
            </a:extLst>
          </p:cNvPr>
          <p:cNvCxnSpPr>
            <a:cxnSpLocks/>
          </p:cNvCxnSpPr>
          <p:nvPr/>
        </p:nvCxnSpPr>
        <p:spPr>
          <a:xfrm>
            <a:off x="11442700" y="5349086"/>
            <a:ext cx="0" cy="5066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3045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A483A-42A1-C624-C4BF-5F6A116F8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C34B002-6F0F-E2A9-5A8D-35E8245D38CC}"/>
              </a:ext>
            </a:extLst>
          </p:cNvPr>
          <p:cNvSpPr txBox="1"/>
          <p:nvPr/>
        </p:nvSpPr>
        <p:spPr>
          <a:xfrm>
            <a:off x="3581465" y="558800"/>
            <a:ext cx="5029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Why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brains</a:t>
            </a:r>
            <a:r>
              <a:rPr lang="de-DE" dirty="0"/>
              <a:t> so </a:t>
            </a:r>
            <a:r>
              <a:rPr lang="de-DE" dirty="0" err="1"/>
              <a:t>good</a:t>
            </a:r>
            <a:r>
              <a:rPr lang="de-DE" dirty="0"/>
              <a:t> at flexible </a:t>
            </a:r>
            <a:r>
              <a:rPr lang="de-DE" dirty="0" err="1"/>
              <a:t>generalization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Why </a:t>
            </a:r>
            <a:r>
              <a:rPr lang="de-DE" dirty="0" err="1"/>
              <a:t>can‘t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D02961B-6FF1-0FC0-28E9-371B87139242}"/>
              </a:ext>
            </a:extLst>
          </p:cNvPr>
          <p:cNvSpPr txBox="1"/>
          <p:nvPr/>
        </p:nvSpPr>
        <p:spPr>
          <a:xfrm>
            <a:off x="781050" y="2249269"/>
            <a:ext cx="763905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Recent</a:t>
            </a:r>
            <a:r>
              <a:rPr lang="de-DE" dirty="0"/>
              <a:t> </a:t>
            </a:r>
            <a:r>
              <a:rPr lang="de-DE" dirty="0" err="1"/>
              <a:t>studies</a:t>
            </a:r>
            <a:r>
              <a:rPr lang="de-DE" dirty="0"/>
              <a:t> on </a:t>
            </a:r>
            <a:r>
              <a:rPr lang="de-DE" dirty="0" err="1"/>
              <a:t>connectome</a:t>
            </a:r>
            <a:r>
              <a:rPr lang="de-DE" dirty="0"/>
              <a:t> </a:t>
            </a:r>
            <a:r>
              <a:rPr lang="de-DE" dirty="0" err="1"/>
              <a:t>modelling</a:t>
            </a:r>
            <a:r>
              <a:rPr lang="de-DE" dirty="0"/>
              <a:t> and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endParaRPr lang="de-DE" dirty="0"/>
          </a:p>
          <a:p>
            <a:r>
              <a:rPr lang="de-DE" dirty="0"/>
              <a:t>E.g.</a:t>
            </a:r>
          </a:p>
          <a:p>
            <a:r>
              <a:rPr lang="en-US" sz="1050" dirty="0"/>
              <a:t>Zhao, M., Wang, N., Jiang, X. </a:t>
            </a:r>
            <a:r>
              <a:rPr lang="en-US" sz="1050" i="1" dirty="0"/>
              <a:t>et al.</a:t>
            </a:r>
            <a:r>
              <a:rPr lang="en-US" sz="1050" dirty="0"/>
              <a:t> An integrative data-driven model simulating </a:t>
            </a:r>
            <a:r>
              <a:rPr lang="en-US" sz="1050" i="1" dirty="0"/>
              <a:t>C. elegans</a:t>
            </a:r>
            <a:r>
              <a:rPr lang="en-US" sz="1050" dirty="0"/>
              <a:t> brain, body and environment interactions. </a:t>
            </a:r>
            <a:r>
              <a:rPr lang="en-US" sz="1050" i="1" dirty="0"/>
              <a:t>Nat </a:t>
            </a:r>
            <a:r>
              <a:rPr lang="en-US" sz="1050" i="1" dirty="0" err="1"/>
              <a:t>Comput</a:t>
            </a:r>
            <a:r>
              <a:rPr lang="en-US" sz="1050" i="1" dirty="0"/>
              <a:t> Sci</a:t>
            </a:r>
            <a:r>
              <a:rPr lang="en-US" sz="1050" dirty="0"/>
              <a:t> </a:t>
            </a:r>
            <a:r>
              <a:rPr lang="en-US" sz="1050" b="1" dirty="0"/>
              <a:t>4</a:t>
            </a:r>
            <a:r>
              <a:rPr lang="en-US" sz="1050" dirty="0"/>
              <a:t>, 978–990 (2024). https://doi.org/10.1038/s43588-024-00738-w</a:t>
            </a:r>
            <a:endParaRPr lang="de-DE" sz="1050" dirty="0"/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E3AAAB6F-CFA3-5ECB-AF23-A96FEC7A6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0989" y="2044329"/>
            <a:ext cx="3040062" cy="2769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05995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AD5C2-FCA0-7E11-E02C-FD749F991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57B6DFA-5D8E-D159-4F36-AD309A0ED0A6}"/>
              </a:ext>
            </a:extLst>
          </p:cNvPr>
          <p:cNvSpPr txBox="1"/>
          <p:nvPr/>
        </p:nvSpPr>
        <p:spPr>
          <a:xfrm>
            <a:off x="3581465" y="558800"/>
            <a:ext cx="5029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Why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brains</a:t>
            </a:r>
            <a:r>
              <a:rPr lang="de-DE" dirty="0"/>
              <a:t> so </a:t>
            </a:r>
            <a:r>
              <a:rPr lang="de-DE" dirty="0" err="1"/>
              <a:t>good</a:t>
            </a:r>
            <a:r>
              <a:rPr lang="de-DE" dirty="0"/>
              <a:t> at flexible </a:t>
            </a:r>
            <a:r>
              <a:rPr lang="de-DE" dirty="0" err="1"/>
              <a:t>generalization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Why </a:t>
            </a:r>
            <a:r>
              <a:rPr lang="de-DE" dirty="0" err="1"/>
              <a:t>can‘t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1560742-BD6F-4C8E-1E09-0823C2FFD5B1}"/>
              </a:ext>
            </a:extLst>
          </p:cNvPr>
          <p:cNvSpPr txBox="1"/>
          <p:nvPr/>
        </p:nvSpPr>
        <p:spPr>
          <a:xfrm>
            <a:off x="8832850" y="1620619"/>
            <a:ext cx="242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Top-down </a:t>
            </a:r>
            <a:r>
              <a:rPr lang="de-DE" dirty="0" err="1"/>
              <a:t>approach</a:t>
            </a:r>
            <a:endParaRPr lang="de-DE" dirty="0"/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F738C034-5C69-0021-6CC2-AAE3E8FC00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97" t="68802" r="53264" b="17211"/>
          <a:stretch>
            <a:fillRect/>
          </a:stretch>
        </p:blipFill>
        <p:spPr bwMode="auto">
          <a:xfrm>
            <a:off x="9264650" y="2055594"/>
            <a:ext cx="1244600" cy="38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feil: nach unten 2">
            <a:extLst>
              <a:ext uri="{FF2B5EF4-FFF2-40B4-BE49-F238E27FC236}">
                <a16:creationId xmlns:a16="http://schemas.microsoft.com/office/drawing/2014/main" id="{D4376827-1986-BEC5-C53E-1795CEDDFB02}"/>
              </a:ext>
            </a:extLst>
          </p:cNvPr>
          <p:cNvSpPr/>
          <p:nvPr/>
        </p:nvSpPr>
        <p:spPr>
          <a:xfrm>
            <a:off x="9747250" y="2508250"/>
            <a:ext cx="349250" cy="603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C1B77C3-F212-28B9-53E0-E72EF8C85E59}"/>
              </a:ext>
            </a:extLst>
          </p:cNvPr>
          <p:cNvSpPr txBox="1"/>
          <p:nvPr/>
        </p:nvSpPr>
        <p:spPr>
          <a:xfrm>
            <a:off x="8940800" y="6060999"/>
            <a:ext cx="242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Bottom-up</a:t>
            </a:r>
            <a:r>
              <a:rPr lang="de-DE" dirty="0"/>
              <a:t> </a:t>
            </a:r>
            <a:r>
              <a:rPr lang="de-DE" dirty="0" err="1"/>
              <a:t>approach</a:t>
            </a:r>
            <a:endParaRPr lang="de-DE" dirty="0"/>
          </a:p>
        </p:txBody>
      </p:sp>
      <p:sp>
        <p:nvSpPr>
          <p:cNvPr id="6" name="Pfeil: nach unten 5">
            <a:extLst>
              <a:ext uri="{FF2B5EF4-FFF2-40B4-BE49-F238E27FC236}">
                <a16:creationId xmlns:a16="http://schemas.microsoft.com/office/drawing/2014/main" id="{4406EBD8-0DBF-67FE-D907-CD1829780E94}"/>
              </a:ext>
            </a:extLst>
          </p:cNvPr>
          <p:cNvSpPr/>
          <p:nvPr/>
        </p:nvSpPr>
        <p:spPr>
          <a:xfrm rot="10800000">
            <a:off x="9791700" y="4415057"/>
            <a:ext cx="349250" cy="603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71D3448-D572-0487-CA0D-1438EEF093BD}"/>
              </a:ext>
            </a:extLst>
          </p:cNvPr>
          <p:cNvSpPr txBox="1"/>
          <p:nvPr/>
        </p:nvSpPr>
        <p:spPr>
          <a:xfrm>
            <a:off x="984251" y="2440543"/>
            <a:ext cx="4845050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Recent</a:t>
            </a:r>
            <a:r>
              <a:rPr lang="de-DE" dirty="0"/>
              <a:t> </a:t>
            </a:r>
            <a:r>
              <a:rPr lang="de-DE" dirty="0" err="1"/>
              <a:t>studies</a:t>
            </a:r>
            <a:r>
              <a:rPr lang="de-DE" dirty="0"/>
              <a:t> on CTRNNs &amp; minimal </a:t>
            </a:r>
            <a:r>
              <a:rPr lang="de-DE" dirty="0" err="1"/>
              <a:t>cognition</a:t>
            </a:r>
            <a:endParaRPr lang="de-DE" dirty="0"/>
          </a:p>
          <a:p>
            <a:endParaRPr lang="de-DE" dirty="0"/>
          </a:p>
          <a:p>
            <a:r>
              <a:rPr lang="de-DE" dirty="0"/>
              <a:t>E.g.</a:t>
            </a:r>
            <a:br>
              <a:rPr lang="de-DE" dirty="0"/>
            </a:br>
            <a:r>
              <a:rPr lang="en-US" sz="1100" dirty="0"/>
              <a:t>Ji-An, L., Benna, M.K. &amp; Mattar, M.G. Discovering cognitive strategies with tiny recurrent neural networks. </a:t>
            </a:r>
            <a:r>
              <a:rPr lang="en-US" sz="1100" i="1" dirty="0"/>
              <a:t>Nature</a:t>
            </a:r>
            <a:r>
              <a:rPr lang="en-US" sz="1100" dirty="0"/>
              <a:t> </a:t>
            </a:r>
            <a:r>
              <a:rPr lang="en-US" sz="1100" b="1" dirty="0"/>
              <a:t>644</a:t>
            </a:r>
            <a:r>
              <a:rPr lang="en-US" sz="1100" dirty="0"/>
              <a:t>, 993–1001 (2025). https://doi.org/10.1038/s41586-025-09142-4</a:t>
            </a:r>
            <a:endParaRPr lang="de-DE" dirty="0"/>
          </a:p>
        </p:txBody>
      </p:sp>
      <p:pic>
        <p:nvPicPr>
          <p:cNvPr id="2050" name="Picture 2" descr="Fig. 1: Model overview and performance on animal tasks.">
            <a:extLst>
              <a:ext uri="{FF2B5EF4-FFF2-40B4-BE49-F238E27FC236}">
                <a16:creationId xmlns:a16="http://schemas.microsoft.com/office/drawing/2014/main" id="{5D49F99D-1303-8EE7-EB30-DA0BAF418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150" y="3987664"/>
            <a:ext cx="3238500" cy="2322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Fig. 1: Model overview and performance on animal tasks.">
            <a:extLst>
              <a:ext uri="{FF2B5EF4-FFF2-40B4-BE49-F238E27FC236}">
                <a16:creationId xmlns:a16="http://schemas.microsoft.com/office/drawing/2014/main" id="{61EBF8C4-8028-6011-E24C-3BEE4AFC44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490" t="2188" r="22451" b="71832"/>
          <a:stretch>
            <a:fillRect/>
          </a:stretch>
        </p:blipFill>
        <p:spPr bwMode="auto">
          <a:xfrm>
            <a:off x="9690100" y="5276060"/>
            <a:ext cx="552449" cy="60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2B6AD87F-7014-AEA9-AD39-7805855F0A1F}"/>
              </a:ext>
            </a:extLst>
          </p:cNvPr>
          <p:cNvSpPr txBox="1"/>
          <p:nvPr/>
        </p:nvSpPr>
        <p:spPr>
          <a:xfrm>
            <a:off x="4456806" y="5648613"/>
            <a:ext cx="46678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i="1" dirty="0"/>
              <a:t>Minimal </a:t>
            </a:r>
            <a:r>
              <a:rPr lang="de-DE" sz="1200" i="1" dirty="0" err="1"/>
              <a:t>models</a:t>
            </a:r>
            <a:r>
              <a:rPr lang="de-DE" sz="1200" i="1" dirty="0"/>
              <a:t> </a:t>
            </a:r>
            <a:r>
              <a:rPr lang="de-DE" sz="1200" i="1" dirty="0" err="1"/>
              <a:t>have</a:t>
            </a:r>
            <a:r>
              <a:rPr lang="de-DE" sz="1200" i="1" dirty="0"/>
              <a:t> a </a:t>
            </a:r>
            <a:r>
              <a:rPr lang="de-DE" sz="1200" i="1" dirty="0" err="1"/>
              <a:t>long</a:t>
            </a:r>
            <a:r>
              <a:rPr lang="de-DE" sz="1200" i="1" dirty="0"/>
              <a:t> and </a:t>
            </a:r>
            <a:r>
              <a:rPr lang="de-DE" sz="1200" i="1" dirty="0" err="1"/>
              <a:t>productive</a:t>
            </a:r>
            <a:r>
              <a:rPr lang="de-DE" sz="1200" i="1" dirty="0"/>
              <a:t> </a:t>
            </a:r>
            <a:r>
              <a:rPr lang="de-DE" sz="1200" i="1" dirty="0" err="1"/>
              <a:t>history</a:t>
            </a:r>
            <a:r>
              <a:rPr lang="de-DE" sz="1200" i="1" dirty="0"/>
              <a:t> in </a:t>
            </a:r>
            <a:r>
              <a:rPr lang="de-DE" sz="1200" i="1" dirty="0" err="1"/>
              <a:t>neuroscience</a:t>
            </a:r>
            <a:r>
              <a:rPr lang="de-DE" sz="1200" i="1" dirty="0"/>
              <a:t>. </a:t>
            </a:r>
            <a:r>
              <a:rPr lang="de-DE" sz="1200" i="1" dirty="0" err="1"/>
              <a:t>we‘re</a:t>
            </a:r>
            <a:r>
              <a:rPr lang="de-DE" sz="1200" i="1" dirty="0"/>
              <a:t> </a:t>
            </a:r>
            <a:r>
              <a:rPr lang="de-DE" sz="1200" i="1" dirty="0" err="1"/>
              <a:t>applying</a:t>
            </a:r>
            <a:r>
              <a:rPr lang="de-DE" sz="1200" i="1" dirty="0"/>
              <a:t> </a:t>
            </a:r>
            <a:r>
              <a:rPr lang="de-DE" sz="1200" i="1" dirty="0" err="1"/>
              <a:t>that</a:t>
            </a:r>
            <a:r>
              <a:rPr lang="de-DE" sz="1200" i="1" dirty="0"/>
              <a:t> </a:t>
            </a:r>
            <a:r>
              <a:rPr lang="de-DE" sz="1200" i="1" dirty="0" err="1"/>
              <a:t>logic</a:t>
            </a:r>
            <a:r>
              <a:rPr lang="de-DE" sz="1200" i="1" dirty="0"/>
              <a:t> </a:t>
            </a:r>
            <a:r>
              <a:rPr lang="de-DE" sz="1200" i="1" dirty="0" err="1"/>
              <a:t>to</a:t>
            </a:r>
            <a:r>
              <a:rPr lang="de-DE" sz="1200" i="1" dirty="0"/>
              <a:t> </a:t>
            </a:r>
            <a:r>
              <a:rPr lang="de-DE" sz="1200" i="1" dirty="0" err="1"/>
              <a:t>the</a:t>
            </a:r>
            <a:r>
              <a:rPr lang="de-DE" sz="1200" i="1" dirty="0"/>
              <a:t> </a:t>
            </a:r>
            <a:r>
              <a:rPr lang="de-DE" sz="1200" i="1" dirty="0" err="1"/>
              <a:t>question</a:t>
            </a:r>
            <a:r>
              <a:rPr lang="de-DE" sz="1200" i="1" dirty="0"/>
              <a:t> </a:t>
            </a:r>
            <a:r>
              <a:rPr lang="de-DE" sz="1200" i="1" dirty="0" err="1"/>
              <a:t>of</a:t>
            </a:r>
            <a:r>
              <a:rPr lang="de-DE" sz="1200" i="1" dirty="0"/>
              <a:t> adaptive </a:t>
            </a:r>
            <a:r>
              <a:rPr lang="de-DE" sz="1200" i="1" dirty="0" err="1"/>
              <a:t>flexibility</a:t>
            </a:r>
            <a:r>
              <a:rPr lang="de-DE" sz="1200" i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9457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55FCAEC-34E8-53FB-8159-ED260B22F6F9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adaptive </a:t>
            </a:r>
            <a:r>
              <a:rPr lang="de-DE" dirty="0" err="1"/>
              <a:t>learners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minmal</a:t>
            </a:r>
            <a:r>
              <a:rPr lang="de-DE" dirty="0"/>
              <a:t> neuronal </a:t>
            </a:r>
            <a:r>
              <a:rPr lang="de-DE" dirty="0" err="1"/>
              <a:t>architecture</a:t>
            </a:r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Minimum viable </a:t>
            </a:r>
            <a:r>
              <a:rPr lang="de-DE" dirty="0" err="1">
                <a:sym typeface="Wingdings" panose="05000000000000000000" pitchFamily="2" charset="2"/>
              </a:rPr>
              <a:t>brain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982887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93349-700C-B4EB-D8A6-634D63E89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90181E4-1F3B-1993-1CDC-7655B8C3F8A2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adaptive </a:t>
            </a:r>
            <a:r>
              <a:rPr lang="de-DE" dirty="0" err="1"/>
              <a:t>learners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b="1" dirty="0" err="1"/>
              <a:t>minmal</a:t>
            </a:r>
            <a:r>
              <a:rPr lang="de-DE" b="1" dirty="0"/>
              <a:t> neuronal </a:t>
            </a:r>
            <a:r>
              <a:rPr lang="de-DE" b="1" dirty="0" err="1"/>
              <a:t>architecture</a:t>
            </a:r>
            <a:endParaRPr lang="de-DE" b="1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228D7A65-B891-499C-8C9D-FDACB41353C1}"/>
              </a:ext>
            </a:extLst>
          </p:cNvPr>
          <p:cNvCxnSpPr/>
          <p:nvPr/>
        </p:nvCxnSpPr>
        <p:spPr>
          <a:xfrm flipH="1">
            <a:off x="7575550" y="1104900"/>
            <a:ext cx="1174750" cy="11620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7F00B778-41BF-13C7-4B7A-9B13B4589133}"/>
              </a:ext>
            </a:extLst>
          </p:cNvPr>
          <p:cNvSpPr txBox="1"/>
          <p:nvPr/>
        </p:nvSpPr>
        <p:spPr>
          <a:xfrm>
            <a:off x="2413000" y="2527300"/>
            <a:ext cx="79807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~ 15 </a:t>
            </a:r>
            <a:r>
              <a:rPr lang="de-DE" dirty="0" err="1"/>
              <a:t>neurons</a:t>
            </a:r>
            <a:endParaRPr lang="de-DE" dirty="0"/>
          </a:p>
          <a:p>
            <a:r>
              <a:rPr lang="de-DE" dirty="0"/>
              <a:t>Details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an </a:t>
            </a:r>
            <a:r>
              <a:rPr lang="de-DE" dirty="0" err="1"/>
              <a:t>implementation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citations</a:t>
            </a:r>
            <a:r>
              <a:rPr lang="de-DE" dirty="0"/>
              <a:t> (e.g. </a:t>
            </a:r>
            <a:r>
              <a:rPr lang="de-DE" dirty="0" err="1"/>
              <a:t>Candadai</a:t>
            </a:r>
            <a:r>
              <a:rPr lang="de-DE" dirty="0"/>
              <a:t> et. al)</a:t>
            </a:r>
          </a:p>
          <a:p>
            <a:r>
              <a:rPr lang="de-DE" dirty="0"/>
              <a:t>Details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wiring-based</a:t>
            </a:r>
            <a:r>
              <a:rPr lang="de-DE" dirty="0"/>
              <a:t> </a:t>
            </a:r>
            <a:r>
              <a:rPr lang="de-DE" dirty="0" err="1"/>
              <a:t>plasticity</a:t>
            </a:r>
            <a:r>
              <a:rPr lang="de-DE" dirty="0"/>
              <a:t> </a:t>
            </a:r>
            <a:r>
              <a:rPr lang="de-DE" dirty="0" err="1"/>
              <a:t>including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weight</a:t>
            </a:r>
            <a:r>
              <a:rPr lang="de-DE" dirty="0"/>
              <a:t> update </a:t>
            </a:r>
            <a:r>
              <a:rPr lang="de-DE" dirty="0" err="1"/>
              <a:t>formula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43761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55203-822B-A659-E6D8-443300CB0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7532651-DF74-743E-F7B0-402E4B5AC864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b="1" dirty="0" err="1"/>
              <a:t>unsupervised</a:t>
            </a:r>
            <a:r>
              <a:rPr lang="de-DE" b="1" dirty="0"/>
              <a:t> adaptive </a:t>
            </a:r>
            <a:r>
              <a:rPr lang="de-DE" b="1" dirty="0" err="1"/>
              <a:t>learners</a:t>
            </a:r>
            <a:r>
              <a:rPr lang="de-DE" b="1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minmal</a:t>
            </a:r>
            <a:r>
              <a:rPr lang="de-DE" dirty="0"/>
              <a:t> neuronal </a:t>
            </a:r>
            <a:r>
              <a:rPr lang="de-DE" dirty="0" err="1"/>
              <a:t>architecture</a:t>
            </a:r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3085005-3F81-65FE-9BA8-0D0509C419B3}"/>
              </a:ext>
            </a:extLst>
          </p:cNvPr>
          <p:cNvCxnSpPr>
            <a:cxnSpLocks/>
          </p:cNvCxnSpPr>
          <p:nvPr/>
        </p:nvCxnSpPr>
        <p:spPr>
          <a:xfrm>
            <a:off x="5753100" y="1078905"/>
            <a:ext cx="0" cy="1448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2941C30A-4E69-2636-E2E2-82F70938965D}"/>
              </a:ext>
            </a:extLst>
          </p:cNvPr>
          <p:cNvSpPr txBox="1"/>
          <p:nvPr/>
        </p:nvSpPr>
        <p:spPr>
          <a:xfrm>
            <a:off x="1880219" y="3092450"/>
            <a:ext cx="486581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Grid</a:t>
            </a:r>
            <a:r>
              <a:rPr lang="de-DE" dirty="0"/>
              <a:t> </a:t>
            </a:r>
            <a:r>
              <a:rPr lang="de-DE" dirty="0" err="1"/>
              <a:t>foraging</a:t>
            </a:r>
            <a:r>
              <a:rPr lang="de-DE" dirty="0"/>
              <a:t> </a:t>
            </a:r>
            <a:r>
              <a:rPr lang="de-DE" dirty="0" err="1"/>
              <a:t>taks</a:t>
            </a:r>
            <a:r>
              <a:rPr lang="de-DE" dirty="0"/>
              <a:t> (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citations</a:t>
            </a:r>
            <a:r>
              <a:rPr lang="de-DE" dirty="0"/>
              <a:t>)</a:t>
            </a:r>
          </a:p>
          <a:p>
            <a:r>
              <a:rPr lang="de-DE" dirty="0" err="1"/>
              <a:t>Unsupervised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 </a:t>
            </a:r>
          </a:p>
          <a:p>
            <a:r>
              <a:rPr lang="de-DE" dirty="0" err="1"/>
              <a:t>Evolutionary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(</a:t>
            </a:r>
            <a:r>
              <a:rPr lang="de-DE" dirty="0" err="1"/>
              <a:t>citation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dirty="0"/>
              <a:t>Two-level non-</a:t>
            </a:r>
            <a:r>
              <a:rPr lang="de-DE" dirty="0" err="1"/>
              <a:t>stationary</a:t>
            </a:r>
            <a:r>
              <a:rPr lang="de-DE" dirty="0"/>
              <a:t> EA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run</a:t>
            </a:r>
            <a:r>
              <a:rPr lang="de-DE" dirty="0">
                <a:sym typeface="Wingdings" panose="05000000000000000000" pitchFamily="2" charset="2"/>
              </a:rPr>
              <a:t>-time </a:t>
            </a:r>
            <a:r>
              <a:rPr lang="de-DE" dirty="0" err="1">
                <a:sym typeface="Wingdings" panose="05000000000000000000" pitchFamily="2" charset="2"/>
              </a:rPr>
              <a:t>adaptability</a:t>
            </a:r>
            <a:r>
              <a:rPr lang="de-DE" dirty="0">
                <a:sym typeface="Wingdings" panose="05000000000000000000" pitchFamily="2" charset="2"/>
              </a:rPr>
              <a:t> &amp; </a:t>
            </a:r>
            <a:r>
              <a:rPr lang="de-DE" dirty="0" err="1">
                <a:sym typeface="Wingdings" panose="05000000000000000000" pitchFamily="2" charset="2"/>
              </a:rPr>
              <a:t>plasticity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Ablation </a:t>
            </a:r>
            <a:r>
              <a:rPr lang="de-DE" dirty="0" err="1">
                <a:sym typeface="Wingdings" panose="05000000000000000000" pitchFamily="2" charset="2"/>
              </a:rPr>
              <a:t>to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prohibit</a:t>
            </a:r>
            <a:r>
              <a:rPr lang="de-DE" dirty="0">
                <a:sym typeface="Wingdings" panose="05000000000000000000" pitchFamily="2" charset="2"/>
              </a:rPr>
              <a:t> multiple </a:t>
            </a:r>
            <a:r>
              <a:rPr lang="de-DE" dirty="0" err="1">
                <a:sym typeface="Wingdings" panose="05000000000000000000" pitchFamily="2" charset="2"/>
              </a:rPr>
              <a:t>static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strategies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Testing</a:t>
            </a:r>
            <a:r>
              <a:rPr lang="de-DE" dirty="0">
                <a:sym typeface="Wingdings" panose="05000000000000000000" pitchFamily="2" charset="2"/>
              </a:rPr>
              <a:t> on </a:t>
            </a:r>
            <a:r>
              <a:rPr lang="de-DE" dirty="0" err="1">
                <a:sym typeface="Wingdings" panose="05000000000000000000" pitchFamily="2" charset="2"/>
              </a:rPr>
              <a:t>previously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unseen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tasks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4570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F338866F-1B0D-C6E9-000E-F2C93E258AEE}"/>
              </a:ext>
            </a:extLst>
          </p:cNvPr>
          <p:cNvSpPr txBox="1"/>
          <p:nvPr/>
        </p:nvSpPr>
        <p:spPr>
          <a:xfrm>
            <a:off x="4354048" y="552450"/>
            <a:ext cx="5643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Current </a:t>
            </a:r>
            <a:r>
              <a:rPr lang="de-DE" dirty="0" err="1"/>
              <a:t>Results</a:t>
            </a:r>
            <a:r>
              <a:rPr lang="de-DE" dirty="0"/>
              <a:t> – </a:t>
            </a:r>
            <a:r>
              <a:rPr lang="de-DE" dirty="0" err="1"/>
              <a:t>Unsupervised</a:t>
            </a:r>
            <a:r>
              <a:rPr lang="de-DE" dirty="0"/>
              <a:t> </a:t>
            </a:r>
            <a:r>
              <a:rPr lang="de-DE" dirty="0" err="1"/>
              <a:t>leraning</a:t>
            </a:r>
            <a:r>
              <a:rPr lang="de-DE" dirty="0"/>
              <a:t> on </a:t>
            </a:r>
            <a:r>
              <a:rPr lang="de-DE" dirty="0" err="1"/>
              <a:t>static</a:t>
            </a:r>
            <a:r>
              <a:rPr lang="de-DE" dirty="0"/>
              <a:t> </a:t>
            </a:r>
            <a:r>
              <a:rPr lang="de-DE" dirty="0" err="1"/>
              <a:t>tasks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EE6CACB6-FD47-4188-E3B9-82548044312F}"/>
              </a:ext>
            </a:extLst>
          </p:cNvPr>
          <p:cNvSpPr txBox="1"/>
          <p:nvPr/>
        </p:nvSpPr>
        <p:spPr>
          <a:xfrm>
            <a:off x="2362200" y="2717800"/>
            <a:ext cx="42966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Show EA </a:t>
            </a:r>
            <a:r>
              <a:rPr lang="de-DE" dirty="0" err="1"/>
              <a:t>results</a:t>
            </a:r>
            <a:r>
              <a:rPr lang="de-DE" dirty="0"/>
              <a:t>, </a:t>
            </a:r>
            <a:r>
              <a:rPr lang="de-DE" dirty="0" err="1"/>
              <a:t>wiring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lookup</a:t>
            </a:r>
            <a:r>
              <a:rPr lang="de-DE" dirty="0"/>
              <a:t> </a:t>
            </a:r>
            <a:r>
              <a:rPr lang="de-DE" dirty="0" err="1"/>
              <a:t>solution</a:t>
            </a:r>
            <a:endParaRPr lang="de-DE" dirty="0"/>
          </a:p>
          <a:p>
            <a:endParaRPr lang="de-DE" dirty="0"/>
          </a:p>
          <a:p>
            <a:r>
              <a:rPr lang="de-DE" dirty="0"/>
              <a:t>EA </a:t>
            </a:r>
            <a:r>
              <a:rPr lang="de-DE" dirty="0" err="1"/>
              <a:t>solution</a:t>
            </a:r>
            <a:r>
              <a:rPr lang="de-DE" dirty="0"/>
              <a:t> </a:t>
            </a:r>
            <a:r>
              <a:rPr lang="de-DE" dirty="0" err="1"/>
              <a:t>beats</a:t>
            </a:r>
            <a:r>
              <a:rPr lang="de-DE" dirty="0"/>
              <a:t> </a:t>
            </a:r>
            <a:r>
              <a:rPr lang="de-DE" dirty="0" err="1"/>
              <a:t>lookup</a:t>
            </a:r>
            <a:r>
              <a:rPr lang="de-DE" dirty="0"/>
              <a:t> – </a:t>
            </a:r>
            <a:r>
              <a:rPr lang="de-DE" dirty="0" err="1"/>
              <a:t>why</a:t>
            </a:r>
            <a:r>
              <a:rPr lang="de-DE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686251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98806-010B-C150-EF54-E021DF146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2EC67F4-2EFC-1353-53A6-3D1EC34CED8B}"/>
              </a:ext>
            </a:extLst>
          </p:cNvPr>
          <p:cNvSpPr txBox="1"/>
          <p:nvPr/>
        </p:nvSpPr>
        <p:spPr>
          <a:xfrm>
            <a:off x="4354048" y="552450"/>
            <a:ext cx="5643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Current </a:t>
            </a:r>
            <a:r>
              <a:rPr lang="de-DE" dirty="0" err="1"/>
              <a:t>Results</a:t>
            </a:r>
            <a:r>
              <a:rPr lang="de-DE" dirty="0"/>
              <a:t> – </a:t>
            </a:r>
            <a:r>
              <a:rPr lang="de-DE" dirty="0" err="1"/>
              <a:t>Unsupervised</a:t>
            </a:r>
            <a:r>
              <a:rPr lang="de-DE" dirty="0"/>
              <a:t> </a:t>
            </a:r>
            <a:r>
              <a:rPr lang="de-DE" dirty="0" err="1"/>
              <a:t>leraning</a:t>
            </a:r>
            <a:r>
              <a:rPr lang="de-DE" dirty="0"/>
              <a:t> on </a:t>
            </a:r>
            <a:r>
              <a:rPr lang="de-DE" dirty="0" err="1"/>
              <a:t>static</a:t>
            </a:r>
            <a:r>
              <a:rPr lang="de-DE" dirty="0"/>
              <a:t> </a:t>
            </a:r>
            <a:r>
              <a:rPr lang="de-DE" dirty="0" err="1"/>
              <a:t>tasks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3E27FEC-CF18-B41E-767F-E067590DAD6A}"/>
              </a:ext>
            </a:extLst>
          </p:cNvPr>
          <p:cNvSpPr txBox="1"/>
          <p:nvPr/>
        </p:nvSpPr>
        <p:spPr>
          <a:xfrm>
            <a:off x="2362200" y="2717800"/>
            <a:ext cx="846199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Reason: </a:t>
            </a: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exhaustion</a:t>
            </a:r>
            <a:r>
              <a:rPr lang="de-DE" dirty="0"/>
              <a:t> – </a:t>
            </a:r>
            <a:r>
              <a:rPr lang="de-DE" dirty="0" err="1"/>
              <a:t>exploitation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exploration</a:t>
            </a:r>
            <a:r>
              <a:rPr lang="de-DE" dirty="0"/>
              <a:t> not optimal in </a:t>
            </a:r>
            <a:r>
              <a:rPr lang="de-DE" dirty="0" err="1"/>
              <a:t>lookup</a:t>
            </a:r>
            <a:r>
              <a:rPr lang="de-DE" dirty="0"/>
              <a:t> </a:t>
            </a:r>
            <a:r>
              <a:rPr lang="de-DE" dirty="0" err="1"/>
              <a:t>solution</a:t>
            </a:r>
            <a:endParaRPr lang="de-DE" dirty="0"/>
          </a:p>
          <a:p>
            <a:endParaRPr lang="de-DE" dirty="0"/>
          </a:p>
          <a:p>
            <a:r>
              <a:rPr lang="de-DE" dirty="0"/>
              <a:t>Show </a:t>
            </a:r>
            <a:r>
              <a:rPr lang="de-DE" dirty="0" err="1"/>
              <a:t>how</a:t>
            </a:r>
            <a:r>
              <a:rPr lang="de-DE" dirty="0"/>
              <a:t> EA </a:t>
            </a:r>
            <a:r>
              <a:rPr lang="de-DE" dirty="0" err="1"/>
              <a:t>solutions</a:t>
            </a:r>
            <a:r>
              <a:rPr lang="de-DE" dirty="0"/>
              <a:t> </a:t>
            </a:r>
            <a:r>
              <a:rPr lang="de-DE" dirty="0" err="1"/>
              <a:t>solve</a:t>
            </a:r>
            <a:r>
              <a:rPr lang="de-DE" dirty="0"/>
              <a:t> </a:t>
            </a:r>
            <a:r>
              <a:rPr lang="de-DE" dirty="0" err="1"/>
              <a:t>it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Calculate</a:t>
            </a:r>
            <a:r>
              <a:rPr lang="de-DE" dirty="0"/>
              <a:t> </a:t>
            </a:r>
            <a:r>
              <a:rPr lang="de-DE" dirty="0" err="1"/>
              <a:t>exploitation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exploration</a:t>
            </a:r>
            <a:r>
              <a:rPr lang="de-DE" dirty="0"/>
              <a:t> and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comparison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69627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731082E-4466-5528-BC28-6E3503A92BB2}"/>
              </a:ext>
            </a:extLst>
          </p:cNvPr>
          <p:cNvSpPr txBox="1"/>
          <p:nvPr/>
        </p:nvSpPr>
        <p:spPr>
          <a:xfrm>
            <a:off x="5114641" y="495300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Outlook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CAD1419-0DA4-6952-9705-FC6DE9F77D12}"/>
              </a:ext>
            </a:extLst>
          </p:cNvPr>
          <p:cNvSpPr txBox="1"/>
          <p:nvPr/>
        </p:nvSpPr>
        <p:spPr>
          <a:xfrm>
            <a:off x="1587501" y="1435100"/>
            <a:ext cx="744059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Build</a:t>
            </a:r>
            <a:r>
              <a:rPr lang="de-DE" dirty="0"/>
              <a:t> minimal </a:t>
            </a:r>
            <a:r>
              <a:rPr lang="de-DE" dirty="0" err="1"/>
              <a:t>networks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adapt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r>
              <a:rPr lang="de-DE" dirty="0" err="1"/>
              <a:t>never</a:t>
            </a:r>
            <a:r>
              <a:rPr lang="de-DE" dirty="0"/>
              <a:t> </a:t>
            </a:r>
            <a:r>
              <a:rPr lang="de-DE" dirty="0" err="1"/>
              <a:t>explicitly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on, and </a:t>
            </a:r>
            <a:r>
              <a:rPr lang="de-DE" dirty="0" err="1"/>
              <a:t>characterize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structural</a:t>
            </a:r>
            <a:r>
              <a:rPr lang="de-DE" dirty="0"/>
              <a:t> </a:t>
            </a:r>
            <a:r>
              <a:rPr lang="de-DE" dirty="0" err="1"/>
              <a:t>properties</a:t>
            </a:r>
            <a:r>
              <a:rPr lang="de-DE" dirty="0"/>
              <a:t> </a:t>
            </a: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possible.</a:t>
            </a:r>
          </a:p>
          <a:p>
            <a:endParaRPr lang="de-DE" dirty="0"/>
          </a:p>
          <a:p>
            <a:endParaRPr lang="de-DE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Candidate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wiring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motifs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for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targeted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investigation</a:t>
            </a:r>
            <a:r>
              <a:rPr lang="de-DE" dirty="0">
                <a:sym typeface="Wingdings" panose="05000000000000000000" pitchFamily="2" charset="2"/>
              </a:rPr>
              <a:t> in </a:t>
            </a:r>
            <a:r>
              <a:rPr lang="de-DE" dirty="0" err="1">
                <a:sym typeface="Wingdings" panose="05000000000000000000" pitchFamily="2" charset="2"/>
              </a:rPr>
              <a:t>biological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circuits</a:t>
            </a:r>
            <a:r>
              <a:rPr lang="de-DE" dirty="0">
                <a:sym typeface="Wingdings" panose="05000000000000000000" pitchFamily="2" charset="2"/>
              </a:rPr>
              <a:t> / </a:t>
            </a:r>
            <a:r>
              <a:rPr lang="de-DE" dirty="0" err="1">
                <a:sym typeface="Wingdings" panose="05000000000000000000" pitchFamily="2" charset="2"/>
              </a:rPr>
              <a:t>networks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Model </a:t>
            </a:r>
            <a:r>
              <a:rPr lang="de-DE" dirty="0" err="1">
                <a:sym typeface="Wingdings" panose="05000000000000000000" pitchFamily="2" charset="2"/>
              </a:rPr>
              <a:t>for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interpretation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data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from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complex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circuits</a:t>
            </a:r>
            <a:r>
              <a:rPr lang="de-DE" dirty="0">
                <a:sym typeface="Wingdings" panose="05000000000000000000" pitchFamily="2" charset="2"/>
              </a:rPr>
              <a:t> and </a:t>
            </a:r>
            <a:r>
              <a:rPr lang="de-DE" dirty="0" err="1">
                <a:sym typeface="Wingdings" panose="05000000000000000000" pitchFamily="2" charset="2"/>
              </a:rPr>
              <a:t>brains</a:t>
            </a:r>
            <a:endParaRPr lang="de-DE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692034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558</Words>
  <Application>Microsoft Office PowerPoint</Application>
  <PresentationFormat>Breitbild</PresentationFormat>
  <Paragraphs>74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Wingdings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Dahlmanns, Jana</dc:creator>
  <cp:lastModifiedBy>Dahlmanns, Jana</cp:lastModifiedBy>
  <cp:revision>6</cp:revision>
  <dcterms:created xsi:type="dcterms:W3CDTF">2026-05-06T11:26:19Z</dcterms:created>
  <dcterms:modified xsi:type="dcterms:W3CDTF">2026-05-11T10:58:29Z</dcterms:modified>
</cp:coreProperties>
</file>