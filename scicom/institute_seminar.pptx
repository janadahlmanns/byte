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34"/>
  </p:notesMasterIdLst>
  <p:sldIdLst>
    <p:sldId id="256" r:id="rId2"/>
    <p:sldId id="269" r:id="rId3"/>
    <p:sldId id="270" r:id="rId4"/>
    <p:sldId id="271" r:id="rId5"/>
    <p:sldId id="272" r:id="rId6"/>
    <p:sldId id="305" r:id="rId7"/>
    <p:sldId id="291" r:id="rId8"/>
    <p:sldId id="301" r:id="rId9"/>
    <p:sldId id="300" r:id="rId10"/>
    <p:sldId id="303" r:id="rId11"/>
    <p:sldId id="299" r:id="rId12"/>
    <p:sldId id="292" r:id="rId13"/>
    <p:sldId id="293" r:id="rId14"/>
    <p:sldId id="294" r:id="rId15"/>
    <p:sldId id="295" r:id="rId16"/>
    <p:sldId id="296" r:id="rId17"/>
    <p:sldId id="298" r:id="rId18"/>
    <p:sldId id="297" r:id="rId19"/>
    <p:sldId id="307" r:id="rId20"/>
    <p:sldId id="278" r:id="rId21"/>
    <p:sldId id="274" r:id="rId22"/>
    <p:sldId id="275" r:id="rId23"/>
    <p:sldId id="276" r:id="rId24"/>
    <p:sldId id="280" r:id="rId25"/>
    <p:sldId id="281" r:id="rId26"/>
    <p:sldId id="282" r:id="rId27"/>
    <p:sldId id="309" r:id="rId28"/>
    <p:sldId id="284" r:id="rId29"/>
    <p:sldId id="286" r:id="rId30"/>
    <p:sldId id="288" r:id="rId31"/>
    <p:sldId id="310" r:id="rId32"/>
    <p:sldId id="290" r:id="rId3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38117"/>
    <a:srgbClr val="00336E"/>
    <a:srgbClr val="19BDFD"/>
    <a:srgbClr val="969696"/>
    <a:srgbClr val="F8FAFA"/>
    <a:srgbClr val="E3E9EA"/>
    <a:srgbClr val="EAEAEA"/>
    <a:srgbClr val="0034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506" autoAdjust="0"/>
    <p:restoredTop sz="94688" autoAdjust="0"/>
  </p:normalViewPr>
  <p:slideViewPr>
    <p:cSldViewPr snapToGrid="0">
      <p:cViewPr varScale="1">
        <p:scale>
          <a:sx n="103" d="100"/>
          <a:sy n="103" d="100"/>
        </p:scale>
        <p:origin x="900" y="11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5AE30C-70B0-42A3-87DE-9CC4A3E6D756}" type="datetimeFigureOut">
              <a:rPr lang="de-DE" smtClean="0"/>
              <a:t>24.06.2026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810619-8C86-4E95-A074-DA0A2010136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751209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810619-8C86-4E95-A074-DA0A2010136C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397708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810619-8C86-4E95-A074-DA0A2010136C}" type="slidenum">
              <a:rPr lang="de-DE" smtClean="0"/>
              <a:t>24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932384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A70A18-4078-83D1-B218-F36BDBD17D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FEE29E17-4DDA-11F6-3646-6707D6F914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8FB99742-7CAF-4561-57B8-59E788562E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3897533-B574-20EE-9118-6D57A58088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810619-8C86-4E95-A074-DA0A2010136C}" type="slidenum">
              <a:rPr lang="de-DE" smtClean="0"/>
              <a:t>25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806423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437251-5874-E8FE-B80E-CD410130F9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A247E48D-B568-7F9E-368A-DED6544019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343FC30F-FE72-2C10-1BDA-0428F1315E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CCDC335-589C-4989-5811-131C6EB2A8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810619-8C86-4E95-A074-DA0A2010136C}" type="slidenum">
              <a:rPr lang="de-DE" smtClean="0"/>
              <a:t>26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184390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CE8A76-9B3F-B19E-CD37-8E462A2604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6E9EABE0-4D9E-C7E3-FF58-D7E85E7C1E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C73BF1BE-8EE1-E3DF-E495-63E82683DE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CFD7684-7906-360A-8C4E-9CA4E954D7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810619-8C86-4E95-A074-DA0A2010136C}" type="slidenum">
              <a:rPr lang="de-DE" smtClean="0"/>
              <a:t>27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511207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E0123C-1EEF-A07E-2EC6-C6E9F6D2A5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F9C48F53-D774-FCA9-9CC1-2FB5CAB6CC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ED45ACB0-4324-1706-89C1-CF89F16C58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0F44DE6-FECD-A9F8-80C7-DC703B8CD6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810619-8C86-4E95-A074-DA0A2010136C}" type="slidenum">
              <a:rPr lang="de-DE" smtClean="0"/>
              <a:t>28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197416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34F01B-DE0E-3C64-9D06-6DCBDD650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9B359431-5298-F755-9B31-A53A9EBD41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5ECD6EA3-CC9E-EB77-CAE5-D712167DE4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1451646-C5C2-A8F6-2239-1BFB668E96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810619-8C86-4E95-A074-DA0A2010136C}" type="slidenum">
              <a:rPr lang="de-DE" smtClean="0"/>
              <a:t>29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917235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A08A93-3D7E-1624-6151-DF804A6CBB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7FE64DC2-DDB6-5C15-5046-3CFA9DED62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CEC8D6E5-A3E7-F522-9A4A-3A5B9297AD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1CD06A8-EAAC-4800-9E17-457FCD892B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810619-8C86-4E95-A074-DA0A2010136C}" type="slidenum">
              <a:rPr lang="de-DE" smtClean="0"/>
              <a:t>30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658375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85616" y="1122363"/>
            <a:ext cx="5804915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latin typeface="Cormorant Garamond" pitchFamily="2" charset="0"/>
                <a:ea typeface="Cormorant Garamond" pitchFamily="2" charset="0"/>
                <a:cs typeface="Cormorant Garamond" pitchFamily="2" charset="0"/>
              </a:defRPr>
            </a:lvl1pPr>
          </a:lstStyle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85616" y="3602038"/>
            <a:ext cx="5804915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latin typeface="Inter" panose="02000503000000020004" pitchFamily="2" charset="0"/>
                <a:ea typeface="Inter" panose="0200050300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Master-Untertitelformat bearbeiten</a:t>
            </a:r>
            <a:endParaRPr lang="en-US" dirty="0"/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0BE99575-E147-F93F-806D-EFBBEA19C61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294563" y="1122363"/>
            <a:ext cx="4059237" cy="4127966"/>
          </a:xfrm>
          <a:custGeom>
            <a:avLst/>
            <a:gdLst>
              <a:gd name="csX0" fmla="*/ 676553 w 4059237"/>
              <a:gd name="csY0" fmla="*/ 0 h 4127966"/>
              <a:gd name="csX1" fmla="*/ 3382684 w 4059237"/>
              <a:gd name="csY1" fmla="*/ 0 h 4127966"/>
              <a:gd name="csX2" fmla="*/ 4059237 w 4059237"/>
              <a:gd name="csY2" fmla="*/ 676553 h 4127966"/>
              <a:gd name="csX3" fmla="*/ 4059237 w 4059237"/>
              <a:gd name="csY3" fmla="*/ 3451413 h 4127966"/>
              <a:gd name="csX4" fmla="*/ 3382684 w 4059237"/>
              <a:gd name="csY4" fmla="*/ 4127966 h 4127966"/>
              <a:gd name="csX5" fmla="*/ 676553 w 4059237"/>
              <a:gd name="csY5" fmla="*/ 4127966 h 4127966"/>
              <a:gd name="csX6" fmla="*/ 0 w 4059237"/>
              <a:gd name="csY6" fmla="*/ 3451413 h 4127966"/>
              <a:gd name="csX7" fmla="*/ 0 w 4059237"/>
              <a:gd name="csY7" fmla="*/ 676553 h 4127966"/>
              <a:gd name="csX8" fmla="*/ 676553 w 4059237"/>
              <a:gd name="csY8" fmla="*/ 0 h 412796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4059237" h="4127966">
                <a:moveTo>
                  <a:pt x="676553" y="0"/>
                </a:moveTo>
                <a:lnTo>
                  <a:pt x="3382684" y="0"/>
                </a:lnTo>
                <a:cubicBezTo>
                  <a:pt x="3756334" y="0"/>
                  <a:pt x="4059237" y="302903"/>
                  <a:pt x="4059237" y="676553"/>
                </a:cubicBezTo>
                <a:lnTo>
                  <a:pt x="4059237" y="3451413"/>
                </a:lnTo>
                <a:cubicBezTo>
                  <a:pt x="4059237" y="3825063"/>
                  <a:pt x="3756334" y="4127966"/>
                  <a:pt x="3382684" y="4127966"/>
                </a:cubicBezTo>
                <a:lnTo>
                  <a:pt x="676553" y="4127966"/>
                </a:lnTo>
                <a:cubicBezTo>
                  <a:pt x="302903" y="4127966"/>
                  <a:pt x="0" y="3825063"/>
                  <a:pt x="0" y="3451413"/>
                </a:cubicBezTo>
                <a:lnTo>
                  <a:pt x="0" y="676553"/>
                </a:lnTo>
                <a:cubicBezTo>
                  <a:pt x="0" y="302903"/>
                  <a:pt x="302903" y="0"/>
                  <a:pt x="676553" y="0"/>
                </a:cubicBezTo>
                <a:close/>
              </a:path>
            </a:pathLst>
          </a:custGeom>
          <a:effectLst/>
        </p:spPr>
        <p:txBody>
          <a:bodyPr wrap="square">
            <a:noAutofit/>
          </a:bodyPr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826836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ußzeilenplatzhalter 2">
            <a:extLst>
              <a:ext uri="{FF2B5EF4-FFF2-40B4-BE49-F238E27FC236}">
                <a16:creationId xmlns:a16="http://schemas.microsoft.com/office/drawing/2014/main" id="{9B8B73AD-2982-19F2-3ABD-934531529FF4}"/>
              </a:ext>
            </a:extLst>
          </p:cNvPr>
          <p:cNvSpPr txBox="1">
            <a:spLocks/>
          </p:cNvSpPr>
          <p:nvPr userDrawn="1"/>
        </p:nvSpPr>
        <p:spPr>
          <a:xfrm>
            <a:off x="124620" y="6355043"/>
            <a:ext cx="4114800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Dr. Jana Dahlmanns – Jana.Dahlmanns@fau.de</a:t>
            </a:r>
            <a:endParaRPr lang="de-DE" dirty="0"/>
          </a:p>
        </p:txBody>
      </p:sp>
      <p:sp>
        <p:nvSpPr>
          <p:cNvPr id="6" name="Foliennummernplatzhalter 3">
            <a:extLst>
              <a:ext uri="{FF2B5EF4-FFF2-40B4-BE49-F238E27FC236}">
                <a16:creationId xmlns:a16="http://schemas.microsoft.com/office/drawing/2014/main" id="{25FC6924-BD04-6083-6836-29FC3CE4F324}"/>
              </a:ext>
            </a:extLst>
          </p:cNvPr>
          <p:cNvSpPr txBox="1">
            <a:spLocks/>
          </p:cNvSpPr>
          <p:nvPr userDrawn="1"/>
        </p:nvSpPr>
        <p:spPr>
          <a:xfrm>
            <a:off x="11576423" y="6355043"/>
            <a:ext cx="490957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457200" rtl="0" eaLnBrk="1" latinLnBrk="0" hangingPunct="1">
              <a:defRPr lang="de-DE" sz="900" kern="1200" smtClean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01D04CD-A18E-4C48-A0D4-2F175BEDACF1}" type="slidenum">
              <a:rPr lang="de-DE" smtClean="0">
                <a:solidFill>
                  <a:schemeClr val="tx1"/>
                </a:solidFill>
              </a:rPr>
              <a:pPr/>
              <a:t>‹Nr.›</a:t>
            </a:fld>
            <a:endParaRPr lang="de-DE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21217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>
            <a:extLst>
              <a:ext uri="{FF2B5EF4-FFF2-40B4-BE49-F238E27FC236}">
                <a16:creationId xmlns:a16="http://schemas.microsoft.com/office/drawing/2014/main" id="{673D0841-8933-B048-8E03-E226774532B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2A54A9E4-EE66-F758-44D5-96346D1A1BD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212" y="72395"/>
            <a:ext cx="1493506" cy="7168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CFF25FEA-6975-12EF-F27F-76A486B8215C}"/>
              </a:ext>
            </a:extLst>
          </p:cNvPr>
          <p:cNvSpPr txBox="1"/>
          <p:nvPr userDrawn="1"/>
        </p:nvSpPr>
        <p:spPr>
          <a:xfrm>
            <a:off x="1482164" y="215392"/>
            <a:ext cx="166743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50" b="1" dirty="0">
                <a:solidFill>
                  <a:srgbClr val="00336E"/>
                </a:solidFill>
                <a:latin typeface="+mn-lt"/>
              </a:rPr>
              <a:t>Institute </a:t>
            </a:r>
            <a:r>
              <a:rPr lang="de-DE" sz="1050" b="1" dirty="0" err="1">
                <a:solidFill>
                  <a:srgbClr val="00336E"/>
                </a:solidFill>
                <a:latin typeface="+mn-lt"/>
              </a:rPr>
              <a:t>of</a:t>
            </a:r>
            <a:r>
              <a:rPr lang="de-DE" sz="1050" b="1" dirty="0">
                <a:solidFill>
                  <a:srgbClr val="00336E"/>
                </a:solidFill>
                <a:latin typeface="+mn-lt"/>
              </a:rPr>
              <a:t> </a:t>
            </a:r>
            <a:r>
              <a:rPr lang="de-DE" sz="1050" b="1" dirty="0" err="1">
                <a:solidFill>
                  <a:srgbClr val="00336E"/>
                </a:solidFill>
                <a:latin typeface="+mn-lt"/>
              </a:rPr>
              <a:t>Physiology</a:t>
            </a:r>
            <a:r>
              <a:rPr lang="de-DE" sz="1050" b="1" dirty="0">
                <a:solidFill>
                  <a:srgbClr val="00336E"/>
                </a:solidFill>
                <a:latin typeface="+mn-lt"/>
              </a:rPr>
              <a:t> and </a:t>
            </a:r>
            <a:r>
              <a:rPr lang="de-DE" sz="1050" b="1" dirty="0" err="1">
                <a:solidFill>
                  <a:srgbClr val="00336E"/>
                </a:solidFill>
                <a:latin typeface="+mn-lt"/>
              </a:rPr>
              <a:t>Pathophysiology</a:t>
            </a:r>
            <a:endParaRPr lang="de-DE" sz="1050" b="1" dirty="0">
              <a:solidFill>
                <a:srgbClr val="00336E"/>
              </a:solidFill>
              <a:latin typeface="+mn-lt"/>
            </a:endParaRPr>
          </a:p>
        </p:txBody>
      </p:sp>
      <p:sp>
        <p:nvSpPr>
          <p:cNvPr id="11" name="Foliennummernplatzhalter 16">
            <a:extLst>
              <a:ext uri="{FF2B5EF4-FFF2-40B4-BE49-F238E27FC236}">
                <a16:creationId xmlns:a16="http://schemas.microsoft.com/office/drawing/2014/main" id="{3D4F0C7B-2741-632E-C4FE-49651DAB14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6423" y="6355043"/>
            <a:ext cx="49095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de-DE" sz="800" smtClean="0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fld id="{001D04CD-A18E-4C48-A0D4-2F175BEDACF1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376050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9" r:id="rId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microsoft.com/office/2007/relationships/media" Target="../media/media2.mp4"/><Relationship Id="rId7" Type="http://schemas.openxmlformats.org/officeDocument/2006/relationships/image" Target="../media/image32.png"/><Relationship Id="rId2" Type="http://schemas.microsoft.com/office/2007/relationships/media" Target="../media/media1.mp4"/><Relationship Id="rId1" Type="http://schemas.openxmlformats.org/officeDocument/2006/relationships/video" Target="NULL" TargetMode="External"/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2.xml"/><Relationship Id="rId4" Type="http://schemas.openxmlformats.org/officeDocument/2006/relationships/video" Target="../media/media2.mp4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71491F8-65F7-CC05-3D98-4CBA91BF08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85616" y="1122363"/>
            <a:ext cx="5804915" cy="4127966"/>
          </a:xfrm>
          <a:solidFill>
            <a:srgbClr val="F8FAFA">
              <a:alpha val="60000"/>
            </a:srgbClr>
          </a:solidFill>
        </p:spPr>
        <p:txBody>
          <a:bodyPr>
            <a:noAutofit/>
          </a:bodyPr>
          <a:lstStyle/>
          <a:p>
            <a:pPr algn="l"/>
            <a:r>
              <a:rPr lang="de-DE" sz="7200" dirty="0"/>
              <a:t>The Minimum Viable Brain</a:t>
            </a:r>
            <a:br>
              <a:rPr lang="de-DE" sz="7200" dirty="0"/>
            </a:br>
            <a:r>
              <a:rPr lang="en-US" sz="2400" dirty="0">
                <a:latin typeface="+mn-lt"/>
              </a:rPr>
              <a:t>Selection and investigation of unsupervised adaptive learners with minimal neuronal architecture</a:t>
            </a:r>
            <a:br>
              <a:rPr lang="en-US" sz="2400" dirty="0">
                <a:latin typeface="+mn-lt"/>
              </a:rPr>
            </a:br>
            <a:br>
              <a:rPr lang="en-US" sz="2400" dirty="0">
                <a:latin typeface="+mn-lt"/>
              </a:rPr>
            </a:br>
            <a:br>
              <a:rPr lang="en-US" sz="2400" dirty="0">
                <a:latin typeface="+mn-lt"/>
              </a:rPr>
            </a:br>
            <a:r>
              <a:rPr lang="en-US" sz="2400" dirty="0">
                <a:latin typeface="+mn-lt"/>
              </a:rPr>
              <a:t>Dr. Jana Katharina Dahlmanns</a:t>
            </a:r>
            <a:endParaRPr lang="de-DE" sz="2000" dirty="0">
              <a:latin typeface="+mn-lt"/>
            </a:endParaRPr>
          </a:p>
        </p:txBody>
      </p:sp>
      <p:pic>
        <p:nvPicPr>
          <p:cNvPr id="7" name="Bildplatzhalter 6">
            <a:extLst>
              <a:ext uri="{FF2B5EF4-FFF2-40B4-BE49-F238E27FC236}">
                <a16:creationId xmlns:a16="http://schemas.microsoft.com/office/drawing/2014/main" id="{600461AC-BD64-91CB-E13C-A29AB5E33174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59" r="7685"/>
          <a:stretch>
            <a:fillRect/>
          </a:stretch>
        </p:blipFill>
        <p:spPr>
          <a:xfrm flipH="1">
            <a:off x="7294563" y="1122363"/>
            <a:ext cx="4059237" cy="4127966"/>
          </a:xfrm>
          <a:custGeom>
            <a:avLst/>
            <a:gdLst>
              <a:gd name="csX0" fmla="*/ 676553 w 4059237"/>
              <a:gd name="csY0" fmla="*/ 0 h 4127966"/>
              <a:gd name="csX1" fmla="*/ 3382684 w 4059237"/>
              <a:gd name="csY1" fmla="*/ 0 h 4127966"/>
              <a:gd name="csX2" fmla="*/ 4059237 w 4059237"/>
              <a:gd name="csY2" fmla="*/ 676553 h 4127966"/>
              <a:gd name="csX3" fmla="*/ 4059237 w 4059237"/>
              <a:gd name="csY3" fmla="*/ 3451413 h 4127966"/>
              <a:gd name="csX4" fmla="*/ 3382684 w 4059237"/>
              <a:gd name="csY4" fmla="*/ 4127966 h 4127966"/>
              <a:gd name="csX5" fmla="*/ 676553 w 4059237"/>
              <a:gd name="csY5" fmla="*/ 4127966 h 4127966"/>
              <a:gd name="csX6" fmla="*/ 0 w 4059237"/>
              <a:gd name="csY6" fmla="*/ 3451413 h 4127966"/>
              <a:gd name="csX7" fmla="*/ 0 w 4059237"/>
              <a:gd name="csY7" fmla="*/ 676553 h 4127966"/>
              <a:gd name="csX8" fmla="*/ 676553 w 4059237"/>
              <a:gd name="csY8" fmla="*/ 0 h 412796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4059237" h="4127966">
                <a:moveTo>
                  <a:pt x="676553" y="0"/>
                </a:moveTo>
                <a:lnTo>
                  <a:pt x="3382684" y="0"/>
                </a:lnTo>
                <a:cubicBezTo>
                  <a:pt x="3756334" y="0"/>
                  <a:pt x="4059237" y="302903"/>
                  <a:pt x="4059237" y="676553"/>
                </a:cubicBezTo>
                <a:lnTo>
                  <a:pt x="4059237" y="3451413"/>
                </a:lnTo>
                <a:cubicBezTo>
                  <a:pt x="4059237" y="3825063"/>
                  <a:pt x="3756334" y="4127966"/>
                  <a:pt x="3382684" y="4127966"/>
                </a:cubicBezTo>
                <a:lnTo>
                  <a:pt x="676553" y="4127966"/>
                </a:lnTo>
                <a:cubicBezTo>
                  <a:pt x="302903" y="4127966"/>
                  <a:pt x="0" y="3825063"/>
                  <a:pt x="0" y="3451413"/>
                </a:cubicBezTo>
                <a:lnTo>
                  <a:pt x="0" y="676553"/>
                </a:lnTo>
                <a:cubicBezTo>
                  <a:pt x="0" y="302903"/>
                  <a:pt x="302903" y="0"/>
                  <a:pt x="676553" y="0"/>
                </a:cubicBezTo>
                <a:close/>
              </a:path>
            </a:pathLst>
          </a:custGeom>
          <a:effectLst/>
        </p:spPr>
      </p:pic>
    </p:spTree>
    <p:extLst>
      <p:ext uri="{BB962C8B-B14F-4D97-AF65-F5344CB8AC3E}">
        <p14:creationId xmlns:p14="http://schemas.microsoft.com/office/powerpoint/2010/main" val="10799695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>
            <a:extLst>
              <a:ext uri="{FF2B5EF4-FFF2-40B4-BE49-F238E27FC236}">
                <a16:creationId xmlns:a16="http://schemas.microsoft.com/office/drawing/2014/main" id="{77B8E298-A8F0-7CD0-C4E3-0FF7CF5E73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0920" y="457199"/>
            <a:ext cx="3751422" cy="5899152"/>
          </a:xfrm>
          <a:prstGeom prst="rect">
            <a:avLst/>
          </a:prstGeom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053A1720-D4D5-10C6-31F9-DA48E778ADD2}"/>
              </a:ext>
            </a:extLst>
          </p:cNvPr>
          <p:cNvSpPr txBox="1"/>
          <p:nvPr/>
        </p:nvSpPr>
        <p:spPr>
          <a:xfrm>
            <a:off x="7332345" y="6208993"/>
            <a:ext cx="2335572" cy="2203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lnSpc>
                <a:spcPct val="90000"/>
              </a:lnSpc>
              <a:spcBef>
                <a:spcPts val="1000"/>
              </a:spcBef>
            </a:pPr>
            <a:r>
              <a:rPr lang="en-US" sz="6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Photo by Ronan Furuta on </a:t>
            </a:r>
            <a:r>
              <a:rPr lang="en-US" sz="6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Unsplash</a:t>
            </a:r>
            <a:r>
              <a:rPr lang="en-US" sz="6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</a:t>
            </a:r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5A885601-E99D-6AF8-4F44-C8E8455DDD6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1852613"/>
            <a:ext cx="9867900" cy="1325562"/>
          </a:xfrm>
          <a:prstGeom prst="rect">
            <a:avLst/>
          </a:prstGeom>
        </p:spPr>
        <p:txBody>
          <a:bodyPr/>
          <a:lstStyle/>
          <a:p>
            <a:r>
              <a:rPr lang="en-US" dirty="0">
                <a:ln>
                  <a:solidFill>
                    <a:srgbClr val="F8FAFA"/>
                  </a:solidFill>
                </a:ln>
              </a:rPr>
              <a:t>1 - Who here knows how to work a coffee maker?</a:t>
            </a:r>
            <a:endParaRPr lang="de-DE" dirty="0">
              <a:ln>
                <a:solidFill>
                  <a:srgbClr val="F8FAFA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31595374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8C43D71C-448D-4428-94CA-211DE1003A8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1852613"/>
            <a:ext cx="10515600" cy="1325562"/>
          </a:xfrm>
          <a:prstGeom prst="rect">
            <a:avLst/>
          </a:prstGeom>
        </p:spPr>
        <p:txBody>
          <a:bodyPr/>
          <a:lstStyle/>
          <a:p>
            <a:r>
              <a:rPr lang="de-DE" dirty="0">
                <a:ln>
                  <a:solidFill>
                    <a:srgbClr val="F8FAFA"/>
                  </a:solidFill>
                </a:ln>
              </a:rPr>
              <a:t>2 – </a:t>
            </a:r>
            <a:r>
              <a:rPr lang="de-DE" dirty="0" err="1">
                <a:ln>
                  <a:solidFill>
                    <a:srgbClr val="F8FAFA"/>
                  </a:solidFill>
                </a:ln>
              </a:rPr>
              <a:t>Complete</a:t>
            </a:r>
            <a:r>
              <a:rPr lang="de-DE" dirty="0">
                <a:ln>
                  <a:solidFill>
                    <a:srgbClr val="F8FAFA"/>
                  </a:solidFill>
                </a:ln>
              </a:rPr>
              <a:t> </a:t>
            </a:r>
            <a:r>
              <a:rPr lang="de-DE" dirty="0" err="1">
                <a:ln>
                  <a:solidFill>
                    <a:srgbClr val="F8FAFA"/>
                  </a:solidFill>
                </a:ln>
              </a:rPr>
              <a:t>this</a:t>
            </a:r>
            <a:r>
              <a:rPr lang="de-DE" dirty="0">
                <a:ln>
                  <a:solidFill>
                    <a:srgbClr val="F8FAFA"/>
                  </a:solidFill>
                </a:ln>
              </a:rPr>
              <a:t> </a:t>
            </a:r>
            <a:r>
              <a:rPr lang="de-DE" dirty="0" err="1">
                <a:ln>
                  <a:solidFill>
                    <a:srgbClr val="F8FAFA"/>
                  </a:solidFill>
                </a:ln>
              </a:rPr>
              <a:t>sentence</a:t>
            </a:r>
            <a:r>
              <a:rPr lang="de-DE" dirty="0">
                <a:ln>
                  <a:solidFill>
                    <a:srgbClr val="F8FAFA"/>
                  </a:solidFill>
                </a:ln>
              </a:rPr>
              <a:t>: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FFF73255-BFA3-9C8D-01C3-1E61EE9DA9EE}"/>
              </a:ext>
            </a:extLst>
          </p:cNvPr>
          <p:cNvSpPr txBox="1"/>
          <p:nvPr/>
        </p:nvSpPr>
        <p:spPr>
          <a:xfrm>
            <a:off x="1604012" y="3429000"/>
            <a:ext cx="527081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3600" b="1" dirty="0">
                <a:latin typeface="Cormorant Garamond" pitchFamily="2" charset="0"/>
                <a:ea typeface="Cormorant Garamond" pitchFamily="2" charset="0"/>
                <a:cs typeface="Cormorant Garamond" pitchFamily="2" charset="0"/>
              </a:rPr>
              <a:t>The </a:t>
            </a:r>
            <a:r>
              <a:rPr lang="de-DE" sz="3600" b="1" dirty="0" err="1">
                <a:latin typeface="Cormorant Garamond" pitchFamily="2" charset="0"/>
                <a:ea typeface="Cormorant Garamond" pitchFamily="2" charset="0"/>
                <a:cs typeface="Cormorant Garamond" pitchFamily="2" charset="0"/>
              </a:rPr>
              <a:t>weather</a:t>
            </a:r>
            <a:r>
              <a:rPr lang="de-DE" sz="3600" b="1" dirty="0">
                <a:latin typeface="Cormorant Garamond" pitchFamily="2" charset="0"/>
                <a:ea typeface="Cormorant Garamond" pitchFamily="2" charset="0"/>
                <a:cs typeface="Cormorant Garamond" pitchFamily="2" charset="0"/>
              </a:rPr>
              <a:t> outside </a:t>
            </a:r>
            <a:r>
              <a:rPr lang="de-DE" sz="3600" b="1" dirty="0" err="1">
                <a:latin typeface="Cormorant Garamond" pitchFamily="2" charset="0"/>
                <a:ea typeface="Cormorant Garamond" pitchFamily="2" charset="0"/>
                <a:cs typeface="Cormorant Garamond" pitchFamily="2" charset="0"/>
              </a:rPr>
              <a:t>is</a:t>
            </a:r>
            <a:r>
              <a:rPr lang="de-DE" sz="3600" b="1" dirty="0">
                <a:latin typeface="Cormorant Garamond" pitchFamily="2" charset="0"/>
                <a:ea typeface="Cormorant Garamond" pitchFamily="2" charset="0"/>
                <a:cs typeface="Cormorant Garamond" pitchFamily="2" charset="0"/>
              </a:rPr>
              <a:t> nice </a:t>
            </a:r>
            <a:r>
              <a:rPr lang="de-DE" sz="3600" b="1" dirty="0" err="1">
                <a:latin typeface="Cormorant Garamond" pitchFamily="2" charset="0"/>
                <a:ea typeface="Cormorant Garamond" pitchFamily="2" charset="0"/>
                <a:cs typeface="Cormorant Garamond" pitchFamily="2" charset="0"/>
              </a:rPr>
              <a:t>today</a:t>
            </a:r>
            <a:r>
              <a:rPr lang="de-DE" sz="3600" b="1" dirty="0">
                <a:latin typeface="Cormorant Garamond" pitchFamily="2" charset="0"/>
                <a:ea typeface="Cormorant Garamond" pitchFamily="2" charset="0"/>
                <a:cs typeface="Cormorant Garamond" pitchFamily="2" charset="0"/>
              </a:rPr>
              <a:t>, </a:t>
            </a:r>
            <a:r>
              <a:rPr lang="de-DE" sz="3600" b="1" dirty="0" err="1">
                <a:latin typeface="Cormorant Garamond" pitchFamily="2" charset="0"/>
                <a:ea typeface="Cormorant Garamond" pitchFamily="2" charset="0"/>
                <a:cs typeface="Cormorant Garamond" pitchFamily="2" charset="0"/>
              </a:rPr>
              <a:t>the</a:t>
            </a:r>
            <a:r>
              <a:rPr lang="de-DE" sz="3600" b="1" dirty="0">
                <a:latin typeface="Cormorant Garamond" pitchFamily="2" charset="0"/>
                <a:ea typeface="Cormorant Garamond" pitchFamily="2" charset="0"/>
                <a:cs typeface="Cormorant Garamond" pitchFamily="2" charset="0"/>
              </a:rPr>
              <a:t> </a:t>
            </a:r>
            <a:r>
              <a:rPr lang="de-DE" sz="3600" b="1" dirty="0" err="1">
                <a:latin typeface="Cormorant Garamond" pitchFamily="2" charset="0"/>
                <a:ea typeface="Cormorant Garamond" pitchFamily="2" charset="0"/>
                <a:cs typeface="Cormorant Garamond" pitchFamily="2" charset="0"/>
              </a:rPr>
              <a:t>sky</a:t>
            </a:r>
            <a:r>
              <a:rPr lang="de-DE" sz="3600" b="1" dirty="0">
                <a:latin typeface="Cormorant Garamond" pitchFamily="2" charset="0"/>
                <a:ea typeface="Cormorant Garamond" pitchFamily="2" charset="0"/>
                <a:cs typeface="Cormorant Garamond" pitchFamily="2" charset="0"/>
              </a:rPr>
              <a:t> </a:t>
            </a:r>
            <a:r>
              <a:rPr lang="de-DE" sz="3600" b="1" dirty="0" err="1">
                <a:latin typeface="Cormorant Garamond" pitchFamily="2" charset="0"/>
                <a:ea typeface="Cormorant Garamond" pitchFamily="2" charset="0"/>
                <a:cs typeface="Cormorant Garamond" pitchFamily="2" charset="0"/>
              </a:rPr>
              <a:t>is</a:t>
            </a:r>
            <a:r>
              <a:rPr lang="de-DE" sz="3600" b="1" dirty="0">
                <a:latin typeface="Cormorant Garamond" pitchFamily="2" charset="0"/>
                <a:ea typeface="Cormorant Garamond" pitchFamily="2" charset="0"/>
                <a:cs typeface="Cormorant Garamond" pitchFamily="2" charset="0"/>
              </a:rPr>
              <a:t> ________.</a:t>
            </a:r>
          </a:p>
        </p:txBody>
      </p:sp>
    </p:spTree>
    <p:extLst>
      <p:ext uri="{BB962C8B-B14F-4D97-AF65-F5344CB8AC3E}">
        <p14:creationId xmlns:p14="http://schemas.microsoft.com/office/powerpoint/2010/main" val="27781519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B882BF09-1BCC-7BA1-6F10-0045DE590E8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1852613"/>
            <a:ext cx="10515600" cy="1325562"/>
          </a:xfrm>
          <a:prstGeom prst="rect">
            <a:avLst/>
          </a:prstGeom>
        </p:spPr>
        <p:txBody>
          <a:bodyPr/>
          <a:lstStyle/>
          <a:p>
            <a:r>
              <a:rPr lang="de-DE" dirty="0">
                <a:ln>
                  <a:solidFill>
                    <a:srgbClr val="F8FAFA"/>
                  </a:solidFill>
                </a:ln>
              </a:rPr>
              <a:t>3 – Find </a:t>
            </a:r>
            <a:r>
              <a:rPr lang="de-DE" dirty="0" err="1">
                <a:ln>
                  <a:solidFill>
                    <a:srgbClr val="F8FAFA"/>
                  </a:solidFill>
                </a:ln>
              </a:rPr>
              <a:t>the</a:t>
            </a:r>
            <a:r>
              <a:rPr lang="de-DE" dirty="0">
                <a:ln>
                  <a:solidFill>
                    <a:srgbClr val="F8FAFA"/>
                  </a:solidFill>
                </a:ln>
              </a:rPr>
              <a:t> </a:t>
            </a:r>
            <a:r>
              <a:rPr lang="de-DE" dirty="0" err="1">
                <a:ln>
                  <a:solidFill>
                    <a:srgbClr val="F8FAFA"/>
                  </a:solidFill>
                </a:ln>
              </a:rPr>
              <a:t>shortest</a:t>
            </a:r>
            <a:r>
              <a:rPr lang="de-DE" dirty="0">
                <a:ln>
                  <a:solidFill>
                    <a:srgbClr val="F8FAFA"/>
                  </a:solidFill>
                </a:ln>
              </a:rPr>
              <a:t> </a:t>
            </a:r>
            <a:r>
              <a:rPr lang="de-DE" dirty="0" err="1">
                <a:ln>
                  <a:solidFill>
                    <a:srgbClr val="F8FAFA"/>
                  </a:solidFill>
                </a:ln>
              </a:rPr>
              <a:t>path</a:t>
            </a:r>
            <a:r>
              <a:rPr lang="de-DE" dirty="0">
                <a:ln>
                  <a:solidFill>
                    <a:srgbClr val="F8FAFA"/>
                  </a:solidFill>
                </a:ln>
              </a:rPr>
              <a:t> </a:t>
            </a:r>
            <a:r>
              <a:rPr lang="de-DE" dirty="0" err="1">
                <a:ln>
                  <a:solidFill>
                    <a:srgbClr val="F8FAFA"/>
                  </a:solidFill>
                </a:ln>
              </a:rPr>
              <a:t>through</a:t>
            </a:r>
            <a:r>
              <a:rPr lang="de-DE" dirty="0">
                <a:ln>
                  <a:solidFill>
                    <a:srgbClr val="F8FAFA"/>
                  </a:solidFill>
                </a:ln>
              </a:rPr>
              <a:t> </a:t>
            </a:r>
            <a:r>
              <a:rPr lang="de-DE" dirty="0" err="1">
                <a:ln>
                  <a:solidFill>
                    <a:srgbClr val="F8FAFA"/>
                  </a:solidFill>
                </a:ln>
              </a:rPr>
              <a:t>this</a:t>
            </a:r>
            <a:r>
              <a:rPr lang="de-DE" dirty="0">
                <a:ln>
                  <a:solidFill>
                    <a:srgbClr val="F8FAFA"/>
                  </a:solidFill>
                </a:ln>
              </a:rPr>
              <a:t> </a:t>
            </a:r>
            <a:r>
              <a:rPr lang="de-DE" dirty="0" err="1">
                <a:ln>
                  <a:solidFill>
                    <a:srgbClr val="F8FAFA"/>
                  </a:solidFill>
                </a:ln>
              </a:rPr>
              <a:t>maze</a:t>
            </a:r>
            <a:endParaRPr lang="de-DE" dirty="0">
              <a:ln>
                <a:solidFill>
                  <a:srgbClr val="F8FAFA"/>
                </a:solidFill>
              </a:ln>
            </a:endParaRPr>
          </a:p>
        </p:txBody>
      </p:sp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A215C20E-8562-74FD-3B6D-17C83000F011}"/>
              </a:ext>
            </a:extLst>
          </p:cNvPr>
          <p:cNvGrpSpPr/>
          <p:nvPr/>
        </p:nvGrpSpPr>
        <p:grpSpPr>
          <a:xfrm>
            <a:off x="2568471" y="2788398"/>
            <a:ext cx="3346554" cy="3341897"/>
            <a:chOff x="2568471" y="2788398"/>
            <a:chExt cx="3346554" cy="3341897"/>
          </a:xfrm>
        </p:grpSpPr>
        <p:sp>
          <p:nvSpPr>
            <p:cNvPr id="6" name="Rechteck 5">
              <a:extLst>
                <a:ext uri="{FF2B5EF4-FFF2-40B4-BE49-F238E27FC236}">
                  <a16:creationId xmlns:a16="http://schemas.microsoft.com/office/drawing/2014/main" id="{D592D8F9-F8B6-89AE-D7AD-87C487B01E32}"/>
                </a:ext>
              </a:extLst>
            </p:cNvPr>
            <p:cNvSpPr/>
            <p:nvPr/>
          </p:nvSpPr>
          <p:spPr>
            <a:xfrm>
              <a:off x="2571750" y="2790825"/>
              <a:ext cx="3343275" cy="3305175"/>
            </a:xfrm>
            <a:prstGeom prst="rect">
              <a:avLst/>
            </a:prstGeom>
            <a:solidFill>
              <a:srgbClr val="F8FAF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5" name="Grafik 4">
              <a:extLst>
                <a:ext uri="{FF2B5EF4-FFF2-40B4-BE49-F238E27FC236}">
                  <a16:creationId xmlns:a16="http://schemas.microsoft.com/office/drawing/2014/main" id="{B82CF077-A216-89CB-77E8-79BB8DE5618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68471" y="2788398"/>
              <a:ext cx="3341897" cy="334189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119876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feld 17">
            <a:extLst>
              <a:ext uri="{FF2B5EF4-FFF2-40B4-BE49-F238E27FC236}">
                <a16:creationId xmlns:a16="http://schemas.microsoft.com/office/drawing/2014/main" id="{394D528E-5171-252E-4D14-5B2044795F92}"/>
              </a:ext>
            </a:extLst>
          </p:cNvPr>
          <p:cNvSpPr txBox="1"/>
          <p:nvPr/>
        </p:nvSpPr>
        <p:spPr>
          <a:xfrm>
            <a:off x="2966861" y="2127191"/>
            <a:ext cx="625827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4400" dirty="0">
                <a:solidFill>
                  <a:srgbClr val="00336E"/>
                </a:solidFill>
                <a:ea typeface="Cormorant Garamond" pitchFamily="2" charset="0"/>
                <a:cs typeface="Cormorant Garamond" pitchFamily="2" charset="0"/>
              </a:rPr>
              <a:t>Why </a:t>
            </a:r>
            <a:r>
              <a:rPr lang="de-DE" sz="4400" dirty="0" err="1">
                <a:solidFill>
                  <a:srgbClr val="00336E"/>
                </a:solidFill>
                <a:ea typeface="Cormorant Garamond" pitchFamily="2" charset="0"/>
                <a:cs typeface="Cormorant Garamond" pitchFamily="2" charset="0"/>
              </a:rPr>
              <a:t>are</a:t>
            </a:r>
            <a:r>
              <a:rPr lang="de-DE" sz="4400" dirty="0">
                <a:solidFill>
                  <a:srgbClr val="00336E"/>
                </a:solidFill>
                <a:ea typeface="Cormorant Garamond" pitchFamily="2" charset="0"/>
                <a:cs typeface="Cormorant Garamond" pitchFamily="2" charset="0"/>
              </a:rPr>
              <a:t> </a:t>
            </a:r>
            <a:r>
              <a:rPr lang="de-DE" sz="4400" dirty="0" err="1">
                <a:solidFill>
                  <a:srgbClr val="00336E"/>
                </a:solidFill>
                <a:ea typeface="Cormorant Garamond" pitchFamily="2" charset="0"/>
                <a:cs typeface="Cormorant Garamond" pitchFamily="2" charset="0"/>
              </a:rPr>
              <a:t>brains</a:t>
            </a:r>
            <a:r>
              <a:rPr lang="de-DE" sz="4400" dirty="0">
                <a:solidFill>
                  <a:srgbClr val="00336E"/>
                </a:solidFill>
                <a:ea typeface="Cormorant Garamond" pitchFamily="2" charset="0"/>
                <a:cs typeface="Cormorant Garamond" pitchFamily="2" charset="0"/>
              </a:rPr>
              <a:t> so </a:t>
            </a:r>
            <a:r>
              <a:rPr lang="de-DE" sz="4400" dirty="0" err="1">
                <a:solidFill>
                  <a:srgbClr val="00336E"/>
                </a:solidFill>
                <a:ea typeface="Cormorant Garamond" pitchFamily="2" charset="0"/>
                <a:cs typeface="Cormorant Garamond" pitchFamily="2" charset="0"/>
              </a:rPr>
              <a:t>good</a:t>
            </a:r>
            <a:r>
              <a:rPr lang="de-DE" sz="4400" dirty="0">
                <a:solidFill>
                  <a:srgbClr val="00336E"/>
                </a:solidFill>
                <a:ea typeface="Cormorant Garamond" pitchFamily="2" charset="0"/>
                <a:cs typeface="Cormorant Garamond" pitchFamily="2" charset="0"/>
              </a:rPr>
              <a:t> at </a:t>
            </a:r>
          </a:p>
          <a:p>
            <a:pPr algn="ctr"/>
            <a:r>
              <a:rPr lang="de-DE" sz="4400" b="1" dirty="0">
                <a:solidFill>
                  <a:srgbClr val="00336E"/>
                </a:solidFill>
                <a:ea typeface="Cormorant Garamond" pitchFamily="2" charset="0"/>
                <a:cs typeface="Cormorant Garamond" pitchFamily="2" charset="0"/>
              </a:rPr>
              <a:t>flexible </a:t>
            </a:r>
            <a:r>
              <a:rPr lang="de-DE" sz="4400" b="1" dirty="0" err="1">
                <a:solidFill>
                  <a:srgbClr val="00336E"/>
                </a:solidFill>
                <a:ea typeface="Cormorant Garamond" pitchFamily="2" charset="0"/>
                <a:cs typeface="Cormorant Garamond" pitchFamily="2" charset="0"/>
              </a:rPr>
              <a:t>generalization</a:t>
            </a:r>
            <a:r>
              <a:rPr lang="de-DE" sz="4400" b="1" dirty="0">
                <a:solidFill>
                  <a:srgbClr val="00336E"/>
                </a:solidFill>
                <a:ea typeface="Cormorant Garamond" pitchFamily="2" charset="0"/>
                <a:cs typeface="Cormorant Garamond" pitchFamily="2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5011226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DA013F-0D7E-C5E7-5052-FF5FD5A5C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feld 12">
            <a:extLst>
              <a:ext uri="{FF2B5EF4-FFF2-40B4-BE49-F238E27FC236}">
                <a16:creationId xmlns:a16="http://schemas.microsoft.com/office/drawing/2014/main" id="{174F2FF5-0A71-36FE-0A4A-AA422F25F904}"/>
              </a:ext>
            </a:extLst>
          </p:cNvPr>
          <p:cNvSpPr txBox="1"/>
          <p:nvPr/>
        </p:nvSpPr>
        <p:spPr>
          <a:xfrm>
            <a:off x="3405088" y="565843"/>
            <a:ext cx="53818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b="1" dirty="0" err="1">
                <a:solidFill>
                  <a:srgbClr val="00336E"/>
                </a:solidFill>
                <a:ea typeface="Cormorant Garamond" pitchFamily="2" charset="0"/>
                <a:cs typeface="Cormorant Garamond" pitchFamily="2" charset="0"/>
              </a:rPr>
              <a:t>Generalization</a:t>
            </a:r>
            <a:endParaRPr lang="de-DE" sz="2400" b="1" dirty="0">
              <a:solidFill>
                <a:srgbClr val="00336E"/>
              </a:solidFill>
              <a:ea typeface="Cormorant Garamond" pitchFamily="2" charset="0"/>
              <a:cs typeface="Cormorant Garamond" pitchFamily="2" charset="0"/>
            </a:endParaRP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4FE27381-EA4B-BBF7-3F60-7DD1BC52CC55}"/>
              </a:ext>
            </a:extLst>
          </p:cNvPr>
          <p:cNvSpPr txBox="1"/>
          <p:nvPr/>
        </p:nvSpPr>
        <p:spPr>
          <a:xfrm>
            <a:off x="5936343" y="5671949"/>
            <a:ext cx="433471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000" dirty="0"/>
              <a:t>Rohlfs (2025) </a:t>
            </a:r>
            <a:r>
              <a:rPr lang="de-DE" sz="1000" i="1" dirty="0" err="1"/>
              <a:t>Generalization</a:t>
            </a:r>
            <a:r>
              <a:rPr lang="de-DE" sz="1000" i="1" dirty="0"/>
              <a:t> in </a:t>
            </a:r>
            <a:r>
              <a:rPr lang="de-DE" sz="1000" i="1" dirty="0" err="1"/>
              <a:t>neural</a:t>
            </a:r>
            <a:r>
              <a:rPr lang="de-DE" sz="1000" i="1" dirty="0"/>
              <a:t> </a:t>
            </a:r>
            <a:r>
              <a:rPr lang="de-DE" sz="1000" i="1" dirty="0" err="1"/>
              <a:t>networks</a:t>
            </a:r>
            <a:r>
              <a:rPr lang="de-DE" sz="1000" i="1" dirty="0"/>
              <a:t>: A </a:t>
            </a:r>
            <a:r>
              <a:rPr lang="de-DE" sz="1000" i="1" dirty="0" err="1"/>
              <a:t>broad</a:t>
            </a:r>
            <a:r>
              <a:rPr lang="de-DE" sz="1000" i="1" dirty="0"/>
              <a:t> </a:t>
            </a:r>
            <a:r>
              <a:rPr lang="de-DE" sz="1000" i="1" dirty="0" err="1"/>
              <a:t>survey</a:t>
            </a:r>
            <a:r>
              <a:rPr lang="de-DE" sz="1000" i="1" dirty="0"/>
              <a:t>. </a:t>
            </a:r>
            <a:r>
              <a:rPr lang="de-DE" sz="1000" dirty="0" err="1"/>
              <a:t>Neurocomp</a:t>
            </a:r>
            <a:endParaRPr lang="de-DE" sz="1000" dirty="0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5B6A704A-2B85-8ED9-8612-8915383276EE}"/>
              </a:ext>
            </a:extLst>
          </p:cNvPr>
          <p:cNvSpPr txBox="1"/>
          <p:nvPr/>
        </p:nvSpPr>
        <p:spPr>
          <a:xfrm>
            <a:off x="13867366" y="1875235"/>
            <a:ext cx="641032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/>
              <a:t>CHAUDHURY, Subhajit; YAMASAKI, Toshihiko. </a:t>
            </a:r>
            <a:r>
              <a:rPr lang="de-DE" dirty="0" err="1"/>
              <a:t>Investigating</a:t>
            </a:r>
            <a:r>
              <a:rPr lang="de-DE" dirty="0"/>
              <a:t> </a:t>
            </a:r>
            <a:r>
              <a:rPr lang="de-DE" dirty="0" err="1"/>
              <a:t>generalization</a:t>
            </a:r>
            <a:r>
              <a:rPr lang="de-DE" dirty="0"/>
              <a:t> in </a:t>
            </a:r>
            <a:r>
              <a:rPr lang="de-DE" dirty="0" err="1"/>
              <a:t>neural</a:t>
            </a:r>
            <a:r>
              <a:rPr lang="de-DE" dirty="0"/>
              <a:t> </a:t>
            </a:r>
            <a:r>
              <a:rPr lang="de-DE" dirty="0" err="1"/>
              <a:t>networks</a:t>
            </a:r>
            <a:r>
              <a:rPr lang="de-DE" dirty="0"/>
              <a:t> </a:t>
            </a:r>
            <a:r>
              <a:rPr lang="de-DE" dirty="0" err="1"/>
              <a:t>under</a:t>
            </a:r>
            <a:r>
              <a:rPr lang="de-DE" dirty="0"/>
              <a:t> </a:t>
            </a:r>
            <a:r>
              <a:rPr lang="de-DE" dirty="0" err="1"/>
              <a:t>optimally</a:t>
            </a:r>
            <a:r>
              <a:rPr lang="de-DE" dirty="0"/>
              <a:t> </a:t>
            </a:r>
            <a:r>
              <a:rPr lang="de-DE" dirty="0" err="1"/>
              <a:t>evolved</a:t>
            </a:r>
            <a:r>
              <a:rPr lang="de-DE" dirty="0"/>
              <a:t> </a:t>
            </a:r>
            <a:r>
              <a:rPr lang="de-DE" dirty="0" err="1"/>
              <a:t>training</a:t>
            </a:r>
            <a:r>
              <a:rPr lang="de-DE" dirty="0"/>
              <a:t> </a:t>
            </a:r>
            <a:r>
              <a:rPr lang="de-DE" dirty="0" err="1"/>
              <a:t>perturbations</a:t>
            </a:r>
            <a:r>
              <a:rPr lang="de-DE" dirty="0"/>
              <a:t>. In: </a:t>
            </a:r>
            <a:r>
              <a:rPr lang="de-DE" i="1" dirty="0"/>
              <a:t>ICASSP 2020-2020 IEEE International Conference on Acoustics, Speech and Signal Processing (ICASSP)</a:t>
            </a:r>
            <a:r>
              <a:rPr lang="de-DE" dirty="0"/>
              <a:t>. IEEE, 2020. S. 3617-3612.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9B674A6F-906B-616F-C8B2-D744350D178F}"/>
              </a:ext>
            </a:extLst>
          </p:cNvPr>
          <p:cNvSpPr txBox="1"/>
          <p:nvPr/>
        </p:nvSpPr>
        <p:spPr>
          <a:xfrm>
            <a:off x="13867366" y="3942732"/>
            <a:ext cx="64103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/>
              <a:t>JACOBSEN, Jörn-Henrik, et al. </a:t>
            </a:r>
            <a:r>
              <a:rPr lang="de-DE" dirty="0" err="1"/>
              <a:t>Excessive</a:t>
            </a:r>
            <a:r>
              <a:rPr lang="de-DE" dirty="0"/>
              <a:t> </a:t>
            </a:r>
            <a:r>
              <a:rPr lang="de-DE" dirty="0" err="1"/>
              <a:t>invariance</a:t>
            </a:r>
            <a:r>
              <a:rPr lang="de-DE" dirty="0"/>
              <a:t> </a:t>
            </a:r>
            <a:r>
              <a:rPr lang="de-DE" dirty="0" err="1"/>
              <a:t>causes</a:t>
            </a:r>
            <a:r>
              <a:rPr lang="de-DE" dirty="0"/>
              <a:t> </a:t>
            </a:r>
            <a:r>
              <a:rPr lang="de-DE" dirty="0" err="1"/>
              <a:t>adversarial</a:t>
            </a:r>
            <a:r>
              <a:rPr lang="de-DE" dirty="0"/>
              <a:t> </a:t>
            </a:r>
            <a:r>
              <a:rPr lang="de-DE" dirty="0" err="1"/>
              <a:t>vulnerability</a:t>
            </a:r>
            <a:r>
              <a:rPr lang="de-DE" dirty="0"/>
              <a:t>. </a:t>
            </a:r>
            <a:r>
              <a:rPr lang="de-DE" i="1" dirty="0" err="1"/>
              <a:t>arXiv</a:t>
            </a:r>
            <a:r>
              <a:rPr lang="de-DE" i="1" dirty="0"/>
              <a:t> </a:t>
            </a:r>
            <a:r>
              <a:rPr lang="de-DE" i="1" dirty="0" err="1"/>
              <a:t>preprint</a:t>
            </a:r>
            <a:r>
              <a:rPr lang="de-DE" i="1" dirty="0"/>
              <a:t> arXiv:1811.00401</a:t>
            </a:r>
            <a:r>
              <a:rPr lang="de-DE" dirty="0"/>
              <a:t>, 2018.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B578F153-B42E-0E54-CA5C-EED2FE88D1A8}"/>
              </a:ext>
            </a:extLst>
          </p:cNvPr>
          <p:cNvSpPr txBox="1"/>
          <p:nvPr/>
        </p:nvSpPr>
        <p:spPr>
          <a:xfrm>
            <a:off x="13615569" y="5179232"/>
            <a:ext cx="64103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/>
              <a:t>https://proceedings.mlr.press/v97/arora19a.html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75013D52-B2AD-8004-0DC2-D198FDA38BAF}"/>
              </a:ext>
            </a:extLst>
          </p:cNvPr>
          <p:cNvSpPr txBox="1"/>
          <p:nvPr/>
        </p:nvSpPr>
        <p:spPr>
          <a:xfrm>
            <a:off x="14054138" y="6014777"/>
            <a:ext cx="64103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/>
              <a:t>https://arxiv.org/pdf/1802.08760</a:t>
            </a: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9F3E00D8-417B-AC65-7CC4-572BE7889297}"/>
              </a:ext>
            </a:extLst>
          </p:cNvPr>
          <p:cNvSpPr txBox="1"/>
          <p:nvPr/>
        </p:nvSpPr>
        <p:spPr>
          <a:xfrm>
            <a:off x="13867366" y="814040"/>
            <a:ext cx="295336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/>
              <a:t>https://www.sciencedirect.com/science/article/pii/S0925231224014723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B0C76DEA-4739-EFC8-0948-9A42A28140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6373" y="1033177"/>
            <a:ext cx="7799254" cy="4638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7873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feld 12">
            <a:extLst>
              <a:ext uri="{FF2B5EF4-FFF2-40B4-BE49-F238E27FC236}">
                <a16:creationId xmlns:a16="http://schemas.microsoft.com/office/drawing/2014/main" id="{31FFDC38-9DF5-AB6D-9336-E345595430C5}"/>
              </a:ext>
            </a:extLst>
          </p:cNvPr>
          <p:cNvSpPr txBox="1"/>
          <p:nvPr/>
        </p:nvSpPr>
        <p:spPr>
          <a:xfrm>
            <a:off x="3280519" y="565843"/>
            <a:ext cx="56309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>
                <a:solidFill>
                  <a:srgbClr val="00336E"/>
                </a:solidFill>
                <a:ea typeface="Cormorant Garamond" pitchFamily="2" charset="0"/>
                <a:cs typeface="Cormorant Garamond" pitchFamily="2" charset="0"/>
              </a:rPr>
              <a:t>Why Computational </a:t>
            </a:r>
            <a:r>
              <a:rPr lang="de-DE" sz="2400" dirty="0" err="1">
                <a:solidFill>
                  <a:srgbClr val="00336E"/>
                </a:solidFill>
                <a:ea typeface="Cormorant Garamond" pitchFamily="2" charset="0"/>
                <a:cs typeface="Cormorant Garamond" pitchFamily="2" charset="0"/>
              </a:rPr>
              <a:t>Neuroethology</a:t>
            </a:r>
            <a:r>
              <a:rPr lang="de-DE" sz="2400" dirty="0">
                <a:solidFill>
                  <a:srgbClr val="00336E"/>
                </a:solidFill>
                <a:ea typeface="Cormorant Garamond" pitchFamily="2" charset="0"/>
                <a:cs typeface="Cormorant Garamond" pitchFamily="2" charset="0"/>
              </a:rPr>
              <a:t>?</a:t>
            </a:r>
            <a:endParaRPr lang="de-DE" sz="2400" b="1" dirty="0">
              <a:solidFill>
                <a:srgbClr val="00336E"/>
              </a:solidFill>
              <a:ea typeface="Cormorant Garamond" pitchFamily="2" charset="0"/>
              <a:cs typeface="Cormorant Garamond" pitchFamily="2" charset="0"/>
            </a:endParaRP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4EB735F9-87D9-154C-23A9-88E7B3ACCAAE}"/>
              </a:ext>
            </a:extLst>
          </p:cNvPr>
          <p:cNvSpPr txBox="1"/>
          <p:nvPr/>
        </p:nvSpPr>
        <p:spPr>
          <a:xfrm>
            <a:off x="5857962" y="6219478"/>
            <a:ext cx="545773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000" dirty="0"/>
              <a:t>Hillel </a:t>
            </a:r>
            <a:r>
              <a:rPr lang="de-DE" sz="1000" dirty="0" err="1"/>
              <a:t>Chiel</a:t>
            </a:r>
            <a:r>
              <a:rPr lang="de-DE" sz="1000" dirty="0"/>
              <a:t> &amp; Randall Beer (1997)</a:t>
            </a:r>
            <a:r>
              <a:rPr lang="en-US" sz="1000" dirty="0"/>
              <a:t> </a:t>
            </a:r>
            <a:r>
              <a:rPr lang="en-US" sz="1000" i="1" dirty="0"/>
              <a:t>The brain has a body: adaptive behavior </a:t>
            </a:r>
          </a:p>
          <a:p>
            <a:r>
              <a:rPr lang="en-US" sz="1000" i="1" dirty="0"/>
              <a:t>emerges from interactions of nervous system, body and environment</a:t>
            </a:r>
            <a:r>
              <a:rPr lang="de-DE" sz="1000" i="1" dirty="0"/>
              <a:t>. </a:t>
            </a:r>
            <a:r>
              <a:rPr lang="de-DE" sz="1000" dirty="0"/>
              <a:t>Trends </a:t>
            </a:r>
            <a:r>
              <a:rPr lang="de-DE" sz="1000" dirty="0" err="1"/>
              <a:t>Neurosci</a:t>
            </a:r>
            <a:endParaRPr lang="de-DE" sz="1000" dirty="0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772F086E-DF5C-9FC2-E337-4FCE41F1C92C}"/>
              </a:ext>
            </a:extLst>
          </p:cNvPr>
          <p:cNvSpPr txBox="1"/>
          <p:nvPr/>
        </p:nvSpPr>
        <p:spPr>
          <a:xfrm>
            <a:off x="1998980" y="1263023"/>
            <a:ext cx="7609840" cy="46136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de-DE" i="1" dirty="0">
                <a:effectLst/>
              </a:rPr>
              <a:t>Studies </a:t>
            </a:r>
            <a:r>
              <a:rPr lang="de-DE" i="1" dirty="0" err="1">
                <a:effectLst/>
              </a:rPr>
              <a:t>of</a:t>
            </a:r>
            <a:r>
              <a:rPr lang="de-DE" i="1" dirty="0">
                <a:effectLst/>
              </a:rPr>
              <a:t> </a:t>
            </a:r>
            <a:r>
              <a:rPr lang="de-DE" i="1" dirty="0" err="1">
                <a:effectLst/>
              </a:rPr>
              <a:t>mechanisms</a:t>
            </a:r>
            <a:r>
              <a:rPr lang="de-DE" i="1" dirty="0">
                <a:effectLst/>
              </a:rPr>
              <a:t> </a:t>
            </a:r>
            <a:r>
              <a:rPr lang="de-DE" i="1" dirty="0" err="1">
                <a:effectLst/>
              </a:rPr>
              <a:t>of</a:t>
            </a:r>
            <a:r>
              <a:rPr lang="de-DE" i="1" dirty="0">
                <a:effectLst/>
              </a:rPr>
              <a:t> adaptive </a:t>
            </a:r>
            <a:r>
              <a:rPr lang="de-DE" i="1" dirty="0" err="1">
                <a:effectLst/>
              </a:rPr>
              <a:t>behavior</a:t>
            </a:r>
            <a:r>
              <a:rPr lang="de-DE" i="1" dirty="0">
                <a:effectLst/>
              </a:rPr>
              <a:t> </a:t>
            </a:r>
            <a:r>
              <a:rPr lang="de-DE" i="1" dirty="0" err="1">
                <a:effectLst/>
              </a:rPr>
              <a:t>generally</a:t>
            </a:r>
            <a:r>
              <a:rPr lang="de-DE" i="1" dirty="0">
                <a:effectLst/>
              </a:rPr>
              <a:t> </a:t>
            </a:r>
            <a:r>
              <a:rPr lang="de-DE" i="1" dirty="0" err="1">
                <a:effectLst/>
              </a:rPr>
              <a:t>focus</a:t>
            </a:r>
            <a:r>
              <a:rPr lang="de-DE" i="1" dirty="0">
                <a:effectLst/>
              </a:rPr>
              <a:t> on </a:t>
            </a:r>
            <a:r>
              <a:rPr lang="de-DE" i="1" dirty="0" err="1">
                <a:effectLst/>
              </a:rPr>
              <a:t>neurons</a:t>
            </a:r>
            <a:r>
              <a:rPr lang="de-DE" i="1" dirty="0">
                <a:effectLst/>
              </a:rPr>
              <a:t> and </a:t>
            </a:r>
            <a:r>
              <a:rPr lang="de-DE" i="1" dirty="0" err="1">
                <a:effectLst/>
              </a:rPr>
              <a:t>circuits</a:t>
            </a:r>
            <a:r>
              <a:rPr lang="de-DE" i="1" dirty="0">
                <a:effectLst/>
              </a:rPr>
              <a:t>. </a:t>
            </a:r>
            <a:br>
              <a:rPr lang="de-DE" i="1" dirty="0">
                <a:effectLst/>
              </a:rPr>
            </a:br>
            <a:r>
              <a:rPr lang="de-DE" i="1" dirty="0">
                <a:effectLst/>
              </a:rPr>
              <a:t>But adaptive </a:t>
            </a:r>
            <a:r>
              <a:rPr lang="de-DE" i="1" dirty="0" err="1">
                <a:effectLst/>
              </a:rPr>
              <a:t>behavior</a:t>
            </a:r>
            <a:r>
              <a:rPr lang="de-DE" i="1" dirty="0">
                <a:effectLst/>
              </a:rPr>
              <a:t> </a:t>
            </a:r>
            <a:r>
              <a:rPr lang="de-DE" b="1" i="1" dirty="0">
                <a:effectLst/>
              </a:rPr>
              <a:t>also </a:t>
            </a:r>
            <a:r>
              <a:rPr lang="de-DE" b="1" i="1" dirty="0" err="1">
                <a:effectLst/>
              </a:rPr>
              <a:t>depends</a:t>
            </a:r>
            <a:r>
              <a:rPr lang="de-DE" b="1" i="1" dirty="0">
                <a:effectLst/>
              </a:rPr>
              <a:t> on </a:t>
            </a:r>
            <a:r>
              <a:rPr lang="de-DE" b="1" i="1" dirty="0" err="1">
                <a:effectLst/>
              </a:rPr>
              <a:t>interactions</a:t>
            </a:r>
            <a:r>
              <a:rPr lang="de-DE" b="1" i="1" dirty="0">
                <a:effectLst/>
              </a:rPr>
              <a:t> </a:t>
            </a:r>
            <a:r>
              <a:rPr lang="de-DE" b="1" i="1" dirty="0" err="1">
                <a:effectLst/>
              </a:rPr>
              <a:t>among</a:t>
            </a:r>
            <a:r>
              <a:rPr lang="de-DE" b="1" i="1" dirty="0">
                <a:effectLst/>
              </a:rPr>
              <a:t> </a:t>
            </a:r>
            <a:r>
              <a:rPr lang="de-DE" b="1" i="1" dirty="0" err="1">
                <a:effectLst/>
              </a:rPr>
              <a:t>the</a:t>
            </a:r>
            <a:r>
              <a:rPr lang="de-DE" b="1" i="1" dirty="0">
                <a:effectLst/>
              </a:rPr>
              <a:t> </a:t>
            </a:r>
            <a:r>
              <a:rPr lang="de-DE" b="1" i="1" dirty="0" err="1">
                <a:effectLst/>
              </a:rPr>
              <a:t>nervous</a:t>
            </a:r>
            <a:r>
              <a:rPr lang="de-DE" b="1" i="1" dirty="0">
                <a:effectLst/>
              </a:rPr>
              <a:t> </a:t>
            </a:r>
            <a:r>
              <a:rPr lang="de-DE" b="1" i="1" dirty="0" err="1">
                <a:effectLst/>
              </a:rPr>
              <a:t>system</a:t>
            </a:r>
            <a:r>
              <a:rPr lang="de-DE" b="1" i="1" dirty="0">
                <a:effectLst/>
              </a:rPr>
              <a:t>, </a:t>
            </a:r>
            <a:r>
              <a:rPr lang="de-DE" b="1" i="1" dirty="0" err="1">
                <a:effectLst/>
              </a:rPr>
              <a:t>body</a:t>
            </a:r>
            <a:r>
              <a:rPr lang="de-DE" b="1" i="1" dirty="0">
                <a:effectLst/>
              </a:rPr>
              <a:t> and </a:t>
            </a:r>
            <a:r>
              <a:rPr lang="de-DE" b="1" i="1" dirty="0" err="1">
                <a:effectLst/>
              </a:rPr>
              <a:t>environment</a:t>
            </a:r>
            <a:r>
              <a:rPr lang="de-DE" i="1" dirty="0">
                <a:effectLst/>
              </a:rPr>
              <a:t>: </a:t>
            </a:r>
            <a:br>
              <a:rPr lang="de-DE" i="1" dirty="0">
                <a:effectLst/>
              </a:rPr>
            </a:br>
            <a:r>
              <a:rPr lang="de-DE" i="1" dirty="0" err="1">
                <a:effectLst/>
              </a:rPr>
              <a:t>sensory</a:t>
            </a:r>
            <a:r>
              <a:rPr lang="de-DE" i="1" dirty="0">
                <a:effectLst/>
              </a:rPr>
              <a:t> </a:t>
            </a:r>
            <a:r>
              <a:rPr lang="de-DE" i="1" dirty="0" err="1">
                <a:effectLst/>
              </a:rPr>
              <a:t>preprocessing</a:t>
            </a:r>
            <a:r>
              <a:rPr lang="de-DE" i="1" dirty="0">
                <a:effectLst/>
              </a:rPr>
              <a:t> and </a:t>
            </a:r>
            <a:r>
              <a:rPr lang="de-DE" i="1" dirty="0" err="1">
                <a:effectLst/>
              </a:rPr>
              <a:t>motor</a:t>
            </a:r>
            <a:r>
              <a:rPr lang="de-DE" i="1" dirty="0">
                <a:effectLst/>
              </a:rPr>
              <a:t> post-</a:t>
            </a:r>
            <a:r>
              <a:rPr lang="de-DE" i="1" dirty="0" err="1">
                <a:effectLst/>
              </a:rPr>
              <a:t>processing</a:t>
            </a:r>
            <a:r>
              <a:rPr lang="de-DE" i="1" dirty="0">
                <a:effectLst/>
              </a:rPr>
              <a:t> </a:t>
            </a:r>
            <a:r>
              <a:rPr lang="de-DE" i="1" dirty="0" err="1">
                <a:effectLst/>
              </a:rPr>
              <a:t>filter</a:t>
            </a:r>
            <a:r>
              <a:rPr lang="de-DE" i="1" dirty="0">
                <a:effectLst/>
              </a:rPr>
              <a:t> </a:t>
            </a:r>
            <a:r>
              <a:rPr lang="de-DE" i="1" dirty="0" err="1">
                <a:effectLst/>
              </a:rPr>
              <a:t>inputs</a:t>
            </a:r>
            <a:r>
              <a:rPr lang="de-DE" i="1" dirty="0">
                <a:effectLst/>
              </a:rPr>
              <a:t> </a:t>
            </a:r>
            <a:r>
              <a:rPr lang="de-DE" i="1" dirty="0" err="1">
                <a:effectLst/>
              </a:rPr>
              <a:t>to</a:t>
            </a:r>
            <a:r>
              <a:rPr lang="de-DE" i="1" dirty="0">
                <a:effectLst/>
              </a:rPr>
              <a:t> and </a:t>
            </a:r>
            <a:r>
              <a:rPr lang="de-DE" i="1" dirty="0" err="1">
                <a:effectLst/>
              </a:rPr>
              <a:t>outputs</a:t>
            </a:r>
            <a:r>
              <a:rPr lang="de-DE" i="1" dirty="0">
                <a:effectLst/>
              </a:rPr>
              <a:t> </a:t>
            </a:r>
            <a:r>
              <a:rPr lang="de-DE" i="1" dirty="0" err="1">
                <a:effectLst/>
              </a:rPr>
              <a:t>from</a:t>
            </a:r>
            <a:r>
              <a:rPr lang="de-DE" i="1" dirty="0">
                <a:effectLst/>
              </a:rPr>
              <a:t> </a:t>
            </a:r>
            <a:r>
              <a:rPr lang="de-DE" i="1" dirty="0" err="1">
                <a:effectLst/>
              </a:rPr>
              <a:t>the</a:t>
            </a:r>
            <a:r>
              <a:rPr lang="de-DE" i="1" dirty="0">
                <a:effectLst/>
              </a:rPr>
              <a:t> </a:t>
            </a:r>
            <a:r>
              <a:rPr lang="de-DE" i="1" dirty="0" err="1">
                <a:effectLst/>
              </a:rPr>
              <a:t>nervous</a:t>
            </a:r>
            <a:r>
              <a:rPr lang="de-DE" i="1" dirty="0">
                <a:effectLst/>
              </a:rPr>
              <a:t> </a:t>
            </a:r>
            <a:r>
              <a:rPr lang="de-DE" i="1" dirty="0" err="1">
                <a:effectLst/>
              </a:rPr>
              <a:t>system</a:t>
            </a:r>
            <a:r>
              <a:rPr lang="de-DE" i="1" dirty="0"/>
              <a:t> […] </a:t>
            </a:r>
            <a:r>
              <a:rPr lang="de-DE" i="1" dirty="0">
                <a:effectLst/>
              </a:rPr>
              <a:t>and </a:t>
            </a:r>
            <a:r>
              <a:rPr lang="de-DE" b="1" i="1" dirty="0" err="1">
                <a:effectLst/>
              </a:rPr>
              <a:t>continuous</a:t>
            </a:r>
            <a:r>
              <a:rPr lang="de-DE" b="1" i="1" dirty="0">
                <a:effectLst/>
              </a:rPr>
              <a:t> </a:t>
            </a:r>
            <a:r>
              <a:rPr lang="de-DE" b="1" i="1" dirty="0" err="1">
                <a:effectLst/>
              </a:rPr>
              <a:t>feedback</a:t>
            </a:r>
            <a:r>
              <a:rPr lang="de-DE" b="1" i="1" dirty="0">
                <a:effectLst/>
              </a:rPr>
              <a:t> </a:t>
            </a:r>
            <a:r>
              <a:rPr lang="de-DE" b="1" i="1" dirty="0" err="1">
                <a:effectLst/>
              </a:rPr>
              <a:t>between</a:t>
            </a:r>
            <a:r>
              <a:rPr lang="de-DE" b="1" i="1" dirty="0">
                <a:effectLst/>
              </a:rPr>
              <a:t> </a:t>
            </a:r>
            <a:r>
              <a:rPr lang="de-DE" b="1" i="1" dirty="0" err="1">
                <a:effectLst/>
              </a:rPr>
              <a:t>nervous</a:t>
            </a:r>
            <a:r>
              <a:rPr lang="de-DE" b="1" i="1" dirty="0">
                <a:effectLst/>
              </a:rPr>
              <a:t> </a:t>
            </a:r>
            <a:r>
              <a:rPr lang="de-DE" b="1" i="1" dirty="0" err="1">
                <a:effectLst/>
              </a:rPr>
              <a:t>system</a:t>
            </a:r>
            <a:r>
              <a:rPr lang="de-DE" b="1" i="1" dirty="0">
                <a:effectLst/>
              </a:rPr>
              <a:t>, </a:t>
            </a:r>
            <a:r>
              <a:rPr lang="de-DE" b="1" i="1" dirty="0" err="1">
                <a:effectLst/>
              </a:rPr>
              <a:t>body</a:t>
            </a:r>
            <a:r>
              <a:rPr lang="de-DE" b="1" i="1" dirty="0">
                <a:effectLst/>
              </a:rPr>
              <a:t> and </a:t>
            </a:r>
            <a:r>
              <a:rPr lang="de-DE" b="1" i="1" dirty="0" err="1">
                <a:effectLst/>
              </a:rPr>
              <a:t>environment</a:t>
            </a:r>
            <a:r>
              <a:rPr lang="de-DE" b="1" i="1" dirty="0">
                <a:effectLst/>
              </a:rPr>
              <a:t> </a:t>
            </a:r>
            <a:r>
              <a:rPr lang="de-DE" b="1" i="1" dirty="0" err="1">
                <a:effectLst/>
              </a:rPr>
              <a:t>are</a:t>
            </a:r>
            <a:r>
              <a:rPr lang="de-DE" b="1" i="1" dirty="0">
                <a:effectLst/>
              </a:rPr>
              <a:t> essential </a:t>
            </a:r>
            <a:r>
              <a:rPr lang="de-DE" b="1" i="1" dirty="0" err="1">
                <a:effectLst/>
              </a:rPr>
              <a:t>for</a:t>
            </a:r>
            <a:r>
              <a:rPr lang="de-DE" b="1" i="1" dirty="0">
                <a:effectLst/>
              </a:rPr>
              <a:t> normal </a:t>
            </a:r>
            <a:r>
              <a:rPr lang="de-DE" b="1" i="1" dirty="0" err="1">
                <a:effectLst/>
              </a:rPr>
              <a:t>behavior</a:t>
            </a:r>
            <a:r>
              <a:rPr lang="de-DE" i="1" dirty="0">
                <a:effectLst/>
              </a:rPr>
              <a:t>. </a:t>
            </a:r>
            <a:r>
              <a:rPr lang="de-DE" i="1" dirty="0"/>
              <a:t>[…] </a:t>
            </a:r>
            <a:br>
              <a:rPr lang="de-DE" b="1" i="1" dirty="0"/>
            </a:br>
            <a:r>
              <a:rPr lang="de-DE" b="1" i="1" dirty="0">
                <a:effectLst/>
              </a:rPr>
              <a:t>Computational </a:t>
            </a:r>
            <a:r>
              <a:rPr lang="de-DE" b="1" i="1" dirty="0" err="1">
                <a:effectLst/>
              </a:rPr>
              <a:t>neuroethology</a:t>
            </a:r>
            <a:r>
              <a:rPr lang="de-DE" b="1" i="1" dirty="0">
                <a:effectLst/>
              </a:rPr>
              <a:t>, </a:t>
            </a:r>
            <a:r>
              <a:rPr lang="de-DE" b="1" i="1" dirty="0" err="1">
                <a:effectLst/>
              </a:rPr>
              <a:t>which</a:t>
            </a:r>
            <a:r>
              <a:rPr lang="de-DE" b="1" i="1" dirty="0">
                <a:effectLst/>
              </a:rPr>
              <a:t> </a:t>
            </a:r>
            <a:r>
              <a:rPr lang="de-DE" b="1" i="1" dirty="0" err="1">
                <a:effectLst/>
              </a:rPr>
              <a:t>jointly</a:t>
            </a:r>
            <a:r>
              <a:rPr lang="de-DE" b="1" i="1" dirty="0">
                <a:effectLst/>
              </a:rPr>
              <a:t> </a:t>
            </a:r>
            <a:r>
              <a:rPr lang="de-DE" b="1" i="1" dirty="0" err="1">
                <a:effectLst/>
              </a:rPr>
              <a:t>models</a:t>
            </a:r>
            <a:r>
              <a:rPr lang="de-DE" b="1" i="1" dirty="0">
                <a:effectLst/>
              </a:rPr>
              <a:t> </a:t>
            </a:r>
            <a:r>
              <a:rPr lang="de-DE" b="1" i="1" dirty="0" err="1">
                <a:effectLst/>
              </a:rPr>
              <a:t>neural</a:t>
            </a:r>
            <a:r>
              <a:rPr lang="de-DE" b="1" i="1" dirty="0">
                <a:effectLst/>
              </a:rPr>
              <a:t> </a:t>
            </a:r>
            <a:r>
              <a:rPr lang="de-DE" b="1" i="1" dirty="0" err="1">
                <a:effectLst/>
              </a:rPr>
              <a:t>control</a:t>
            </a:r>
            <a:r>
              <a:rPr lang="de-DE" b="1" i="1" dirty="0">
                <a:effectLst/>
              </a:rPr>
              <a:t> and </a:t>
            </a:r>
            <a:r>
              <a:rPr lang="de-DE" b="1" i="1" dirty="0" err="1">
                <a:effectLst/>
              </a:rPr>
              <a:t>periphery</a:t>
            </a:r>
            <a:r>
              <a:rPr lang="de-DE" b="1" i="1" dirty="0">
                <a:effectLst/>
              </a:rPr>
              <a:t> </a:t>
            </a:r>
            <a:r>
              <a:rPr lang="de-DE" b="1" i="1" dirty="0" err="1">
                <a:effectLst/>
              </a:rPr>
              <a:t>of</a:t>
            </a:r>
            <a:r>
              <a:rPr lang="de-DE" b="1" i="1" dirty="0">
                <a:effectLst/>
              </a:rPr>
              <a:t> </a:t>
            </a:r>
            <a:r>
              <a:rPr lang="de-DE" b="1" i="1" dirty="0" err="1">
                <a:effectLst/>
              </a:rPr>
              <a:t>animals</a:t>
            </a:r>
            <a:r>
              <a:rPr lang="de-DE" b="1" i="1" dirty="0">
                <a:effectLst/>
              </a:rPr>
              <a:t>, </a:t>
            </a:r>
            <a:r>
              <a:rPr lang="de-DE" b="1" i="1" dirty="0" err="1">
                <a:effectLst/>
              </a:rPr>
              <a:t>is</a:t>
            </a:r>
            <a:r>
              <a:rPr lang="de-DE" b="1" i="1" dirty="0">
                <a:effectLst/>
              </a:rPr>
              <a:t> a promising </a:t>
            </a:r>
            <a:r>
              <a:rPr lang="de-DE" b="1" i="1" dirty="0" err="1">
                <a:effectLst/>
              </a:rPr>
              <a:t>methodology</a:t>
            </a:r>
            <a:r>
              <a:rPr lang="de-DE" b="1" i="1" dirty="0">
                <a:effectLst/>
              </a:rPr>
              <a:t> </a:t>
            </a:r>
            <a:r>
              <a:rPr lang="de-DE" b="1" i="1" dirty="0" err="1">
                <a:effectLst/>
              </a:rPr>
              <a:t>for</a:t>
            </a:r>
            <a:r>
              <a:rPr lang="de-DE" b="1" i="1" dirty="0">
                <a:effectLst/>
              </a:rPr>
              <a:t> </a:t>
            </a:r>
            <a:r>
              <a:rPr lang="de-DE" b="1" i="1" dirty="0" err="1">
                <a:effectLst/>
              </a:rPr>
              <a:t>understanding</a:t>
            </a:r>
            <a:r>
              <a:rPr lang="de-DE" b="1" i="1" dirty="0">
                <a:effectLst/>
              </a:rPr>
              <a:t> adaptive </a:t>
            </a:r>
            <a:r>
              <a:rPr lang="de-DE" b="1" i="1" dirty="0" err="1">
                <a:effectLst/>
              </a:rPr>
              <a:t>behavior</a:t>
            </a:r>
            <a:r>
              <a:rPr lang="de-DE" i="1" dirty="0">
                <a:effectLst/>
              </a:rPr>
              <a:t>. </a:t>
            </a:r>
            <a:endParaRPr lang="de-DE" i="1" dirty="0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F2608F7A-583B-6643-EF69-25DFA3540695}"/>
              </a:ext>
            </a:extLst>
          </p:cNvPr>
          <p:cNvSpPr txBox="1"/>
          <p:nvPr/>
        </p:nvSpPr>
        <p:spPr>
          <a:xfrm>
            <a:off x="330200" y="-1024957"/>
            <a:ext cx="1492250" cy="37702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3900" dirty="0">
                <a:latin typeface="Bell MT" panose="02020503060305020303" pitchFamily="18" charset="0"/>
              </a:rPr>
              <a:t>„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40613E2B-0CDB-45CA-183E-DA31CBD4D1D2}"/>
              </a:ext>
            </a:extLst>
          </p:cNvPr>
          <p:cNvSpPr txBox="1"/>
          <p:nvPr/>
        </p:nvSpPr>
        <p:spPr>
          <a:xfrm>
            <a:off x="9446895" y="2649270"/>
            <a:ext cx="1492250" cy="37702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3900" dirty="0">
                <a:latin typeface="Bell MT" panose="02020503060305020303" pitchFamily="18" charset="0"/>
              </a:rPr>
              <a:t>„</a:t>
            </a:r>
          </a:p>
        </p:txBody>
      </p:sp>
    </p:spTree>
    <p:extLst>
      <p:ext uri="{BB962C8B-B14F-4D97-AF65-F5344CB8AC3E}">
        <p14:creationId xmlns:p14="http://schemas.microsoft.com/office/powerpoint/2010/main" val="7463787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6" grpId="0"/>
      <p:bldP spid="2" grpId="0"/>
      <p:bldP spid="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D8553E-9D3F-F008-5388-CE7842BF8F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feld 12">
            <a:extLst>
              <a:ext uri="{FF2B5EF4-FFF2-40B4-BE49-F238E27FC236}">
                <a16:creationId xmlns:a16="http://schemas.microsoft.com/office/drawing/2014/main" id="{3ACB6C97-6C8B-DB52-3A1F-224D4922D997}"/>
              </a:ext>
            </a:extLst>
          </p:cNvPr>
          <p:cNvSpPr txBox="1"/>
          <p:nvPr/>
        </p:nvSpPr>
        <p:spPr>
          <a:xfrm>
            <a:off x="3280519" y="565843"/>
            <a:ext cx="56309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>
                <a:solidFill>
                  <a:srgbClr val="00336E"/>
                </a:solidFill>
                <a:ea typeface="Cormorant Garamond" pitchFamily="2" charset="0"/>
                <a:cs typeface="Cormorant Garamond" pitchFamily="2" charset="0"/>
              </a:rPr>
              <a:t>Models </a:t>
            </a:r>
            <a:r>
              <a:rPr lang="de-DE" sz="2400" dirty="0" err="1">
                <a:solidFill>
                  <a:srgbClr val="00336E"/>
                </a:solidFill>
                <a:ea typeface="Cormorant Garamond" pitchFamily="2" charset="0"/>
                <a:cs typeface="Cormorant Garamond" pitchFamily="2" charset="0"/>
              </a:rPr>
              <a:t>of</a:t>
            </a:r>
            <a:r>
              <a:rPr lang="de-DE" sz="2400" dirty="0">
                <a:solidFill>
                  <a:srgbClr val="00336E"/>
                </a:solidFill>
                <a:ea typeface="Cormorant Garamond" pitchFamily="2" charset="0"/>
                <a:cs typeface="Cormorant Garamond" pitchFamily="2" charset="0"/>
              </a:rPr>
              <a:t> Minimal </a:t>
            </a:r>
            <a:r>
              <a:rPr lang="de-DE" sz="2400" dirty="0" err="1">
                <a:solidFill>
                  <a:srgbClr val="00336E"/>
                </a:solidFill>
                <a:ea typeface="Cormorant Garamond" pitchFamily="2" charset="0"/>
                <a:cs typeface="Cormorant Garamond" pitchFamily="2" charset="0"/>
              </a:rPr>
              <a:t>Cognition</a:t>
            </a:r>
            <a:endParaRPr lang="de-DE" sz="2400" b="1" dirty="0">
              <a:solidFill>
                <a:srgbClr val="00336E"/>
              </a:solidFill>
              <a:ea typeface="Cormorant Garamond" pitchFamily="2" charset="0"/>
              <a:cs typeface="Cormorant Garamond" pitchFamily="2" charset="0"/>
            </a:endParaRP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1FA18254-BE04-EC4F-FC2D-F332E22A4143}"/>
              </a:ext>
            </a:extLst>
          </p:cNvPr>
          <p:cNvSpPr txBox="1"/>
          <p:nvPr/>
        </p:nvSpPr>
        <p:spPr>
          <a:xfrm>
            <a:off x="6858000" y="6009937"/>
            <a:ext cx="514236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000" dirty="0"/>
              <a:t>Zhao, M., Wang, N., Jiang, X. et al. (2024)</a:t>
            </a:r>
            <a:r>
              <a:rPr lang="en-US" sz="1000" dirty="0"/>
              <a:t> </a:t>
            </a:r>
            <a:r>
              <a:rPr lang="en-US" sz="1000" i="1" dirty="0"/>
              <a:t>An integrative data-driven model simulating C. elegans brain, body and environment interactions. </a:t>
            </a:r>
            <a:r>
              <a:rPr lang="de-DE" sz="1000" dirty="0"/>
              <a:t>Nat </a:t>
            </a:r>
            <a:r>
              <a:rPr lang="de-DE" sz="1000" dirty="0" err="1"/>
              <a:t>Comput</a:t>
            </a:r>
            <a:r>
              <a:rPr lang="de-DE" sz="1000" dirty="0"/>
              <a:t> </a:t>
            </a:r>
            <a:r>
              <a:rPr lang="de-DE" sz="1000" dirty="0" err="1"/>
              <a:t>Sci</a:t>
            </a:r>
            <a:r>
              <a:rPr lang="de-DE" sz="1000" dirty="0"/>
              <a:t> </a:t>
            </a:r>
          </a:p>
        </p:txBody>
      </p:sp>
      <p:pic>
        <p:nvPicPr>
          <p:cNvPr id="1026" name="Picture 2" descr="An integrative data-driven model simulating C. elegans brain ...">
            <a:extLst>
              <a:ext uri="{FF2B5EF4-FFF2-40B4-BE49-F238E27FC236}">
                <a16:creationId xmlns:a16="http://schemas.microsoft.com/office/drawing/2014/main" id="{E3AAAB6F-CFA3-5ECB-AF23-A96FEC7A669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5432"/>
          <a:stretch>
            <a:fillRect/>
          </a:stretch>
        </p:blipFill>
        <p:spPr bwMode="auto">
          <a:xfrm>
            <a:off x="330864" y="1108757"/>
            <a:ext cx="6527136" cy="26499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0A859CB5-F991-BB16-B668-3F65019B8085}"/>
              </a:ext>
            </a:extLst>
          </p:cNvPr>
          <p:cNvSpPr txBox="1"/>
          <p:nvPr/>
        </p:nvSpPr>
        <p:spPr>
          <a:xfrm>
            <a:off x="7788362" y="1860270"/>
            <a:ext cx="3804198" cy="1666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buNone/>
            </a:pPr>
            <a:r>
              <a:rPr lang="de-DE" sz="1800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Embedding </a:t>
            </a:r>
            <a:r>
              <a:rPr lang="de-DE" sz="1800" dirty="0" err="1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models</a:t>
            </a:r>
            <a:r>
              <a:rPr lang="de-DE" sz="1800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de-DE" sz="1800" dirty="0" err="1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into</a:t>
            </a:r>
            <a:r>
              <a:rPr lang="de-DE" sz="1800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de-DE" sz="1800" dirty="0" err="1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interactive</a:t>
            </a:r>
            <a:r>
              <a:rPr lang="de-DE" sz="1800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de-DE" sz="1800" dirty="0" err="1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environments</a:t>
            </a:r>
            <a:r>
              <a:rPr lang="de-DE" sz="1800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de-DE" sz="1800" dirty="0" err="1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can</a:t>
            </a:r>
            <a:r>
              <a:rPr lang="de-DE" sz="1800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de-DE" sz="1800" dirty="0" err="1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reveal</a:t>
            </a:r>
            <a:r>
              <a:rPr lang="de-DE" sz="1800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 neuronal </a:t>
            </a:r>
            <a:r>
              <a:rPr lang="de-DE" sz="1800" dirty="0" err="1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dynamics</a:t>
            </a:r>
            <a:r>
              <a:rPr lang="de-DE" sz="1800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 and </a:t>
            </a:r>
            <a:r>
              <a:rPr lang="de-DE" sz="1800" dirty="0" err="1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biologically</a:t>
            </a:r>
            <a:r>
              <a:rPr lang="de-DE" sz="1800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de-DE" sz="1800" dirty="0" err="1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realistic</a:t>
            </a:r>
            <a:r>
              <a:rPr lang="de-DE" sz="1800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de-DE" sz="1800" dirty="0" err="1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behavior</a:t>
            </a:r>
            <a:r>
              <a:rPr lang="de-DE" sz="1800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 not </a:t>
            </a:r>
            <a:r>
              <a:rPr lang="de-DE" sz="1800" dirty="0" err="1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captured</a:t>
            </a:r>
            <a:r>
              <a:rPr lang="de-DE" sz="1800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 in </a:t>
            </a:r>
            <a:r>
              <a:rPr lang="de-DE" sz="1800" dirty="0" err="1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isolated</a:t>
            </a:r>
            <a:r>
              <a:rPr lang="de-DE" sz="1800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de-DE" sz="1800" dirty="0" err="1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networks</a:t>
            </a:r>
            <a:r>
              <a:rPr lang="de-DE" sz="1800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endParaRPr lang="en-US" sz="1800" dirty="0">
              <a:effectLst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D718AE01-8ABC-F42D-5729-84D0AEBEB5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864" y="3716583"/>
            <a:ext cx="6530917" cy="2781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62283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966FCD-F6F4-8EBA-27B1-887CC9E76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Fig. 1: Model overview and performance on animal tasks.">
            <a:extLst>
              <a:ext uri="{FF2B5EF4-FFF2-40B4-BE49-F238E27FC236}">
                <a16:creationId xmlns:a16="http://schemas.microsoft.com/office/drawing/2014/main" id="{5D49F99D-1303-8EE7-EB30-DA0BAF418B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170" y="1303347"/>
            <a:ext cx="6638290" cy="4760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830372F5-DE2C-AFB5-98EB-BD5EAF8304CE}"/>
              </a:ext>
            </a:extLst>
          </p:cNvPr>
          <p:cNvSpPr txBox="1"/>
          <p:nvPr/>
        </p:nvSpPr>
        <p:spPr>
          <a:xfrm>
            <a:off x="3280519" y="565843"/>
            <a:ext cx="56309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>
                <a:solidFill>
                  <a:srgbClr val="00336E"/>
                </a:solidFill>
                <a:ea typeface="Cormorant Garamond" pitchFamily="2" charset="0"/>
                <a:cs typeface="Cormorant Garamond" pitchFamily="2" charset="0"/>
              </a:rPr>
              <a:t>Models </a:t>
            </a:r>
            <a:r>
              <a:rPr lang="de-DE" sz="2400" dirty="0" err="1">
                <a:solidFill>
                  <a:srgbClr val="00336E"/>
                </a:solidFill>
                <a:ea typeface="Cormorant Garamond" pitchFamily="2" charset="0"/>
                <a:cs typeface="Cormorant Garamond" pitchFamily="2" charset="0"/>
              </a:rPr>
              <a:t>of</a:t>
            </a:r>
            <a:r>
              <a:rPr lang="de-DE" sz="2400" dirty="0">
                <a:solidFill>
                  <a:srgbClr val="00336E"/>
                </a:solidFill>
                <a:ea typeface="Cormorant Garamond" pitchFamily="2" charset="0"/>
                <a:cs typeface="Cormorant Garamond" pitchFamily="2" charset="0"/>
              </a:rPr>
              <a:t> Minimal </a:t>
            </a:r>
            <a:r>
              <a:rPr lang="de-DE" sz="2400" dirty="0" err="1">
                <a:solidFill>
                  <a:srgbClr val="00336E"/>
                </a:solidFill>
                <a:ea typeface="Cormorant Garamond" pitchFamily="2" charset="0"/>
                <a:cs typeface="Cormorant Garamond" pitchFamily="2" charset="0"/>
              </a:rPr>
              <a:t>Cognition</a:t>
            </a:r>
            <a:endParaRPr lang="de-DE" sz="2400" b="1" dirty="0">
              <a:solidFill>
                <a:srgbClr val="00336E"/>
              </a:solidFill>
              <a:ea typeface="Cormorant Garamond" pitchFamily="2" charset="0"/>
              <a:cs typeface="Cormorant Garamond" pitchFamily="2" charset="0"/>
            </a:endParaRP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4C07ACE5-0976-DB87-420B-8C84A396E7B7}"/>
              </a:ext>
            </a:extLst>
          </p:cNvPr>
          <p:cNvSpPr txBox="1"/>
          <p:nvPr/>
        </p:nvSpPr>
        <p:spPr>
          <a:xfrm>
            <a:off x="7231380" y="5648375"/>
            <a:ext cx="418338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Ji-An, L., Benna, M.K. &amp; Mattar, M.G. </a:t>
            </a:r>
            <a:r>
              <a:rPr lang="de-DE" sz="1000" dirty="0"/>
              <a:t>(2025)</a:t>
            </a:r>
            <a:r>
              <a:rPr lang="en-US" sz="1000" dirty="0"/>
              <a:t> </a:t>
            </a:r>
            <a:r>
              <a:rPr lang="en-US" sz="1000" i="1" dirty="0"/>
              <a:t>Discovering cognitive strategies with tiny recurrent neural networks. </a:t>
            </a:r>
            <a:r>
              <a:rPr lang="de-DE" sz="1000" dirty="0"/>
              <a:t>Nature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55A212BB-54D8-918D-0CEC-DA09E562A53C}"/>
              </a:ext>
            </a:extLst>
          </p:cNvPr>
          <p:cNvSpPr txBox="1"/>
          <p:nvPr/>
        </p:nvSpPr>
        <p:spPr>
          <a:xfrm>
            <a:off x="7987027" y="1563090"/>
            <a:ext cx="3804198" cy="1029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buNone/>
            </a:pPr>
            <a:r>
              <a:rPr lang="de-DE" sz="1800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Tiny RNNs </a:t>
            </a:r>
            <a:r>
              <a:rPr lang="de-DE" sz="1800" dirty="0" err="1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can</a:t>
            </a:r>
            <a:r>
              <a:rPr lang="de-DE" sz="1800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de-DE" sz="1800" dirty="0" err="1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capture</a:t>
            </a:r>
            <a:r>
              <a:rPr lang="de-DE" sz="1800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de-DE" sz="1800" dirty="0" err="1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complex</a:t>
            </a:r>
            <a:r>
              <a:rPr lang="de-DE" sz="1800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de-DE" sz="1800" dirty="0" err="1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behavior</a:t>
            </a:r>
            <a:r>
              <a:rPr lang="de-DE" sz="1800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de-DE" sz="1800" dirty="0" err="1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while</a:t>
            </a:r>
            <a:r>
              <a:rPr lang="de-DE" sz="1800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de-DE" sz="1800" dirty="0" err="1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remaining</a:t>
            </a:r>
            <a:r>
              <a:rPr lang="de-DE" sz="1800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de-DE" sz="1800" dirty="0" err="1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interpretable</a:t>
            </a:r>
            <a:r>
              <a:rPr lang="de-DE" sz="1800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  <a:endParaRPr lang="en-US" sz="1800" dirty="0">
              <a:effectLst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C20C7439-ADD5-C21E-ACD1-57E462A5BD40}"/>
              </a:ext>
            </a:extLst>
          </p:cNvPr>
          <p:cNvSpPr/>
          <p:nvPr/>
        </p:nvSpPr>
        <p:spPr>
          <a:xfrm>
            <a:off x="2902856" y="1173481"/>
            <a:ext cx="1585323" cy="2255520"/>
          </a:xfrm>
          <a:prstGeom prst="rect">
            <a:avLst/>
          </a:prstGeom>
          <a:noFill/>
          <a:ln w="76200">
            <a:solidFill>
              <a:srgbClr val="00336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de-DE" sz="4000" b="1">
              <a:solidFill>
                <a:schemeClr val="tx1"/>
              </a:solidFill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A3CBE251-C178-E26F-8CB2-399191E8E251}"/>
              </a:ext>
            </a:extLst>
          </p:cNvPr>
          <p:cNvSpPr/>
          <p:nvPr/>
        </p:nvSpPr>
        <p:spPr>
          <a:xfrm>
            <a:off x="2727596" y="5128259"/>
            <a:ext cx="1585323" cy="1065479"/>
          </a:xfrm>
          <a:prstGeom prst="rect">
            <a:avLst/>
          </a:prstGeom>
          <a:noFill/>
          <a:ln w="76200">
            <a:solidFill>
              <a:srgbClr val="00336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de-DE" sz="4000" b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25113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 animBg="1"/>
      <p:bldP spid="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F62CD7-0515-87E1-F879-D8E6F1159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5F63BA22-3FDA-DC93-623E-40789EA53C10}"/>
              </a:ext>
            </a:extLst>
          </p:cNvPr>
          <p:cNvSpPr txBox="1"/>
          <p:nvPr/>
        </p:nvSpPr>
        <p:spPr>
          <a:xfrm>
            <a:off x="2667000" y="2397948"/>
            <a:ext cx="685800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3200" dirty="0"/>
              <a:t>Can minimal </a:t>
            </a:r>
            <a:r>
              <a:rPr lang="de-DE" sz="3200" dirty="0" err="1"/>
              <a:t>embedded</a:t>
            </a:r>
            <a:r>
              <a:rPr lang="de-DE" sz="3200" dirty="0"/>
              <a:t> </a:t>
            </a:r>
            <a:r>
              <a:rPr lang="de-DE" sz="3200" dirty="0" err="1"/>
              <a:t>networks</a:t>
            </a:r>
            <a:r>
              <a:rPr lang="de-DE" sz="3200" dirty="0"/>
              <a:t> </a:t>
            </a:r>
            <a:r>
              <a:rPr lang="de-DE" sz="3200" dirty="0" err="1"/>
              <a:t>evolve</a:t>
            </a:r>
            <a:r>
              <a:rPr lang="de-DE" sz="3200" dirty="0"/>
              <a:t> internal </a:t>
            </a:r>
            <a:r>
              <a:rPr lang="de-DE" sz="3200" dirty="0" err="1"/>
              <a:t>dynamics</a:t>
            </a:r>
            <a:r>
              <a:rPr lang="de-DE" sz="3200" dirty="0"/>
              <a:t> </a:t>
            </a:r>
            <a:r>
              <a:rPr lang="de-DE" sz="3200" dirty="0" err="1"/>
              <a:t>that</a:t>
            </a:r>
            <a:r>
              <a:rPr lang="de-DE" sz="3200" dirty="0"/>
              <a:t> support </a:t>
            </a:r>
            <a:r>
              <a:rPr lang="de-DE" sz="3200" dirty="0" err="1"/>
              <a:t>adaptation</a:t>
            </a:r>
            <a:r>
              <a:rPr lang="de-DE" sz="3200" dirty="0"/>
              <a:t> </a:t>
            </a:r>
            <a:r>
              <a:rPr lang="de-DE" sz="3200" dirty="0" err="1"/>
              <a:t>to</a:t>
            </a:r>
            <a:r>
              <a:rPr lang="de-DE" sz="3200" dirty="0"/>
              <a:t> </a:t>
            </a:r>
            <a:r>
              <a:rPr lang="de-DE" sz="3200" dirty="0" err="1"/>
              <a:t>changing</a:t>
            </a:r>
            <a:r>
              <a:rPr lang="de-DE" sz="3200" dirty="0"/>
              <a:t> </a:t>
            </a:r>
            <a:r>
              <a:rPr lang="de-DE" sz="3200" dirty="0" err="1"/>
              <a:t>task</a:t>
            </a:r>
            <a:r>
              <a:rPr lang="de-DE" sz="3200" dirty="0"/>
              <a:t> </a:t>
            </a:r>
            <a:r>
              <a:rPr lang="de-DE" sz="3200" dirty="0" err="1"/>
              <a:t>rules</a:t>
            </a:r>
            <a:r>
              <a:rPr lang="de-DE" sz="3200" dirty="0"/>
              <a:t>?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40AF1FD7-937C-CB55-1139-4C0AEA462B49}"/>
              </a:ext>
            </a:extLst>
          </p:cNvPr>
          <p:cNvSpPr txBox="1"/>
          <p:nvPr/>
        </p:nvSpPr>
        <p:spPr>
          <a:xfrm>
            <a:off x="3280519" y="565843"/>
            <a:ext cx="56309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b="1" dirty="0">
                <a:solidFill>
                  <a:srgbClr val="00336E"/>
                </a:solidFill>
                <a:ea typeface="Cormorant Garamond" pitchFamily="2" charset="0"/>
                <a:cs typeface="Cormorant Garamond" pitchFamily="2" charset="0"/>
              </a:rPr>
              <a:t>OUR QUESTION</a:t>
            </a:r>
          </a:p>
        </p:txBody>
      </p:sp>
    </p:spTree>
    <p:extLst>
      <p:ext uri="{BB962C8B-B14F-4D97-AF65-F5344CB8AC3E}">
        <p14:creationId xmlns:p14="http://schemas.microsoft.com/office/powerpoint/2010/main" val="35294374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E9D00-F8AE-F935-7DBA-7185ABE0B8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ihandform: Form 8">
            <a:extLst>
              <a:ext uri="{FF2B5EF4-FFF2-40B4-BE49-F238E27FC236}">
                <a16:creationId xmlns:a16="http://schemas.microsoft.com/office/drawing/2014/main" id="{C52EB998-07DE-5005-CD98-5C727A8CE31B}"/>
              </a:ext>
            </a:extLst>
          </p:cNvPr>
          <p:cNvSpPr/>
          <p:nvPr/>
        </p:nvSpPr>
        <p:spPr>
          <a:xfrm>
            <a:off x="5016736" y="-426720"/>
            <a:ext cx="7490460" cy="853440"/>
          </a:xfrm>
          <a:custGeom>
            <a:avLst/>
            <a:gdLst>
              <a:gd name="csX0" fmla="*/ 434340 w 7490460"/>
              <a:gd name="csY0" fmla="*/ 0 h 853440"/>
              <a:gd name="csX1" fmla="*/ 521875 w 7490460"/>
              <a:gd name="csY1" fmla="*/ 8669 h 853440"/>
              <a:gd name="csX2" fmla="*/ 555427 w 7490460"/>
              <a:gd name="csY2" fmla="*/ 18902 h 853440"/>
              <a:gd name="csX3" fmla="*/ 7490460 w 7490460"/>
              <a:gd name="csY3" fmla="*/ 18902 h 853440"/>
              <a:gd name="csX4" fmla="*/ 7490460 w 7490460"/>
              <a:gd name="csY4" fmla="*/ 853440 h 853440"/>
              <a:gd name="csX5" fmla="*/ 434340 w 7490460"/>
              <a:gd name="csY5" fmla="*/ 853440 h 853440"/>
              <a:gd name="csX6" fmla="*/ 426720 w 7490460"/>
              <a:gd name="csY6" fmla="*/ 853440 h 853440"/>
              <a:gd name="csX7" fmla="*/ 426720 w 7490460"/>
              <a:gd name="csY7" fmla="*/ 852685 h 853440"/>
              <a:gd name="csX8" fmla="*/ 346805 w 7490460"/>
              <a:gd name="csY8" fmla="*/ 844771 h 853440"/>
              <a:gd name="csX9" fmla="*/ 0 w 7490460"/>
              <a:gd name="csY9" fmla="*/ 426720 h 853440"/>
              <a:gd name="csX10" fmla="*/ 434340 w 7490460"/>
              <a:gd name="csY10" fmla="*/ 0 h 85344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7490460" h="853440">
                <a:moveTo>
                  <a:pt x="434340" y="0"/>
                </a:moveTo>
                <a:cubicBezTo>
                  <a:pt x="464325" y="0"/>
                  <a:pt x="493600" y="2985"/>
                  <a:pt x="521875" y="8669"/>
                </a:cubicBezTo>
                <a:lnTo>
                  <a:pt x="555427" y="18902"/>
                </a:lnTo>
                <a:lnTo>
                  <a:pt x="7490460" y="18902"/>
                </a:lnTo>
                <a:lnTo>
                  <a:pt x="7490460" y="853440"/>
                </a:lnTo>
                <a:lnTo>
                  <a:pt x="434340" y="853440"/>
                </a:lnTo>
                <a:lnTo>
                  <a:pt x="426720" y="853440"/>
                </a:lnTo>
                <a:lnTo>
                  <a:pt x="426720" y="852685"/>
                </a:lnTo>
                <a:lnTo>
                  <a:pt x="346805" y="844771"/>
                </a:lnTo>
                <a:cubicBezTo>
                  <a:pt x="148884" y="804981"/>
                  <a:pt x="0" y="632932"/>
                  <a:pt x="0" y="426720"/>
                </a:cubicBezTo>
                <a:cubicBezTo>
                  <a:pt x="0" y="191049"/>
                  <a:pt x="194461" y="0"/>
                  <a:pt x="434340" y="0"/>
                </a:cubicBezTo>
                <a:close/>
              </a:path>
            </a:pathLst>
          </a:custGeom>
          <a:solidFill>
            <a:srgbClr val="E3E9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de-DE" sz="1600" b="1">
              <a:solidFill>
                <a:schemeClr val="tx1"/>
              </a:solidFill>
            </a:endParaRP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24435200-B34E-98F6-61A3-B2706F6E841F}"/>
              </a:ext>
            </a:extLst>
          </p:cNvPr>
          <p:cNvSpPr txBox="1"/>
          <p:nvPr/>
        </p:nvSpPr>
        <p:spPr>
          <a:xfrm>
            <a:off x="4333676" y="565843"/>
            <a:ext cx="35246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>
                <a:solidFill>
                  <a:srgbClr val="00336E"/>
                </a:solidFill>
                <a:ea typeface="Cormorant Garamond" pitchFamily="2" charset="0"/>
                <a:cs typeface="Cormorant Garamond" pitchFamily="2" charset="0"/>
              </a:rPr>
              <a:t>Embedded </a:t>
            </a:r>
            <a:r>
              <a:rPr lang="de-DE" sz="2400" dirty="0" err="1">
                <a:solidFill>
                  <a:srgbClr val="00336E"/>
                </a:solidFill>
                <a:ea typeface="Cormorant Garamond" pitchFamily="2" charset="0"/>
                <a:cs typeface="Cormorant Garamond" pitchFamily="2" charset="0"/>
              </a:rPr>
              <a:t>agents</a:t>
            </a:r>
            <a:endParaRPr lang="de-DE" sz="2400" b="1" dirty="0">
              <a:solidFill>
                <a:srgbClr val="00336E"/>
              </a:solidFill>
              <a:ea typeface="Cormorant Garamond" pitchFamily="2" charset="0"/>
              <a:cs typeface="Cormorant Garamond" pitchFamily="2" charset="0"/>
            </a:endParaRPr>
          </a:p>
        </p:txBody>
      </p:sp>
      <p:pic>
        <p:nvPicPr>
          <p:cNvPr id="14" name="Grafik 13" descr="https://www.science.org/cms/10.1126/science.adp7478/asset/7e30f92a-0dc5-4cde-8cfe-c1993b7dd44f/assets/images/large/science.adp7478-f1.jpg">
            <a:extLst>
              <a:ext uri="{FF2B5EF4-FFF2-40B4-BE49-F238E27FC236}">
                <a16:creationId xmlns:a16="http://schemas.microsoft.com/office/drawing/2014/main" id="{2A95D4D0-1C61-98C2-1C71-BE66C39D6A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5100" y="1105364"/>
            <a:ext cx="9501800" cy="5247661"/>
          </a:xfrm>
          <a:prstGeom prst="rect">
            <a:avLst/>
          </a:prstGeom>
        </p:spPr>
      </p:pic>
      <p:sp>
        <p:nvSpPr>
          <p:cNvPr id="16" name="Textfeld 15">
            <a:extLst>
              <a:ext uri="{FF2B5EF4-FFF2-40B4-BE49-F238E27FC236}">
                <a16:creationId xmlns:a16="http://schemas.microsoft.com/office/drawing/2014/main" id="{AECB09CD-AD64-21C9-47D4-74E15A40E590}"/>
              </a:ext>
            </a:extLst>
          </p:cNvPr>
          <p:cNvSpPr txBox="1"/>
          <p:nvPr/>
        </p:nvSpPr>
        <p:spPr>
          <a:xfrm>
            <a:off x="5667462" y="6348649"/>
            <a:ext cx="514236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000" dirty="0"/>
              <a:t>Risto </a:t>
            </a:r>
            <a:r>
              <a:rPr lang="de-DE" sz="1000" dirty="0" err="1"/>
              <a:t>Miikkulainen</a:t>
            </a:r>
            <a:r>
              <a:rPr lang="de-DE" sz="1000" dirty="0"/>
              <a:t> (2025) </a:t>
            </a:r>
            <a:r>
              <a:rPr lang="de-DE" sz="1000" i="1" dirty="0"/>
              <a:t>Neuroevolution </a:t>
            </a:r>
            <a:r>
              <a:rPr lang="de-DE" sz="1000" i="1" dirty="0" err="1"/>
              <a:t>insights</a:t>
            </a:r>
            <a:r>
              <a:rPr lang="de-DE" sz="1000" i="1" dirty="0"/>
              <a:t> </a:t>
            </a:r>
            <a:r>
              <a:rPr lang="de-DE" sz="1000" i="1" dirty="0" err="1"/>
              <a:t>into</a:t>
            </a:r>
            <a:r>
              <a:rPr lang="de-DE" sz="1000" i="1" dirty="0"/>
              <a:t> </a:t>
            </a:r>
            <a:r>
              <a:rPr lang="de-DE" sz="1000" i="1" dirty="0" err="1"/>
              <a:t>biological</a:t>
            </a:r>
            <a:r>
              <a:rPr lang="de-DE" sz="1000" i="1" dirty="0"/>
              <a:t> </a:t>
            </a:r>
            <a:r>
              <a:rPr lang="de-DE" sz="1000" i="1" dirty="0" err="1"/>
              <a:t>neural</a:t>
            </a:r>
            <a:r>
              <a:rPr lang="de-DE" sz="1000" i="1" dirty="0"/>
              <a:t> </a:t>
            </a:r>
            <a:r>
              <a:rPr lang="de-DE" sz="1000" i="1" dirty="0" err="1"/>
              <a:t>computation</a:t>
            </a:r>
            <a:r>
              <a:rPr lang="de-DE" sz="1000" dirty="0"/>
              <a:t>. Science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0997956D-244F-9A34-30D2-9A03B24404A2}"/>
              </a:ext>
            </a:extLst>
          </p:cNvPr>
          <p:cNvSpPr txBox="1"/>
          <p:nvPr/>
        </p:nvSpPr>
        <p:spPr>
          <a:xfrm>
            <a:off x="5227320" y="70082"/>
            <a:ext cx="758952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050" dirty="0"/>
              <a:t>Can minimal </a:t>
            </a:r>
            <a:r>
              <a:rPr lang="de-DE" sz="1050" b="1" dirty="0" err="1"/>
              <a:t>embedded</a:t>
            </a:r>
            <a:r>
              <a:rPr lang="de-DE" sz="1050" b="1" dirty="0"/>
              <a:t> </a:t>
            </a:r>
            <a:r>
              <a:rPr lang="de-DE" sz="1050" dirty="0" err="1"/>
              <a:t>networks</a:t>
            </a:r>
            <a:r>
              <a:rPr lang="de-DE" sz="1050" b="1" dirty="0"/>
              <a:t> </a:t>
            </a:r>
            <a:r>
              <a:rPr lang="de-DE" sz="1050" dirty="0" err="1"/>
              <a:t>evolve</a:t>
            </a:r>
            <a:r>
              <a:rPr lang="de-DE" sz="1050" dirty="0"/>
              <a:t> internal </a:t>
            </a:r>
            <a:r>
              <a:rPr lang="de-DE" sz="1050" dirty="0" err="1"/>
              <a:t>dynamics</a:t>
            </a:r>
            <a:r>
              <a:rPr lang="de-DE" sz="1050" dirty="0"/>
              <a:t> </a:t>
            </a:r>
            <a:r>
              <a:rPr lang="de-DE" sz="1050" dirty="0" err="1"/>
              <a:t>that</a:t>
            </a:r>
            <a:r>
              <a:rPr lang="de-DE" sz="1050" dirty="0"/>
              <a:t> support </a:t>
            </a:r>
            <a:r>
              <a:rPr lang="de-DE" sz="1050" dirty="0" err="1"/>
              <a:t>adaptation</a:t>
            </a:r>
            <a:r>
              <a:rPr lang="de-DE" sz="1050" dirty="0"/>
              <a:t> </a:t>
            </a:r>
            <a:r>
              <a:rPr lang="de-DE" sz="1050" dirty="0" err="1"/>
              <a:t>to</a:t>
            </a:r>
            <a:r>
              <a:rPr lang="de-DE" sz="1050" dirty="0"/>
              <a:t> </a:t>
            </a:r>
            <a:r>
              <a:rPr lang="de-DE" sz="1050" dirty="0" err="1"/>
              <a:t>changing</a:t>
            </a:r>
            <a:r>
              <a:rPr lang="de-DE" sz="1050" dirty="0"/>
              <a:t> </a:t>
            </a:r>
            <a:r>
              <a:rPr lang="de-DE" sz="1050" dirty="0" err="1"/>
              <a:t>task</a:t>
            </a:r>
            <a:r>
              <a:rPr lang="de-DE" sz="1050" dirty="0"/>
              <a:t> </a:t>
            </a:r>
            <a:r>
              <a:rPr lang="de-DE" sz="1050" dirty="0" err="1"/>
              <a:t>rules</a:t>
            </a:r>
            <a:r>
              <a:rPr lang="de-DE" sz="1050" dirty="0"/>
              <a:t>?</a:t>
            </a:r>
          </a:p>
        </p:txBody>
      </p:sp>
      <p:sp>
        <p:nvSpPr>
          <p:cNvPr id="15" name="Freihandform: Form 14">
            <a:extLst>
              <a:ext uri="{FF2B5EF4-FFF2-40B4-BE49-F238E27FC236}">
                <a16:creationId xmlns:a16="http://schemas.microsoft.com/office/drawing/2014/main" id="{375F5D39-511A-B0F4-E1C4-467BD3BD1499}"/>
              </a:ext>
            </a:extLst>
          </p:cNvPr>
          <p:cNvSpPr/>
          <p:nvPr/>
        </p:nvSpPr>
        <p:spPr>
          <a:xfrm>
            <a:off x="1345100" y="1090513"/>
            <a:ext cx="6232650" cy="5258135"/>
          </a:xfrm>
          <a:custGeom>
            <a:avLst/>
            <a:gdLst>
              <a:gd name="csX0" fmla="*/ 0 w 6232650"/>
              <a:gd name="csY0" fmla="*/ 0 h 5190786"/>
              <a:gd name="csX1" fmla="*/ 6232650 w 6232650"/>
              <a:gd name="csY1" fmla="*/ 0 h 5190786"/>
              <a:gd name="csX2" fmla="*/ 6232650 w 6232650"/>
              <a:gd name="csY2" fmla="*/ 1693980 h 5190786"/>
              <a:gd name="csX3" fmla="*/ 3969284 w 6232650"/>
              <a:gd name="csY3" fmla="*/ 1693980 h 5190786"/>
              <a:gd name="csX4" fmla="*/ 3969284 w 6232650"/>
              <a:gd name="csY4" fmla="*/ 5190786 h 5190786"/>
              <a:gd name="csX5" fmla="*/ 0 w 6232650"/>
              <a:gd name="csY5" fmla="*/ 5190786 h 5190786"/>
              <a:gd name="csX6" fmla="*/ 0 w 6232650"/>
              <a:gd name="csY6" fmla="*/ 1693980 h 5190786"/>
              <a:gd name="csX7" fmla="*/ 0 w 6232650"/>
              <a:gd name="csY7" fmla="*/ 1558177 h 519078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6232650" h="5190786">
                <a:moveTo>
                  <a:pt x="0" y="0"/>
                </a:moveTo>
                <a:lnTo>
                  <a:pt x="6232650" y="0"/>
                </a:lnTo>
                <a:lnTo>
                  <a:pt x="6232650" y="1693980"/>
                </a:lnTo>
                <a:lnTo>
                  <a:pt x="3969284" y="1693980"/>
                </a:lnTo>
                <a:lnTo>
                  <a:pt x="3969284" y="5190786"/>
                </a:lnTo>
                <a:lnTo>
                  <a:pt x="0" y="5190786"/>
                </a:lnTo>
                <a:lnTo>
                  <a:pt x="0" y="1693980"/>
                </a:lnTo>
                <a:lnTo>
                  <a:pt x="0" y="155817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DE"/>
          </a:p>
        </p:txBody>
      </p:sp>
      <p:sp>
        <p:nvSpPr>
          <p:cNvPr id="4" name="Bogen 3">
            <a:extLst>
              <a:ext uri="{FF2B5EF4-FFF2-40B4-BE49-F238E27FC236}">
                <a16:creationId xmlns:a16="http://schemas.microsoft.com/office/drawing/2014/main" id="{2A21DD3F-2C59-AA84-E085-C709ACACF968}"/>
              </a:ext>
            </a:extLst>
          </p:cNvPr>
          <p:cNvSpPr/>
          <p:nvPr/>
        </p:nvSpPr>
        <p:spPr>
          <a:xfrm flipV="1">
            <a:off x="5007469" y="2548741"/>
            <a:ext cx="4797823" cy="4133999"/>
          </a:xfrm>
          <a:prstGeom prst="arc">
            <a:avLst>
              <a:gd name="adj1" fmla="val 10922231"/>
              <a:gd name="adj2" fmla="val 0"/>
            </a:avLst>
          </a:prstGeom>
          <a:noFill/>
          <a:ln w="304800">
            <a:solidFill>
              <a:srgbClr val="00336E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de-DE" sz="4000" b="1"/>
          </a:p>
        </p:txBody>
      </p:sp>
      <p:sp>
        <p:nvSpPr>
          <p:cNvPr id="6" name="Bogen 5">
            <a:extLst>
              <a:ext uri="{FF2B5EF4-FFF2-40B4-BE49-F238E27FC236}">
                <a16:creationId xmlns:a16="http://schemas.microsoft.com/office/drawing/2014/main" id="{8E3B4250-0E79-D5A7-DD40-06A9DEC24226}"/>
              </a:ext>
            </a:extLst>
          </p:cNvPr>
          <p:cNvSpPr/>
          <p:nvPr/>
        </p:nvSpPr>
        <p:spPr>
          <a:xfrm flipH="1">
            <a:off x="5016734" y="2446020"/>
            <a:ext cx="4797823" cy="4133999"/>
          </a:xfrm>
          <a:prstGeom prst="arc">
            <a:avLst>
              <a:gd name="adj1" fmla="val 10922231"/>
              <a:gd name="adj2" fmla="val 0"/>
            </a:avLst>
          </a:prstGeom>
          <a:noFill/>
          <a:ln w="304800">
            <a:solidFill>
              <a:srgbClr val="00336E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de-DE" sz="4000" b="1"/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7F5215AD-25A0-C6AC-71ED-D0B31570EEEC}"/>
              </a:ext>
            </a:extLst>
          </p:cNvPr>
          <p:cNvSpPr txBox="1"/>
          <p:nvPr/>
        </p:nvSpPr>
        <p:spPr>
          <a:xfrm>
            <a:off x="5227320" y="70082"/>
            <a:ext cx="758952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050" dirty="0"/>
              <a:t>Can minimal </a:t>
            </a:r>
            <a:r>
              <a:rPr lang="de-DE" sz="1050" dirty="0" err="1"/>
              <a:t>embedded</a:t>
            </a:r>
            <a:r>
              <a:rPr lang="de-DE" sz="1050" b="1" dirty="0"/>
              <a:t> </a:t>
            </a:r>
            <a:r>
              <a:rPr lang="de-DE" sz="1050" dirty="0" err="1"/>
              <a:t>networks</a:t>
            </a:r>
            <a:r>
              <a:rPr lang="de-DE" sz="1050" b="1" dirty="0"/>
              <a:t> </a:t>
            </a:r>
            <a:r>
              <a:rPr lang="de-DE" sz="1050" b="1" dirty="0" err="1"/>
              <a:t>evolve</a:t>
            </a:r>
            <a:r>
              <a:rPr lang="de-DE" sz="1050" dirty="0"/>
              <a:t> internal </a:t>
            </a:r>
            <a:r>
              <a:rPr lang="de-DE" sz="1050" dirty="0" err="1"/>
              <a:t>dynamics</a:t>
            </a:r>
            <a:r>
              <a:rPr lang="de-DE" sz="1050" dirty="0"/>
              <a:t> </a:t>
            </a:r>
            <a:r>
              <a:rPr lang="de-DE" sz="1050" dirty="0" err="1"/>
              <a:t>that</a:t>
            </a:r>
            <a:r>
              <a:rPr lang="de-DE" sz="1050" dirty="0"/>
              <a:t> support </a:t>
            </a:r>
            <a:r>
              <a:rPr lang="de-DE" sz="1050" dirty="0" err="1"/>
              <a:t>adaptation</a:t>
            </a:r>
            <a:r>
              <a:rPr lang="de-DE" sz="1050" dirty="0"/>
              <a:t> </a:t>
            </a:r>
            <a:r>
              <a:rPr lang="de-DE" sz="1050" dirty="0" err="1"/>
              <a:t>to</a:t>
            </a:r>
            <a:r>
              <a:rPr lang="de-DE" sz="1050" dirty="0"/>
              <a:t> </a:t>
            </a:r>
            <a:r>
              <a:rPr lang="de-DE" sz="1050" dirty="0" err="1"/>
              <a:t>changing</a:t>
            </a:r>
            <a:r>
              <a:rPr lang="de-DE" sz="1050" dirty="0"/>
              <a:t> </a:t>
            </a:r>
            <a:r>
              <a:rPr lang="de-DE" sz="1050" dirty="0" err="1"/>
              <a:t>task</a:t>
            </a:r>
            <a:r>
              <a:rPr lang="de-DE" sz="1050" dirty="0"/>
              <a:t> </a:t>
            </a:r>
            <a:r>
              <a:rPr lang="de-DE" sz="1050" dirty="0" err="1"/>
              <a:t>rules</a:t>
            </a:r>
            <a:r>
              <a:rPr lang="de-DE" sz="1050" dirty="0"/>
              <a:t>?</a:t>
            </a: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2A9E31A5-CBC2-E0AB-4E48-70443CBCCA6C}"/>
              </a:ext>
            </a:extLst>
          </p:cNvPr>
          <p:cNvSpPr txBox="1"/>
          <p:nvPr/>
        </p:nvSpPr>
        <p:spPr>
          <a:xfrm>
            <a:off x="4079458" y="565843"/>
            <a:ext cx="40330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 err="1">
                <a:solidFill>
                  <a:srgbClr val="00336E"/>
                </a:solidFill>
                <a:ea typeface="Cormorant Garamond" pitchFamily="2" charset="0"/>
                <a:cs typeface="Cormorant Garamond" pitchFamily="2" charset="0"/>
              </a:rPr>
              <a:t>Evolutionary</a:t>
            </a:r>
            <a:r>
              <a:rPr lang="de-DE" sz="2400" dirty="0">
                <a:solidFill>
                  <a:srgbClr val="00336E"/>
                </a:solidFill>
                <a:ea typeface="Cormorant Garamond" pitchFamily="2" charset="0"/>
                <a:cs typeface="Cormorant Garamond" pitchFamily="2" charset="0"/>
              </a:rPr>
              <a:t> </a:t>
            </a:r>
            <a:r>
              <a:rPr lang="de-DE" sz="2400" dirty="0" err="1">
                <a:solidFill>
                  <a:srgbClr val="00336E"/>
                </a:solidFill>
                <a:ea typeface="Cormorant Garamond" pitchFamily="2" charset="0"/>
                <a:cs typeface="Cormorant Garamond" pitchFamily="2" charset="0"/>
              </a:rPr>
              <a:t>Algorithms</a:t>
            </a:r>
            <a:endParaRPr lang="de-DE" sz="2400" b="1" dirty="0">
              <a:solidFill>
                <a:srgbClr val="00336E"/>
              </a:solidFill>
              <a:ea typeface="Cormorant Garamond" pitchFamily="2" charset="0"/>
              <a:cs typeface="Cormorant Garamon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50986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2" grpId="0"/>
      <p:bldP spid="15" grpId="0" animBg="1"/>
      <p:bldP spid="4" grpId="0" animBg="1"/>
      <p:bldP spid="4" grpId="1" animBg="1"/>
      <p:bldP spid="6" grpId="0" animBg="1"/>
      <p:bldP spid="6" grpId="1" animBg="1"/>
      <p:bldP spid="2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38745B-74BD-769E-7C5B-9D67B90F6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0C47A53C-4E65-0726-4E24-1CEB5ADAC8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536" y="1420324"/>
            <a:ext cx="9966927" cy="4871833"/>
          </a:xfrm>
          <a:prstGeom prst="rect">
            <a:avLst/>
          </a:prstGeom>
        </p:spPr>
      </p:pic>
      <p:sp>
        <p:nvSpPr>
          <p:cNvPr id="11" name="Textfeld 10">
            <a:extLst>
              <a:ext uri="{FF2B5EF4-FFF2-40B4-BE49-F238E27FC236}">
                <a16:creationId xmlns:a16="http://schemas.microsoft.com/office/drawing/2014/main" id="{9F829D51-74B9-043F-DE5C-2B891B9E7320}"/>
              </a:ext>
            </a:extLst>
          </p:cNvPr>
          <p:cNvSpPr txBox="1"/>
          <p:nvPr/>
        </p:nvSpPr>
        <p:spPr>
          <a:xfrm>
            <a:off x="5060887" y="6292157"/>
            <a:ext cx="669051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000" dirty="0" err="1"/>
              <a:t>Doncieux</a:t>
            </a:r>
            <a:r>
              <a:rPr lang="de-DE" sz="1000" dirty="0"/>
              <a:t> S, </a:t>
            </a:r>
            <a:r>
              <a:rPr lang="de-DE" sz="1000" dirty="0" err="1"/>
              <a:t>Bredeche</a:t>
            </a:r>
            <a:r>
              <a:rPr lang="de-DE" sz="1000" dirty="0"/>
              <a:t> N, Mouret J-B and Eiben AEG (2015) </a:t>
            </a:r>
            <a:r>
              <a:rPr lang="de-DE" sz="1000" i="1" dirty="0" err="1"/>
              <a:t>Evolutionary</a:t>
            </a:r>
            <a:r>
              <a:rPr lang="de-DE" sz="1000" i="1" dirty="0"/>
              <a:t> Robotics: </a:t>
            </a:r>
            <a:r>
              <a:rPr lang="de-DE" sz="1000" i="1" dirty="0" err="1"/>
              <a:t>What</a:t>
            </a:r>
            <a:r>
              <a:rPr lang="de-DE" sz="1000" i="1" dirty="0"/>
              <a:t>, Why, and </a:t>
            </a:r>
            <a:r>
              <a:rPr lang="de-DE" sz="1000" i="1" dirty="0" err="1"/>
              <a:t>Where</a:t>
            </a:r>
            <a:r>
              <a:rPr lang="de-DE" sz="1000" i="1" dirty="0"/>
              <a:t> </a:t>
            </a:r>
            <a:r>
              <a:rPr lang="de-DE" sz="1000" i="1" dirty="0" err="1"/>
              <a:t>to</a:t>
            </a:r>
            <a:r>
              <a:rPr lang="de-DE" sz="1000" i="1" dirty="0"/>
              <a:t>. </a:t>
            </a:r>
            <a:r>
              <a:rPr lang="de-DE" sz="1000" dirty="0"/>
              <a:t>Front. Robot. AI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D53E149A-B5AB-0CE3-95D8-F84FE32DF0E9}"/>
              </a:ext>
            </a:extLst>
          </p:cNvPr>
          <p:cNvSpPr txBox="1"/>
          <p:nvPr/>
        </p:nvSpPr>
        <p:spPr>
          <a:xfrm>
            <a:off x="4079458" y="565843"/>
            <a:ext cx="40330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 err="1">
                <a:solidFill>
                  <a:srgbClr val="00336E"/>
                </a:solidFill>
                <a:ea typeface="Cormorant Garamond" pitchFamily="2" charset="0"/>
                <a:cs typeface="Cormorant Garamond" pitchFamily="2" charset="0"/>
              </a:rPr>
              <a:t>Evolutionary</a:t>
            </a:r>
            <a:r>
              <a:rPr lang="de-DE" sz="2400" dirty="0">
                <a:solidFill>
                  <a:srgbClr val="00336E"/>
                </a:solidFill>
                <a:ea typeface="Cormorant Garamond" pitchFamily="2" charset="0"/>
                <a:cs typeface="Cormorant Garamond" pitchFamily="2" charset="0"/>
              </a:rPr>
              <a:t> </a:t>
            </a:r>
            <a:r>
              <a:rPr lang="de-DE" sz="2400" dirty="0" err="1">
                <a:solidFill>
                  <a:srgbClr val="00336E"/>
                </a:solidFill>
                <a:ea typeface="Cormorant Garamond" pitchFamily="2" charset="0"/>
                <a:cs typeface="Cormorant Garamond" pitchFamily="2" charset="0"/>
              </a:rPr>
              <a:t>Algorithms</a:t>
            </a:r>
            <a:endParaRPr lang="de-DE" sz="2400" b="1" dirty="0">
              <a:solidFill>
                <a:srgbClr val="00336E"/>
              </a:solidFill>
              <a:ea typeface="Cormorant Garamond" pitchFamily="2" charset="0"/>
              <a:cs typeface="Cormorant Garamond" pitchFamily="2" charset="0"/>
            </a:endParaRPr>
          </a:p>
        </p:txBody>
      </p:sp>
      <p:sp>
        <p:nvSpPr>
          <p:cNvPr id="2" name="Freihandform: Form 1">
            <a:extLst>
              <a:ext uri="{FF2B5EF4-FFF2-40B4-BE49-F238E27FC236}">
                <a16:creationId xmlns:a16="http://schemas.microsoft.com/office/drawing/2014/main" id="{C8A17B56-A352-9D7C-C645-EAE7A279F560}"/>
              </a:ext>
            </a:extLst>
          </p:cNvPr>
          <p:cNvSpPr/>
          <p:nvPr/>
        </p:nvSpPr>
        <p:spPr>
          <a:xfrm>
            <a:off x="5016736" y="-426720"/>
            <a:ext cx="7490460" cy="853440"/>
          </a:xfrm>
          <a:custGeom>
            <a:avLst/>
            <a:gdLst>
              <a:gd name="csX0" fmla="*/ 434340 w 7490460"/>
              <a:gd name="csY0" fmla="*/ 0 h 853440"/>
              <a:gd name="csX1" fmla="*/ 521875 w 7490460"/>
              <a:gd name="csY1" fmla="*/ 8669 h 853440"/>
              <a:gd name="csX2" fmla="*/ 555427 w 7490460"/>
              <a:gd name="csY2" fmla="*/ 18902 h 853440"/>
              <a:gd name="csX3" fmla="*/ 7490460 w 7490460"/>
              <a:gd name="csY3" fmla="*/ 18902 h 853440"/>
              <a:gd name="csX4" fmla="*/ 7490460 w 7490460"/>
              <a:gd name="csY4" fmla="*/ 853440 h 853440"/>
              <a:gd name="csX5" fmla="*/ 434340 w 7490460"/>
              <a:gd name="csY5" fmla="*/ 853440 h 853440"/>
              <a:gd name="csX6" fmla="*/ 426720 w 7490460"/>
              <a:gd name="csY6" fmla="*/ 853440 h 853440"/>
              <a:gd name="csX7" fmla="*/ 426720 w 7490460"/>
              <a:gd name="csY7" fmla="*/ 852685 h 853440"/>
              <a:gd name="csX8" fmla="*/ 346805 w 7490460"/>
              <a:gd name="csY8" fmla="*/ 844771 h 853440"/>
              <a:gd name="csX9" fmla="*/ 0 w 7490460"/>
              <a:gd name="csY9" fmla="*/ 426720 h 853440"/>
              <a:gd name="csX10" fmla="*/ 434340 w 7490460"/>
              <a:gd name="csY10" fmla="*/ 0 h 85344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7490460" h="853440">
                <a:moveTo>
                  <a:pt x="434340" y="0"/>
                </a:moveTo>
                <a:cubicBezTo>
                  <a:pt x="464325" y="0"/>
                  <a:pt x="493600" y="2985"/>
                  <a:pt x="521875" y="8669"/>
                </a:cubicBezTo>
                <a:lnTo>
                  <a:pt x="555427" y="18902"/>
                </a:lnTo>
                <a:lnTo>
                  <a:pt x="7490460" y="18902"/>
                </a:lnTo>
                <a:lnTo>
                  <a:pt x="7490460" y="853440"/>
                </a:lnTo>
                <a:lnTo>
                  <a:pt x="434340" y="853440"/>
                </a:lnTo>
                <a:lnTo>
                  <a:pt x="426720" y="853440"/>
                </a:lnTo>
                <a:lnTo>
                  <a:pt x="426720" y="852685"/>
                </a:lnTo>
                <a:lnTo>
                  <a:pt x="346805" y="844771"/>
                </a:lnTo>
                <a:cubicBezTo>
                  <a:pt x="148884" y="804981"/>
                  <a:pt x="0" y="632932"/>
                  <a:pt x="0" y="426720"/>
                </a:cubicBezTo>
                <a:cubicBezTo>
                  <a:pt x="0" y="191049"/>
                  <a:pt x="194461" y="0"/>
                  <a:pt x="434340" y="0"/>
                </a:cubicBezTo>
                <a:close/>
              </a:path>
            </a:pathLst>
          </a:custGeom>
          <a:solidFill>
            <a:srgbClr val="E3E9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de-DE" sz="1600" b="1">
              <a:solidFill>
                <a:schemeClr val="tx1"/>
              </a:solidFill>
            </a:endParaRP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02A490E3-0F45-7188-A74E-3210AC18CEB4}"/>
              </a:ext>
            </a:extLst>
          </p:cNvPr>
          <p:cNvSpPr txBox="1"/>
          <p:nvPr/>
        </p:nvSpPr>
        <p:spPr>
          <a:xfrm>
            <a:off x="5227320" y="70082"/>
            <a:ext cx="758952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050" dirty="0"/>
              <a:t>Can minimal </a:t>
            </a:r>
            <a:r>
              <a:rPr lang="de-DE" sz="1050" dirty="0" err="1"/>
              <a:t>embedded</a:t>
            </a:r>
            <a:r>
              <a:rPr lang="de-DE" sz="1050" dirty="0"/>
              <a:t> </a:t>
            </a:r>
            <a:r>
              <a:rPr lang="de-DE" sz="1050" dirty="0" err="1"/>
              <a:t>networks</a:t>
            </a:r>
            <a:r>
              <a:rPr lang="de-DE" sz="1050" dirty="0"/>
              <a:t> </a:t>
            </a:r>
            <a:r>
              <a:rPr lang="de-DE" sz="1050" b="1" dirty="0" err="1"/>
              <a:t>evolve</a:t>
            </a:r>
            <a:r>
              <a:rPr lang="de-DE" sz="1050" dirty="0"/>
              <a:t> internal </a:t>
            </a:r>
            <a:r>
              <a:rPr lang="de-DE" sz="1050" dirty="0" err="1"/>
              <a:t>dynamics</a:t>
            </a:r>
            <a:r>
              <a:rPr lang="de-DE" sz="1050" dirty="0"/>
              <a:t> </a:t>
            </a:r>
            <a:r>
              <a:rPr lang="de-DE" sz="1050" dirty="0" err="1"/>
              <a:t>that</a:t>
            </a:r>
            <a:r>
              <a:rPr lang="de-DE" sz="1050" dirty="0"/>
              <a:t> support </a:t>
            </a:r>
            <a:r>
              <a:rPr lang="de-DE" sz="1050" dirty="0" err="1"/>
              <a:t>adaptation</a:t>
            </a:r>
            <a:r>
              <a:rPr lang="de-DE" sz="1050" dirty="0"/>
              <a:t> </a:t>
            </a:r>
            <a:r>
              <a:rPr lang="de-DE" sz="1050" dirty="0" err="1"/>
              <a:t>to</a:t>
            </a:r>
            <a:r>
              <a:rPr lang="de-DE" sz="1050" dirty="0"/>
              <a:t> </a:t>
            </a:r>
            <a:r>
              <a:rPr lang="de-DE" sz="1050" dirty="0" err="1"/>
              <a:t>changing</a:t>
            </a:r>
            <a:r>
              <a:rPr lang="de-DE" sz="1050" dirty="0"/>
              <a:t> </a:t>
            </a:r>
            <a:r>
              <a:rPr lang="de-DE" sz="1050" dirty="0" err="1"/>
              <a:t>task</a:t>
            </a:r>
            <a:r>
              <a:rPr lang="de-DE" sz="1050" dirty="0"/>
              <a:t> </a:t>
            </a:r>
            <a:r>
              <a:rPr lang="de-DE" sz="1050" dirty="0" err="1"/>
              <a:t>rules</a:t>
            </a:r>
            <a:r>
              <a:rPr lang="de-DE" sz="105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7990947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DB616D-9FE5-AE7E-F2AB-CA3270F63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feld 12">
            <a:extLst>
              <a:ext uri="{FF2B5EF4-FFF2-40B4-BE49-F238E27FC236}">
                <a16:creationId xmlns:a16="http://schemas.microsoft.com/office/drawing/2014/main" id="{D522D7BF-ABB2-6CD2-1CDB-5427412F8EDA}"/>
              </a:ext>
            </a:extLst>
          </p:cNvPr>
          <p:cNvSpPr txBox="1"/>
          <p:nvPr/>
        </p:nvSpPr>
        <p:spPr>
          <a:xfrm>
            <a:off x="4333676" y="565843"/>
            <a:ext cx="35246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 err="1">
                <a:solidFill>
                  <a:srgbClr val="00336E"/>
                </a:solidFill>
                <a:ea typeface="Cormorant Garamond" pitchFamily="2" charset="0"/>
                <a:cs typeface="Cormorant Garamond" pitchFamily="2" charset="0"/>
              </a:rPr>
              <a:t>Foraging</a:t>
            </a:r>
            <a:r>
              <a:rPr lang="de-DE" sz="2400" dirty="0">
                <a:solidFill>
                  <a:srgbClr val="00336E"/>
                </a:solidFill>
                <a:ea typeface="Cormorant Garamond" pitchFamily="2" charset="0"/>
                <a:cs typeface="Cormorant Garamond" pitchFamily="2" charset="0"/>
              </a:rPr>
              <a:t> Task</a:t>
            </a:r>
            <a:endParaRPr lang="de-DE" sz="2400" b="1" dirty="0">
              <a:solidFill>
                <a:srgbClr val="00336E"/>
              </a:solidFill>
              <a:ea typeface="Cormorant Garamond" pitchFamily="2" charset="0"/>
              <a:cs typeface="Cormorant Garamond" pitchFamily="2" charset="0"/>
            </a:endParaRP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87224D6B-CAA5-5507-3492-8DD7521AE6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152" y="1349721"/>
            <a:ext cx="6955333" cy="4158557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535DF840-9422-8BA2-331C-7F1C46F6EEA1}"/>
              </a:ext>
            </a:extLst>
          </p:cNvPr>
          <p:cNvSpPr txBox="1"/>
          <p:nvPr/>
        </p:nvSpPr>
        <p:spPr>
          <a:xfrm>
            <a:off x="57350" y="5584270"/>
            <a:ext cx="514236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000" dirty="0"/>
              <a:t>Risto </a:t>
            </a:r>
            <a:r>
              <a:rPr lang="de-DE" sz="1000" dirty="0" err="1"/>
              <a:t>Miikkulainen</a:t>
            </a:r>
            <a:r>
              <a:rPr lang="de-DE" sz="1000" dirty="0"/>
              <a:t> (2025) </a:t>
            </a:r>
            <a:r>
              <a:rPr lang="de-DE" sz="1000" i="1" dirty="0"/>
              <a:t>Neuroevolution </a:t>
            </a:r>
            <a:r>
              <a:rPr lang="de-DE" sz="1000" i="1" dirty="0" err="1"/>
              <a:t>insights</a:t>
            </a:r>
            <a:r>
              <a:rPr lang="de-DE" sz="1000" i="1" dirty="0"/>
              <a:t> </a:t>
            </a:r>
            <a:r>
              <a:rPr lang="de-DE" sz="1000" i="1" dirty="0" err="1"/>
              <a:t>into</a:t>
            </a:r>
            <a:r>
              <a:rPr lang="de-DE" sz="1000" i="1" dirty="0"/>
              <a:t> </a:t>
            </a:r>
            <a:r>
              <a:rPr lang="de-DE" sz="1000" i="1" dirty="0" err="1"/>
              <a:t>biological</a:t>
            </a:r>
            <a:r>
              <a:rPr lang="de-DE" sz="1000" i="1" dirty="0"/>
              <a:t> </a:t>
            </a:r>
            <a:r>
              <a:rPr lang="de-DE" sz="1000" i="1" dirty="0" err="1"/>
              <a:t>neural</a:t>
            </a:r>
            <a:r>
              <a:rPr lang="de-DE" sz="1000" i="1" dirty="0"/>
              <a:t> </a:t>
            </a:r>
            <a:r>
              <a:rPr lang="de-DE" sz="1000" i="1" dirty="0" err="1"/>
              <a:t>computation</a:t>
            </a:r>
            <a:r>
              <a:rPr lang="de-DE" sz="1000" dirty="0"/>
              <a:t>. Science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01943B92-50F8-7F83-2D47-35001C9577F0}"/>
              </a:ext>
            </a:extLst>
          </p:cNvPr>
          <p:cNvSpPr txBox="1"/>
          <p:nvPr/>
        </p:nvSpPr>
        <p:spPr>
          <a:xfrm>
            <a:off x="7180097" y="5507325"/>
            <a:ext cx="478330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000" dirty="0"/>
              <a:t>Jiang, WC., </a:t>
            </a:r>
            <a:r>
              <a:rPr lang="de-DE" sz="1000" dirty="0" err="1"/>
              <a:t>Xu</a:t>
            </a:r>
            <a:r>
              <a:rPr lang="de-DE" sz="1000" dirty="0"/>
              <a:t>, S. &amp; Dudman, J.T. (2022) </a:t>
            </a:r>
            <a:r>
              <a:rPr lang="de-DE" sz="1000" i="1" dirty="0"/>
              <a:t>Hippocampal </a:t>
            </a:r>
            <a:r>
              <a:rPr lang="de-DE" sz="1000" i="1" dirty="0" err="1"/>
              <a:t>representations</a:t>
            </a:r>
            <a:r>
              <a:rPr lang="de-DE" sz="1000" i="1" dirty="0"/>
              <a:t> </a:t>
            </a:r>
            <a:r>
              <a:rPr lang="de-DE" sz="1000" i="1" dirty="0" err="1"/>
              <a:t>of</a:t>
            </a:r>
            <a:r>
              <a:rPr lang="de-DE" sz="1000" i="1" dirty="0"/>
              <a:t> </a:t>
            </a:r>
            <a:r>
              <a:rPr lang="de-DE" sz="1000" i="1" dirty="0" err="1"/>
              <a:t>foraging</a:t>
            </a:r>
            <a:r>
              <a:rPr lang="de-DE" sz="1000" i="1" dirty="0"/>
              <a:t> </a:t>
            </a:r>
            <a:r>
              <a:rPr lang="de-DE" sz="1000" i="1" dirty="0" err="1"/>
              <a:t>trajectories</a:t>
            </a:r>
            <a:r>
              <a:rPr lang="de-DE" sz="1000" i="1" dirty="0"/>
              <a:t> </a:t>
            </a:r>
            <a:r>
              <a:rPr lang="de-DE" sz="1000" i="1" dirty="0" err="1"/>
              <a:t>depend</a:t>
            </a:r>
            <a:r>
              <a:rPr lang="de-DE" sz="1000" i="1" dirty="0"/>
              <a:t> upon </a:t>
            </a:r>
            <a:r>
              <a:rPr lang="de-DE" sz="1000" i="1" dirty="0" err="1"/>
              <a:t>spatial</a:t>
            </a:r>
            <a:r>
              <a:rPr lang="de-DE" sz="1000" i="1" dirty="0"/>
              <a:t> </a:t>
            </a:r>
            <a:r>
              <a:rPr lang="de-DE" sz="1000" i="1" dirty="0" err="1"/>
              <a:t>context</a:t>
            </a:r>
            <a:r>
              <a:rPr lang="de-DE" sz="1000" i="1" dirty="0"/>
              <a:t>. </a:t>
            </a:r>
            <a:r>
              <a:rPr lang="de-DE" sz="1000" dirty="0"/>
              <a:t>Nat </a:t>
            </a:r>
            <a:r>
              <a:rPr lang="de-DE" sz="1000" dirty="0" err="1"/>
              <a:t>Neurosci</a:t>
            </a:r>
            <a:endParaRPr lang="de-DE" sz="1000" dirty="0"/>
          </a:p>
        </p:txBody>
      </p: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6D82E11A-6EF5-BB94-CCA8-3FF91BCD749F}"/>
              </a:ext>
            </a:extLst>
          </p:cNvPr>
          <p:cNvGrpSpPr/>
          <p:nvPr/>
        </p:nvGrpSpPr>
        <p:grpSpPr>
          <a:xfrm>
            <a:off x="7180097" y="1349720"/>
            <a:ext cx="5011903" cy="4158557"/>
            <a:chOff x="7180097" y="1349720"/>
            <a:chExt cx="5011903" cy="4158557"/>
          </a:xfrm>
        </p:grpSpPr>
        <p:pic>
          <p:nvPicPr>
            <p:cNvPr id="8" name="Grafik 7">
              <a:extLst>
                <a:ext uri="{FF2B5EF4-FFF2-40B4-BE49-F238E27FC236}">
                  <a16:creationId xmlns:a16="http://schemas.microsoft.com/office/drawing/2014/main" id="{C37FCF53-7D1F-656D-192D-A46F1480465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180097" y="1349720"/>
              <a:ext cx="5011903" cy="4158557"/>
            </a:xfrm>
            <a:prstGeom prst="rect">
              <a:avLst/>
            </a:prstGeom>
          </p:spPr>
        </p:pic>
        <p:sp>
          <p:nvSpPr>
            <p:cNvPr id="12" name="Rechteck 11">
              <a:extLst>
                <a:ext uri="{FF2B5EF4-FFF2-40B4-BE49-F238E27FC236}">
                  <a16:creationId xmlns:a16="http://schemas.microsoft.com/office/drawing/2014/main" id="{BCD14306-B807-43E0-9FCC-550E1274D6C3}"/>
                </a:ext>
              </a:extLst>
            </p:cNvPr>
            <p:cNvSpPr/>
            <p:nvPr/>
          </p:nvSpPr>
          <p:spPr>
            <a:xfrm>
              <a:off x="11856720" y="1349721"/>
              <a:ext cx="312420" cy="207927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3" name="Freihandform: Form 2">
            <a:extLst>
              <a:ext uri="{FF2B5EF4-FFF2-40B4-BE49-F238E27FC236}">
                <a16:creationId xmlns:a16="http://schemas.microsoft.com/office/drawing/2014/main" id="{30DFCA77-CB03-A12B-0098-9EC82565E7D5}"/>
              </a:ext>
            </a:extLst>
          </p:cNvPr>
          <p:cNvSpPr/>
          <p:nvPr/>
        </p:nvSpPr>
        <p:spPr>
          <a:xfrm>
            <a:off x="5016736" y="-426720"/>
            <a:ext cx="7490460" cy="853440"/>
          </a:xfrm>
          <a:custGeom>
            <a:avLst/>
            <a:gdLst>
              <a:gd name="csX0" fmla="*/ 434340 w 7490460"/>
              <a:gd name="csY0" fmla="*/ 0 h 853440"/>
              <a:gd name="csX1" fmla="*/ 521875 w 7490460"/>
              <a:gd name="csY1" fmla="*/ 8669 h 853440"/>
              <a:gd name="csX2" fmla="*/ 555427 w 7490460"/>
              <a:gd name="csY2" fmla="*/ 18902 h 853440"/>
              <a:gd name="csX3" fmla="*/ 7490460 w 7490460"/>
              <a:gd name="csY3" fmla="*/ 18902 h 853440"/>
              <a:gd name="csX4" fmla="*/ 7490460 w 7490460"/>
              <a:gd name="csY4" fmla="*/ 853440 h 853440"/>
              <a:gd name="csX5" fmla="*/ 434340 w 7490460"/>
              <a:gd name="csY5" fmla="*/ 853440 h 853440"/>
              <a:gd name="csX6" fmla="*/ 426720 w 7490460"/>
              <a:gd name="csY6" fmla="*/ 853440 h 853440"/>
              <a:gd name="csX7" fmla="*/ 426720 w 7490460"/>
              <a:gd name="csY7" fmla="*/ 852685 h 853440"/>
              <a:gd name="csX8" fmla="*/ 346805 w 7490460"/>
              <a:gd name="csY8" fmla="*/ 844771 h 853440"/>
              <a:gd name="csX9" fmla="*/ 0 w 7490460"/>
              <a:gd name="csY9" fmla="*/ 426720 h 853440"/>
              <a:gd name="csX10" fmla="*/ 434340 w 7490460"/>
              <a:gd name="csY10" fmla="*/ 0 h 85344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7490460" h="853440">
                <a:moveTo>
                  <a:pt x="434340" y="0"/>
                </a:moveTo>
                <a:cubicBezTo>
                  <a:pt x="464325" y="0"/>
                  <a:pt x="493600" y="2985"/>
                  <a:pt x="521875" y="8669"/>
                </a:cubicBezTo>
                <a:lnTo>
                  <a:pt x="555427" y="18902"/>
                </a:lnTo>
                <a:lnTo>
                  <a:pt x="7490460" y="18902"/>
                </a:lnTo>
                <a:lnTo>
                  <a:pt x="7490460" y="853440"/>
                </a:lnTo>
                <a:lnTo>
                  <a:pt x="434340" y="853440"/>
                </a:lnTo>
                <a:lnTo>
                  <a:pt x="426720" y="853440"/>
                </a:lnTo>
                <a:lnTo>
                  <a:pt x="426720" y="852685"/>
                </a:lnTo>
                <a:lnTo>
                  <a:pt x="346805" y="844771"/>
                </a:lnTo>
                <a:cubicBezTo>
                  <a:pt x="148884" y="804981"/>
                  <a:pt x="0" y="632932"/>
                  <a:pt x="0" y="426720"/>
                </a:cubicBezTo>
                <a:cubicBezTo>
                  <a:pt x="0" y="191049"/>
                  <a:pt x="194461" y="0"/>
                  <a:pt x="434340" y="0"/>
                </a:cubicBezTo>
                <a:close/>
              </a:path>
            </a:pathLst>
          </a:custGeom>
          <a:solidFill>
            <a:srgbClr val="E3E9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de-DE" sz="1600" b="1">
              <a:solidFill>
                <a:schemeClr val="tx1"/>
              </a:solidFill>
            </a:endParaRP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6CFFF224-E14B-44C9-8D7F-D08586E7C146}"/>
              </a:ext>
            </a:extLst>
          </p:cNvPr>
          <p:cNvSpPr txBox="1"/>
          <p:nvPr/>
        </p:nvSpPr>
        <p:spPr>
          <a:xfrm>
            <a:off x="5227320" y="70082"/>
            <a:ext cx="758952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050" dirty="0"/>
              <a:t>Can minimal </a:t>
            </a:r>
            <a:r>
              <a:rPr lang="de-DE" sz="1050" dirty="0" err="1"/>
              <a:t>embedded</a:t>
            </a:r>
            <a:r>
              <a:rPr lang="de-DE" sz="1050" dirty="0"/>
              <a:t> </a:t>
            </a:r>
            <a:r>
              <a:rPr lang="de-DE" sz="1050" dirty="0" err="1"/>
              <a:t>networks</a:t>
            </a:r>
            <a:r>
              <a:rPr lang="de-DE" sz="1050" dirty="0"/>
              <a:t> </a:t>
            </a:r>
            <a:r>
              <a:rPr lang="de-DE" sz="1050" dirty="0" err="1"/>
              <a:t>evolve</a:t>
            </a:r>
            <a:r>
              <a:rPr lang="de-DE" sz="1050" dirty="0"/>
              <a:t> internal </a:t>
            </a:r>
            <a:r>
              <a:rPr lang="de-DE" sz="1050" dirty="0" err="1"/>
              <a:t>dynamics</a:t>
            </a:r>
            <a:r>
              <a:rPr lang="de-DE" sz="1050" dirty="0"/>
              <a:t> </a:t>
            </a:r>
            <a:r>
              <a:rPr lang="de-DE" sz="1050" dirty="0" err="1"/>
              <a:t>that</a:t>
            </a:r>
            <a:r>
              <a:rPr lang="de-DE" sz="1050" dirty="0"/>
              <a:t> support </a:t>
            </a:r>
            <a:r>
              <a:rPr lang="de-DE" sz="1050" dirty="0" err="1"/>
              <a:t>adaptation</a:t>
            </a:r>
            <a:r>
              <a:rPr lang="de-DE" sz="1050" dirty="0"/>
              <a:t> </a:t>
            </a:r>
            <a:r>
              <a:rPr lang="de-DE" sz="1050" dirty="0" err="1"/>
              <a:t>to</a:t>
            </a:r>
            <a:r>
              <a:rPr lang="de-DE" sz="1050" dirty="0"/>
              <a:t> </a:t>
            </a:r>
            <a:r>
              <a:rPr lang="de-DE" sz="1050" b="1" dirty="0" err="1"/>
              <a:t>changing</a:t>
            </a:r>
            <a:r>
              <a:rPr lang="de-DE" sz="1050" b="1" dirty="0"/>
              <a:t> </a:t>
            </a:r>
            <a:r>
              <a:rPr lang="de-DE" sz="1050" b="1" dirty="0" err="1"/>
              <a:t>task</a:t>
            </a:r>
            <a:r>
              <a:rPr lang="de-DE" sz="1050" b="1" dirty="0"/>
              <a:t> </a:t>
            </a:r>
            <a:r>
              <a:rPr lang="de-DE" sz="1050" b="1" dirty="0" err="1"/>
              <a:t>rules</a:t>
            </a:r>
            <a:r>
              <a:rPr lang="de-DE" sz="105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615200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61F827-1CE2-1688-D9BC-3D583D355C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feld 12">
            <a:extLst>
              <a:ext uri="{FF2B5EF4-FFF2-40B4-BE49-F238E27FC236}">
                <a16:creationId xmlns:a16="http://schemas.microsoft.com/office/drawing/2014/main" id="{1552BEF9-D46B-20A7-F18C-B6B4067944EA}"/>
              </a:ext>
            </a:extLst>
          </p:cNvPr>
          <p:cNvSpPr txBox="1"/>
          <p:nvPr/>
        </p:nvSpPr>
        <p:spPr>
          <a:xfrm>
            <a:off x="4333676" y="565843"/>
            <a:ext cx="35246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 err="1">
                <a:solidFill>
                  <a:srgbClr val="00336E"/>
                </a:solidFill>
                <a:ea typeface="Cormorant Garamond" pitchFamily="2" charset="0"/>
                <a:cs typeface="Cormorant Garamond" pitchFamily="2" charset="0"/>
              </a:rPr>
              <a:t>Foraging</a:t>
            </a:r>
            <a:r>
              <a:rPr lang="de-DE" sz="2400" dirty="0">
                <a:solidFill>
                  <a:srgbClr val="00336E"/>
                </a:solidFill>
                <a:ea typeface="Cormorant Garamond" pitchFamily="2" charset="0"/>
                <a:cs typeface="Cormorant Garamond" pitchFamily="2" charset="0"/>
              </a:rPr>
              <a:t> Task</a:t>
            </a:r>
            <a:endParaRPr lang="de-DE" sz="2400" b="1" dirty="0">
              <a:solidFill>
                <a:srgbClr val="00336E"/>
              </a:solidFill>
              <a:ea typeface="Cormorant Garamond" pitchFamily="2" charset="0"/>
              <a:cs typeface="Cormorant Garamond" pitchFamily="2" charset="0"/>
            </a:endParaRP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D047D47C-4BED-84AB-5DE5-B2E6D16777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3711" y="1027508"/>
            <a:ext cx="4719789" cy="4719789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93AC85F2-7193-28AC-3DDA-C20ED38B5D57}"/>
              </a:ext>
            </a:extLst>
          </p:cNvPr>
          <p:cNvSpPr txBox="1"/>
          <p:nvPr/>
        </p:nvSpPr>
        <p:spPr>
          <a:xfrm>
            <a:off x="5667462" y="1759473"/>
            <a:ext cx="5674176" cy="3072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800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No poison</a:t>
            </a:r>
            <a:endParaRPr lang="de-DE" sz="1800" dirty="0">
              <a:effectLst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  <a:buNone/>
            </a:pPr>
            <a:r>
              <a:rPr lang="de-DE" sz="1800" dirty="0" err="1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Sensory</a:t>
            </a:r>
            <a:r>
              <a:rPr lang="de-DE" sz="1800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de-DE" sz="1800" dirty="0" err="1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input</a:t>
            </a:r>
            <a:r>
              <a:rPr lang="de-DE" sz="1800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: 4 </a:t>
            </a:r>
            <a:r>
              <a:rPr lang="de-DE" sz="1800" dirty="0" err="1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directions</a:t>
            </a:r>
            <a:r>
              <a:rPr lang="de-DE" sz="1800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de-DE" dirty="0">
                <a:ea typeface="MS Mincho" panose="02020609040205080304" pitchFamily="49" charset="-128"/>
                <a:cs typeface="Times New Roman" panose="02020603050405020304" pitchFamily="18" charset="0"/>
              </a:rPr>
              <a:t>+ </a:t>
            </a:r>
            <a:r>
              <a:rPr lang="de-DE" dirty="0" err="1">
                <a:ea typeface="MS Mincho" panose="02020609040205080304" pitchFamily="49" charset="-128"/>
                <a:cs typeface="Times New Roman" panose="02020603050405020304" pitchFamily="18" charset="0"/>
              </a:rPr>
              <a:t>current</a:t>
            </a:r>
            <a:r>
              <a:rPr lang="de-DE" dirty="0"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de-DE" dirty="0" err="1">
                <a:ea typeface="MS Mincho" panose="02020609040205080304" pitchFamily="49" charset="-128"/>
                <a:cs typeface="Times New Roman" panose="02020603050405020304" pitchFamily="18" charset="0"/>
              </a:rPr>
              <a:t>field</a:t>
            </a:r>
            <a:endParaRPr lang="de-DE" dirty="0"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  <a:buNone/>
            </a:pPr>
            <a:r>
              <a:rPr lang="de-DE" sz="1800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Output: </a:t>
            </a:r>
            <a:r>
              <a:rPr lang="de-DE" sz="1800" dirty="0" err="1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movement</a:t>
            </a:r>
            <a:r>
              <a:rPr lang="de-DE" sz="1800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 in 4 </a:t>
            </a:r>
            <a:r>
              <a:rPr lang="de-DE" sz="1800" dirty="0" err="1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directions</a:t>
            </a:r>
            <a:r>
              <a:rPr lang="de-DE" sz="1800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 + </a:t>
            </a:r>
            <a:r>
              <a:rPr lang="de-DE" sz="1800" dirty="0" err="1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stay</a:t>
            </a:r>
            <a:r>
              <a:rPr lang="de-DE" sz="1800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de-DE" sz="1800" dirty="0" err="1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signal</a:t>
            </a:r>
            <a:r>
              <a:rPr lang="de-DE" sz="1800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de-DE" sz="1800" dirty="0" err="1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to</a:t>
            </a:r>
            <a:r>
              <a:rPr lang="de-DE" sz="1800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de-DE" sz="1800" dirty="0" err="1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forage</a:t>
            </a:r>
            <a:endParaRPr lang="de-DE" sz="1800" dirty="0">
              <a:effectLst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  <a:buNone/>
            </a:pPr>
            <a:endParaRPr lang="de-DE" dirty="0"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  <a:buNone/>
            </a:pPr>
            <a:r>
              <a:rPr lang="de-DE" sz="1800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Task: </a:t>
            </a:r>
          </a:p>
          <a:p>
            <a:pPr>
              <a:lnSpc>
                <a:spcPct val="115000"/>
              </a:lnSpc>
              <a:spcAft>
                <a:spcPts val="1000"/>
              </a:spcAft>
              <a:buNone/>
            </a:pPr>
            <a:r>
              <a:rPr lang="de-DE" dirty="0" err="1">
                <a:ea typeface="MS Mincho" panose="02020609040205080304" pitchFamily="49" charset="-128"/>
                <a:cs typeface="Times New Roman" panose="02020603050405020304" pitchFamily="18" charset="0"/>
              </a:rPr>
              <a:t>Metabolic</a:t>
            </a:r>
            <a:r>
              <a:rPr lang="de-DE" dirty="0"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de-DE" dirty="0" err="1">
                <a:ea typeface="MS Mincho" panose="02020609040205080304" pitchFamily="49" charset="-128"/>
                <a:cs typeface="Times New Roman" panose="02020603050405020304" pitchFamily="18" charset="0"/>
              </a:rPr>
              <a:t>cost</a:t>
            </a:r>
            <a:r>
              <a:rPr lang="de-DE" dirty="0">
                <a:ea typeface="MS Mincho" panose="02020609040205080304" pitchFamily="49" charset="-128"/>
                <a:cs typeface="Times New Roman" panose="02020603050405020304" pitchFamily="18" charset="0"/>
              </a:rPr>
              <a:t> + Movement </a:t>
            </a:r>
            <a:r>
              <a:rPr lang="de-DE" dirty="0" err="1">
                <a:ea typeface="MS Mincho" panose="02020609040205080304" pitchFamily="49" charset="-128"/>
                <a:cs typeface="Times New Roman" panose="02020603050405020304" pitchFamily="18" charset="0"/>
              </a:rPr>
              <a:t>cost</a:t>
            </a:r>
            <a:endParaRPr lang="de-DE" dirty="0"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  <a:buNone/>
            </a:pPr>
            <a:r>
              <a:rPr lang="de-DE" sz="1800" dirty="0" err="1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Foraging</a:t>
            </a:r>
            <a:r>
              <a:rPr lang="de-DE" sz="1800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 = </a:t>
            </a:r>
            <a:r>
              <a:rPr lang="de-DE" sz="1800" dirty="0" err="1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energy</a:t>
            </a:r>
            <a:r>
              <a:rPr lang="de-DE" sz="1800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de-DE" sz="1800" dirty="0" err="1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refill</a:t>
            </a:r>
            <a:endParaRPr lang="en-US" sz="1800" dirty="0">
              <a:effectLst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2" name="Freihandform: Form 1">
            <a:extLst>
              <a:ext uri="{FF2B5EF4-FFF2-40B4-BE49-F238E27FC236}">
                <a16:creationId xmlns:a16="http://schemas.microsoft.com/office/drawing/2014/main" id="{A042E3D4-6634-DF9F-0596-682FEBB84128}"/>
              </a:ext>
            </a:extLst>
          </p:cNvPr>
          <p:cNvSpPr/>
          <p:nvPr/>
        </p:nvSpPr>
        <p:spPr>
          <a:xfrm>
            <a:off x="5016736" y="-426720"/>
            <a:ext cx="7490460" cy="853440"/>
          </a:xfrm>
          <a:custGeom>
            <a:avLst/>
            <a:gdLst>
              <a:gd name="csX0" fmla="*/ 434340 w 7490460"/>
              <a:gd name="csY0" fmla="*/ 0 h 853440"/>
              <a:gd name="csX1" fmla="*/ 521875 w 7490460"/>
              <a:gd name="csY1" fmla="*/ 8669 h 853440"/>
              <a:gd name="csX2" fmla="*/ 555427 w 7490460"/>
              <a:gd name="csY2" fmla="*/ 18902 h 853440"/>
              <a:gd name="csX3" fmla="*/ 7490460 w 7490460"/>
              <a:gd name="csY3" fmla="*/ 18902 h 853440"/>
              <a:gd name="csX4" fmla="*/ 7490460 w 7490460"/>
              <a:gd name="csY4" fmla="*/ 853440 h 853440"/>
              <a:gd name="csX5" fmla="*/ 434340 w 7490460"/>
              <a:gd name="csY5" fmla="*/ 853440 h 853440"/>
              <a:gd name="csX6" fmla="*/ 426720 w 7490460"/>
              <a:gd name="csY6" fmla="*/ 853440 h 853440"/>
              <a:gd name="csX7" fmla="*/ 426720 w 7490460"/>
              <a:gd name="csY7" fmla="*/ 852685 h 853440"/>
              <a:gd name="csX8" fmla="*/ 346805 w 7490460"/>
              <a:gd name="csY8" fmla="*/ 844771 h 853440"/>
              <a:gd name="csX9" fmla="*/ 0 w 7490460"/>
              <a:gd name="csY9" fmla="*/ 426720 h 853440"/>
              <a:gd name="csX10" fmla="*/ 434340 w 7490460"/>
              <a:gd name="csY10" fmla="*/ 0 h 85344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7490460" h="853440">
                <a:moveTo>
                  <a:pt x="434340" y="0"/>
                </a:moveTo>
                <a:cubicBezTo>
                  <a:pt x="464325" y="0"/>
                  <a:pt x="493600" y="2985"/>
                  <a:pt x="521875" y="8669"/>
                </a:cubicBezTo>
                <a:lnTo>
                  <a:pt x="555427" y="18902"/>
                </a:lnTo>
                <a:lnTo>
                  <a:pt x="7490460" y="18902"/>
                </a:lnTo>
                <a:lnTo>
                  <a:pt x="7490460" y="853440"/>
                </a:lnTo>
                <a:lnTo>
                  <a:pt x="434340" y="853440"/>
                </a:lnTo>
                <a:lnTo>
                  <a:pt x="426720" y="853440"/>
                </a:lnTo>
                <a:lnTo>
                  <a:pt x="426720" y="852685"/>
                </a:lnTo>
                <a:lnTo>
                  <a:pt x="346805" y="844771"/>
                </a:lnTo>
                <a:cubicBezTo>
                  <a:pt x="148884" y="804981"/>
                  <a:pt x="0" y="632932"/>
                  <a:pt x="0" y="426720"/>
                </a:cubicBezTo>
                <a:cubicBezTo>
                  <a:pt x="0" y="191049"/>
                  <a:pt x="194461" y="0"/>
                  <a:pt x="434340" y="0"/>
                </a:cubicBezTo>
                <a:close/>
              </a:path>
            </a:pathLst>
          </a:custGeom>
          <a:solidFill>
            <a:srgbClr val="E3E9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de-DE" sz="1600" b="1">
              <a:solidFill>
                <a:schemeClr val="tx1"/>
              </a:solidFill>
            </a:endParaRP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8396A18A-E1F0-AE53-C981-A2C7B6F00676}"/>
              </a:ext>
            </a:extLst>
          </p:cNvPr>
          <p:cNvSpPr txBox="1"/>
          <p:nvPr/>
        </p:nvSpPr>
        <p:spPr>
          <a:xfrm>
            <a:off x="5227320" y="70082"/>
            <a:ext cx="758952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050" dirty="0"/>
              <a:t>Can minimal </a:t>
            </a:r>
            <a:r>
              <a:rPr lang="de-DE" sz="1050" dirty="0" err="1"/>
              <a:t>embedded</a:t>
            </a:r>
            <a:r>
              <a:rPr lang="de-DE" sz="1050" dirty="0"/>
              <a:t> </a:t>
            </a:r>
            <a:r>
              <a:rPr lang="de-DE" sz="1050" dirty="0" err="1"/>
              <a:t>networks</a:t>
            </a:r>
            <a:r>
              <a:rPr lang="de-DE" sz="1050" dirty="0"/>
              <a:t> </a:t>
            </a:r>
            <a:r>
              <a:rPr lang="de-DE" sz="1050" dirty="0" err="1"/>
              <a:t>evolve</a:t>
            </a:r>
            <a:r>
              <a:rPr lang="de-DE" sz="1050" dirty="0"/>
              <a:t> internal </a:t>
            </a:r>
            <a:r>
              <a:rPr lang="de-DE" sz="1050" dirty="0" err="1"/>
              <a:t>dynamics</a:t>
            </a:r>
            <a:r>
              <a:rPr lang="de-DE" sz="1050" dirty="0"/>
              <a:t> </a:t>
            </a:r>
            <a:r>
              <a:rPr lang="de-DE" sz="1050" dirty="0" err="1"/>
              <a:t>that</a:t>
            </a:r>
            <a:r>
              <a:rPr lang="de-DE" sz="1050" dirty="0"/>
              <a:t> support </a:t>
            </a:r>
            <a:r>
              <a:rPr lang="de-DE" sz="1050" dirty="0" err="1"/>
              <a:t>adaptation</a:t>
            </a:r>
            <a:r>
              <a:rPr lang="de-DE" sz="1050" dirty="0"/>
              <a:t> </a:t>
            </a:r>
            <a:r>
              <a:rPr lang="de-DE" sz="1050" dirty="0" err="1"/>
              <a:t>to</a:t>
            </a:r>
            <a:r>
              <a:rPr lang="de-DE" sz="1050" dirty="0"/>
              <a:t> </a:t>
            </a:r>
            <a:r>
              <a:rPr lang="de-DE" sz="1050" b="1" dirty="0" err="1"/>
              <a:t>changing</a:t>
            </a:r>
            <a:r>
              <a:rPr lang="de-DE" sz="1050" b="1" dirty="0"/>
              <a:t> </a:t>
            </a:r>
            <a:r>
              <a:rPr lang="de-DE" sz="1050" b="1" dirty="0" err="1"/>
              <a:t>task</a:t>
            </a:r>
            <a:r>
              <a:rPr lang="de-DE" sz="1050" b="1" dirty="0"/>
              <a:t> </a:t>
            </a:r>
            <a:r>
              <a:rPr lang="de-DE" sz="1050" b="1" dirty="0" err="1"/>
              <a:t>rules</a:t>
            </a:r>
            <a:r>
              <a:rPr lang="de-DE" sz="105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2879037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94D8B7-F7A5-78D7-A829-584FE45B7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feld 12">
            <a:extLst>
              <a:ext uri="{FF2B5EF4-FFF2-40B4-BE49-F238E27FC236}">
                <a16:creationId xmlns:a16="http://schemas.microsoft.com/office/drawing/2014/main" id="{7CD38AB6-792C-918F-99CD-D561EA60AB07}"/>
              </a:ext>
            </a:extLst>
          </p:cNvPr>
          <p:cNvSpPr txBox="1"/>
          <p:nvPr/>
        </p:nvSpPr>
        <p:spPr>
          <a:xfrm>
            <a:off x="3242419" y="565843"/>
            <a:ext cx="57071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>
                <a:solidFill>
                  <a:srgbClr val="00336E"/>
                </a:solidFill>
                <a:ea typeface="Cormorant Garamond" pitchFamily="2" charset="0"/>
                <a:cs typeface="Cormorant Garamond" pitchFamily="2" charset="0"/>
              </a:rPr>
              <a:t>Neuronal Network – The </a:t>
            </a:r>
            <a:r>
              <a:rPr lang="de-DE" sz="2400" dirty="0" err="1">
                <a:solidFill>
                  <a:srgbClr val="00336E"/>
                </a:solidFill>
                <a:ea typeface="Cormorant Garamond" pitchFamily="2" charset="0"/>
                <a:cs typeface="Cormorant Garamond" pitchFamily="2" charset="0"/>
              </a:rPr>
              <a:t>agent‘s</a:t>
            </a:r>
            <a:r>
              <a:rPr lang="de-DE" sz="2400" dirty="0">
                <a:solidFill>
                  <a:srgbClr val="00336E"/>
                </a:solidFill>
                <a:ea typeface="Cormorant Garamond" pitchFamily="2" charset="0"/>
                <a:cs typeface="Cormorant Garamond" pitchFamily="2" charset="0"/>
              </a:rPr>
              <a:t> </a:t>
            </a:r>
            <a:r>
              <a:rPr lang="de-DE" sz="2400" dirty="0" err="1">
                <a:solidFill>
                  <a:srgbClr val="00336E"/>
                </a:solidFill>
                <a:ea typeface="Cormorant Garamond" pitchFamily="2" charset="0"/>
                <a:cs typeface="Cormorant Garamond" pitchFamily="2" charset="0"/>
              </a:rPr>
              <a:t>brain</a:t>
            </a:r>
            <a:endParaRPr lang="de-DE" sz="2400" b="1" dirty="0">
              <a:solidFill>
                <a:srgbClr val="00336E"/>
              </a:solidFill>
              <a:ea typeface="Cormorant Garamond" pitchFamily="2" charset="0"/>
              <a:cs typeface="Cormorant Garamond" pitchFamily="2" charset="0"/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98FB2912-22DB-5331-3D79-8D9F41895C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360" y="1120222"/>
            <a:ext cx="11586056" cy="4461427"/>
          </a:xfrm>
          <a:prstGeom prst="rect">
            <a:avLst/>
          </a:prstGeom>
        </p:spPr>
      </p:pic>
      <p:sp>
        <p:nvSpPr>
          <p:cNvPr id="12" name="Textfeld 11">
            <a:extLst>
              <a:ext uri="{FF2B5EF4-FFF2-40B4-BE49-F238E27FC236}">
                <a16:creationId xmlns:a16="http://schemas.microsoft.com/office/drawing/2014/main" id="{C1F9B94B-E0E8-D3DE-90AE-DED58B2244DF}"/>
              </a:ext>
            </a:extLst>
          </p:cNvPr>
          <p:cNvSpPr txBox="1"/>
          <p:nvPr/>
        </p:nvSpPr>
        <p:spPr>
          <a:xfrm>
            <a:off x="239361" y="5614667"/>
            <a:ext cx="301819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000" dirty="0"/>
              <a:t>Zhang, XJ., Moore, J.M., Yan, G. et al. (2023) </a:t>
            </a:r>
            <a:r>
              <a:rPr lang="de-DE" sz="1000" i="1" dirty="0"/>
              <a:t>Universal </a:t>
            </a:r>
            <a:r>
              <a:rPr lang="de-DE" sz="1000" i="1" dirty="0" err="1"/>
              <a:t>structural</a:t>
            </a:r>
            <a:r>
              <a:rPr lang="de-DE" sz="1000" i="1" dirty="0"/>
              <a:t> </a:t>
            </a:r>
            <a:r>
              <a:rPr lang="de-DE" sz="1000" i="1" dirty="0" err="1"/>
              <a:t>patterns</a:t>
            </a:r>
            <a:r>
              <a:rPr lang="de-DE" sz="1000" i="1" dirty="0"/>
              <a:t> in </a:t>
            </a:r>
            <a:r>
              <a:rPr lang="de-DE" sz="1000" i="1" dirty="0" err="1"/>
              <a:t>sparse</a:t>
            </a:r>
            <a:r>
              <a:rPr lang="de-DE" sz="1000" i="1" dirty="0"/>
              <a:t> </a:t>
            </a:r>
            <a:r>
              <a:rPr lang="de-DE" sz="1000" i="1" dirty="0" err="1"/>
              <a:t>recurrent</a:t>
            </a:r>
            <a:r>
              <a:rPr lang="de-DE" sz="1000" i="1" dirty="0"/>
              <a:t> </a:t>
            </a:r>
            <a:r>
              <a:rPr lang="de-DE" sz="1000" i="1" dirty="0" err="1"/>
              <a:t>neural</a:t>
            </a:r>
            <a:r>
              <a:rPr lang="de-DE" sz="1000" i="1" dirty="0"/>
              <a:t> </a:t>
            </a:r>
            <a:r>
              <a:rPr lang="de-DE" sz="1000" i="1" dirty="0" err="1"/>
              <a:t>networks</a:t>
            </a:r>
            <a:r>
              <a:rPr lang="de-DE" sz="1000" i="1" dirty="0"/>
              <a:t>. </a:t>
            </a:r>
            <a:r>
              <a:rPr lang="de-DE" sz="1000" dirty="0"/>
              <a:t>Commun </a:t>
            </a:r>
            <a:r>
              <a:rPr lang="de-DE" sz="1000" dirty="0" err="1"/>
              <a:t>Phys</a:t>
            </a:r>
            <a:endParaRPr lang="de-DE" sz="1000" dirty="0"/>
          </a:p>
        </p:txBody>
      </p:sp>
      <p:sp>
        <p:nvSpPr>
          <p:cNvPr id="2" name="Freihandform: Form 1">
            <a:extLst>
              <a:ext uri="{FF2B5EF4-FFF2-40B4-BE49-F238E27FC236}">
                <a16:creationId xmlns:a16="http://schemas.microsoft.com/office/drawing/2014/main" id="{B74233C4-3139-EB54-35E9-FAB929DF8647}"/>
              </a:ext>
            </a:extLst>
          </p:cNvPr>
          <p:cNvSpPr/>
          <p:nvPr/>
        </p:nvSpPr>
        <p:spPr>
          <a:xfrm>
            <a:off x="5016736" y="-426720"/>
            <a:ext cx="7490460" cy="853440"/>
          </a:xfrm>
          <a:custGeom>
            <a:avLst/>
            <a:gdLst>
              <a:gd name="csX0" fmla="*/ 434340 w 7490460"/>
              <a:gd name="csY0" fmla="*/ 0 h 853440"/>
              <a:gd name="csX1" fmla="*/ 521875 w 7490460"/>
              <a:gd name="csY1" fmla="*/ 8669 h 853440"/>
              <a:gd name="csX2" fmla="*/ 555427 w 7490460"/>
              <a:gd name="csY2" fmla="*/ 18902 h 853440"/>
              <a:gd name="csX3" fmla="*/ 7490460 w 7490460"/>
              <a:gd name="csY3" fmla="*/ 18902 h 853440"/>
              <a:gd name="csX4" fmla="*/ 7490460 w 7490460"/>
              <a:gd name="csY4" fmla="*/ 853440 h 853440"/>
              <a:gd name="csX5" fmla="*/ 434340 w 7490460"/>
              <a:gd name="csY5" fmla="*/ 853440 h 853440"/>
              <a:gd name="csX6" fmla="*/ 426720 w 7490460"/>
              <a:gd name="csY6" fmla="*/ 853440 h 853440"/>
              <a:gd name="csX7" fmla="*/ 426720 w 7490460"/>
              <a:gd name="csY7" fmla="*/ 852685 h 853440"/>
              <a:gd name="csX8" fmla="*/ 346805 w 7490460"/>
              <a:gd name="csY8" fmla="*/ 844771 h 853440"/>
              <a:gd name="csX9" fmla="*/ 0 w 7490460"/>
              <a:gd name="csY9" fmla="*/ 426720 h 853440"/>
              <a:gd name="csX10" fmla="*/ 434340 w 7490460"/>
              <a:gd name="csY10" fmla="*/ 0 h 85344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7490460" h="853440">
                <a:moveTo>
                  <a:pt x="434340" y="0"/>
                </a:moveTo>
                <a:cubicBezTo>
                  <a:pt x="464325" y="0"/>
                  <a:pt x="493600" y="2985"/>
                  <a:pt x="521875" y="8669"/>
                </a:cubicBezTo>
                <a:lnTo>
                  <a:pt x="555427" y="18902"/>
                </a:lnTo>
                <a:lnTo>
                  <a:pt x="7490460" y="18902"/>
                </a:lnTo>
                <a:lnTo>
                  <a:pt x="7490460" y="853440"/>
                </a:lnTo>
                <a:lnTo>
                  <a:pt x="434340" y="853440"/>
                </a:lnTo>
                <a:lnTo>
                  <a:pt x="426720" y="853440"/>
                </a:lnTo>
                <a:lnTo>
                  <a:pt x="426720" y="852685"/>
                </a:lnTo>
                <a:lnTo>
                  <a:pt x="346805" y="844771"/>
                </a:lnTo>
                <a:cubicBezTo>
                  <a:pt x="148884" y="804981"/>
                  <a:pt x="0" y="632932"/>
                  <a:pt x="0" y="426720"/>
                </a:cubicBezTo>
                <a:cubicBezTo>
                  <a:pt x="0" y="191049"/>
                  <a:pt x="194461" y="0"/>
                  <a:pt x="434340" y="0"/>
                </a:cubicBezTo>
                <a:close/>
              </a:path>
            </a:pathLst>
          </a:custGeom>
          <a:solidFill>
            <a:srgbClr val="E3E9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de-DE" sz="1600" b="1">
              <a:solidFill>
                <a:schemeClr val="tx1"/>
              </a:solidFill>
            </a:endParaRP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43FA8E58-CD21-EE8F-D084-4FB1D2F3450C}"/>
              </a:ext>
            </a:extLst>
          </p:cNvPr>
          <p:cNvSpPr txBox="1"/>
          <p:nvPr/>
        </p:nvSpPr>
        <p:spPr>
          <a:xfrm>
            <a:off x="5227320" y="70082"/>
            <a:ext cx="758952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050" dirty="0"/>
              <a:t>Can </a:t>
            </a:r>
            <a:r>
              <a:rPr lang="de-DE" sz="1050" b="1" dirty="0"/>
              <a:t>minimal</a:t>
            </a:r>
            <a:r>
              <a:rPr lang="de-DE" sz="1050" dirty="0"/>
              <a:t> </a:t>
            </a:r>
            <a:r>
              <a:rPr lang="de-DE" sz="1050" dirty="0" err="1"/>
              <a:t>embedded</a:t>
            </a:r>
            <a:r>
              <a:rPr lang="de-DE" sz="1050" b="1" dirty="0"/>
              <a:t> </a:t>
            </a:r>
            <a:r>
              <a:rPr lang="de-DE" sz="1050" b="1" dirty="0" err="1"/>
              <a:t>networks</a:t>
            </a:r>
            <a:r>
              <a:rPr lang="de-DE" sz="1050" b="1" dirty="0"/>
              <a:t> </a:t>
            </a:r>
            <a:r>
              <a:rPr lang="de-DE" sz="1050" dirty="0" err="1"/>
              <a:t>evolve</a:t>
            </a:r>
            <a:r>
              <a:rPr lang="de-DE" sz="1050" dirty="0"/>
              <a:t> internal </a:t>
            </a:r>
            <a:r>
              <a:rPr lang="de-DE" sz="1050" dirty="0" err="1"/>
              <a:t>dynamics</a:t>
            </a:r>
            <a:r>
              <a:rPr lang="de-DE" sz="1050" dirty="0"/>
              <a:t> </a:t>
            </a:r>
            <a:r>
              <a:rPr lang="de-DE" sz="1050" dirty="0" err="1"/>
              <a:t>that</a:t>
            </a:r>
            <a:r>
              <a:rPr lang="de-DE" sz="1050" dirty="0"/>
              <a:t> support </a:t>
            </a:r>
            <a:r>
              <a:rPr lang="de-DE" sz="1050" dirty="0" err="1"/>
              <a:t>adaptation</a:t>
            </a:r>
            <a:r>
              <a:rPr lang="de-DE" sz="1050" dirty="0"/>
              <a:t> </a:t>
            </a:r>
            <a:r>
              <a:rPr lang="de-DE" sz="1050" dirty="0" err="1"/>
              <a:t>to</a:t>
            </a:r>
            <a:r>
              <a:rPr lang="de-DE" sz="1050" dirty="0"/>
              <a:t> </a:t>
            </a:r>
            <a:r>
              <a:rPr lang="de-DE" sz="1050" dirty="0" err="1"/>
              <a:t>changing</a:t>
            </a:r>
            <a:r>
              <a:rPr lang="de-DE" sz="1050" dirty="0"/>
              <a:t> </a:t>
            </a:r>
            <a:r>
              <a:rPr lang="de-DE" sz="1050" dirty="0" err="1"/>
              <a:t>task</a:t>
            </a:r>
            <a:r>
              <a:rPr lang="de-DE" sz="1050" dirty="0"/>
              <a:t> </a:t>
            </a:r>
            <a:r>
              <a:rPr lang="de-DE" sz="1050" dirty="0" err="1"/>
              <a:t>rules</a:t>
            </a:r>
            <a:r>
              <a:rPr lang="de-DE" sz="105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9839982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7F6E3D-D935-F3AE-51B0-29D4CC4AF1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9D990FBD-5D9E-6221-3B24-995E5137111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73950"/>
          <a:stretch>
            <a:fillRect/>
          </a:stretch>
        </p:blipFill>
        <p:spPr>
          <a:xfrm>
            <a:off x="239360" y="1120222"/>
            <a:ext cx="3018190" cy="4461427"/>
          </a:xfrm>
          <a:prstGeom prst="rect">
            <a:avLst/>
          </a:prstGeom>
        </p:spPr>
      </p:pic>
      <p:pic>
        <p:nvPicPr>
          <p:cNvPr id="8" name="Grafik 7" descr="Recurrent Neural Network">
            <a:extLst>
              <a:ext uri="{FF2B5EF4-FFF2-40B4-BE49-F238E27FC236}">
                <a16:creationId xmlns:a16="http://schemas.microsoft.com/office/drawing/2014/main" id="{15F6E816-F0C4-F4B0-D608-091F091C96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4340" y="1120222"/>
            <a:ext cx="6035635" cy="4467785"/>
          </a:xfrm>
          <a:prstGeom prst="rect">
            <a:avLst/>
          </a:prstGeom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63F4250B-B81F-29FB-7422-B2232C50DD9D}"/>
              </a:ext>
            </a:extLst>
          </p:cNvPr>
          <p:cNvSpPr txBox="1"/>
          <p:nvPr/>
        </p:nvSpPr>
        <p:spPr>
          <a:xfrm>
            <a:off x="239361" y="5614667"/>
            <a:ext cx="301819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000" dirty="0"/>
              <a:t>Zhang, XJ., Moore, J.M., Yan, G. et al. (2023) </a:t>
            </a:r>
            <a:r>
              <a:rPr lang="de-DE" sz="1000" i="1" dirty="0"/>
              <a:t>Universal </a:t>
            </a:r>
            <a:r>
              <a:rPr lang="de-DE" sz="1000" i="1" dirty="0" err="1"/>
              <a:t>structural</a:t>
            </a:r>
            <a:r>
              <a:rPr lang="de-DE" sz="1000" i="1" dirty="0"/>
              <a:t> </a:t>
            </a:r>
            <a:r>
              <a:rPr lang="de-DE" sz="1000" i="1" dirty="0" err="1"/>
              <a:t>patterns</a:t>
            </a:r>
            <a:r>
              <a:rPr lang="de-DE" sz="1000" i="1" dirty="0"/>
              <a:t> in </a:t>
            </a:r>
            <a:r>
              <a:rPr lang="de-DE" sz="1000" i="1" dirty="0" err="1"/>
              <a:t>sparse</a:t>
            </a:r>
            <a:r>
              <a:rPr lang="de-DE" sz="1000" i="1" dirty="0"/>
              <a:t> </a:t>
            </a:r>
            <a:r>
              <a:rPr lang="de-DE" sz="1000" i="1" dirty="0" err="1"/>
              <a:t>recurrent</a:t>
            </a:r>
            <a:r>
              <a:rPr lang="de-DE" sz="1000" i="1" dirty="0"/>
              <a:t> </a:t>
            </a:r>
            <a:r>
              <a:rPr lang="de-DE" sz="1000" i="1" dirty="0" err="1"/>
              <a:t>neural</a:t>
            </a:r>
            <a:r>
              <a:rPr lang="de-DE" sz="1000" i="1" dirty="0"/>
              <a:t> </a:t>
            </a:r>
            <a:r>
              <a:rPr lang="de-DE" sz="1000" i="1" dirty="0" err="1"/>
              <a:t>networks</a:t>
            </a:r>
            <a:r>
              <a:rPr lang="de-DE" sz="1000" i="1" dirty="0"/>
              <a:t>. </a:t>
            </a:r>
            <a:r>
              <a:rPr lang="de-DE" sz="1000" dirty="0"/>
              <a:t>Commun </a:t>
            </a:r>
            <a:r>
              <a:rPr lang="de-DE" sz="1000" dirty="0" err="1"/>
              <a:t>Phys</a:t>
            </a:r>
            <a:endParaRPr lang="de-DE" sz="1000" dirty="0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0372F6B6-F14D-8D59-207B-B24ECCEEA728}"/>
              </a:ext>
            </a:extLst>
          </p:cNvPr>
          <p:cNvSpPr txBox="1"/>
          <p:nvPr/>
        </p:nvSpPr>
        <p:spPr>
          <a:xfrm>
            <a:off x="3242419" y="565843"/>
            <a:ext cx="57071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>
                <a:solidFill>
                  <a:srgbClr val="00336E"/>
                </a:solidFill>
                <a:ea typeface="Cormorant Garamond" pitchFamily="2" charset="0"/>
                <a:cs typeface="Cormorant Garamond" pitchFamily="2" charset="0"/>
              </a:rPr>
              <a:t>Neuronal Network – The </a:t>
            </a:r>
            <a:r>
              <a:rPr lang="de-DE" sz="2400" dirty="0" err="1">
                <a:solidFill>
                  <a:srgbClr val="00336E"/>
                </a:solidFill>
                <a:ea typeface="Cormorant Garamond" pitchFamily="2" charset="0"/>
                <a:cs typeface="Cormorant Garamond" pitchFamily="2" charset="0"/>
              </a:rPr>
              <a:t>agent‘s</a:t>
            </a:r>
            <a:r>
              <a:rPr lang="de-DE" sz="2400" dirty="0">
                <a:solidFill>
                  <a:srgbClr val="00336E"/>
                </a:solidFill>
                <a:ea typeface="Cormorant Garamond" pitchFamily="2" charset="0"/>
                <a:cs typeface="Cormorant Garamond" pitchFamily="2" charset="0"/>
              </a:rPr>
              <a:t> </a:t>
            </a:r>
            <a:r>
              <a:rPr lang="de-DE" sz="2400" dirty="0" err="1">
                <a:solidFill>
                  <a:srgbClr val="00336E"/>
                </a:solidFill>
                <a:ea typeface="Cormorant Garamond" pitchFamily="2" charset="0"/>
                <a:cs typeface="Cormorant Garamond" pitchFamily="2" charset="0"/>
              </a:rPr>
              <a:t>brain</a:t>
            </a:r>
            <a:endParaRPr lang="de-DE" sz="2400" b="1" dirty="0">
              <a:solidFill>
                <a:srgbClr val="00336E"/>
              </a:solidFill>
              <a:ea typeface="Cormorant Garamond" pitchFamily="2" charset="0"/>
              <a:cs typeface="Cormorant Garamond" pitchFamily="2" charset="0"/>
            </a:endParaRPr>
          </a:p>
        </p:txBody>
      </p:sp>
      <p:sp>
        <p:nvSpPr>
          <p:cNvPr id="5" name="Freihandform: Form 4">
            <a:extLst>
              <a:ext uri="{FF2B5EF4-FFF2-40B4-BE49-F238E27FC236}">
                <a16:creationId xmlns:a16="http://schemas.microsoft.com/office/drawing/2014/main" id="{DB1A7DD2-78F4-B1A5-3435-9E35C0211D24}"/>
              </a:ext>
            </a:extLst>
          </p:cNvPr>
          <p:cNvSpPr/>
          <p:nvPr/>
        </p:nvSpPr>
        <p:spPr>
          <a:xfrm>
            <a:off x="5016736" y="-426720"/>
            <a:ext cx="7490460" cy="853440"/>
          </a:xfrm>
          <a:custGeom>
            <a:avLst/>
            <a:gdLst>
              <a:gd name="csX0" fmla="*/ 434340 w 7490460"/>
              <a:gd name="csY0" fmla="*/ 0 h 853440"/>
              <a:gd name="csX1" fmla="*/ 521875 w 7490460"/>
              <a:gd name="csY1" fmla="*/ 8669 h 853440"/>
              <a:gd name="csX2" fmla="*/ 555427 w 7490460"/>
              <a:gd name="csY2" fmla="*/ 18902 h 853440"/>
              <a:gd name="csX3" fmla="*/ 7490460 w 7490460"/>
              <a:gd name="csY3" fmla="*/ 18902 h 853440"/>
              <a:gd name="csX4" fmla="*/ 7490460 w 7490460"/>
              <a:gd name="csY4" fmla="*/ 853440 h 853440"/>
              <a:gd name="csX5" fmla="*/ 434340 w 7490460"/>
              <a:gd name="csY5" fmla="*/ 853440 h 853440"/>
              <a:gd name="csX6" fmla="*/ 426720 w 7490460"/>
              <a:gd name="csY6" fmla="*/ 853440 h 853440"/>
              <a:gd name="csX7" fmla="*/ 426720 w 7490460"/>
              <a:gd name="csY7" fmla="*/ 852685 h 853440"/>
              <a:gd name="csX8" fmla="*/ 346805 w 7490460"/>
              <a:gd name="csY8" fmla="*/ 844771 h 853440"/>
              <a:gd name="csX9" fmla="*/ 0 w 7490460"/>
              <a:gd name="csY9" fmla="*/ 426720 h 853440"/>
              <a:gd name="csX10" fmla="*/ 434340 w 7490460"/>
              <a:gd name="csY10" fmla="*/ 0 h 85344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7490460" h="853440">
                <a:moveTo>
                  <a:pt x="434340" y="0"/>
                </a:moveTo>
                <a:cubicBezTo>
                  <a:pt x="464325" y="0"/>
                  <a:pt x="493600" y="2985"/>
                  <a:pt x="521875" y="8669"/>
                </a:cubicBezTo>
                <a:lnTo>
                  <a:pt x="555427" y="18902"/>
                </a:lnTo>
                <a:lnTo>
                  <a:pt x="7490460" y="18902"/>
                </a:lnTo>
                <a:lnTo>
                  <a:pt x="7490460" y="853440"/>
                </a:lnTo>
                <a:lnTo>
                  <a:pt x="434340" y="853440"/>
                </a:lnTo>
                <a:lnTo>
                  <a:pt x="426720" y="853440"/>
                </a:lnTo>
                <a:lnTo>
                  <a:pt x="426720" y="852685"/>
                </a:lnTo>
                <a:lnTo>
                  <a:pt x="346805" y="844771"/>
                </a:lnTo>
                <a:cubicBezTo>
                  <a:pt x="148884" y="804981"/>
                  <a:pt x="0" y="632932"/>
                  <a:pt x="0" y="426720"/>
                </a:cubicBezTo>
                <a:cubicBezTo>
                  <a:pt x="0" y="191049"/>
                  <a:pt x="194461" y="0"/>
                  <a:pt x="434340" y="0"/>
                </a:cubicBezTo>
                <a:close/>
              </a:path>
            </a:pathLst>
          </a:custGeom>
          <a:solidFill>
            <a:srgbClr val="E3E9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de-DE" sz="1600" b="1">
              <a:solidFill>
                <a:schemeClr val="tx1"/>
              </a:solidFill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78F2C1B6-21AD-7CFA-0250-7D38EA2BB1BD}"/>
              </a:ext>
            </a:extLst>
          </p:cNvPr>
          <p:cNvSpPr txBox="1"/>
          <p:nvPr/>
        </p:nvSpPr>
        <p:spPr>
          <a:xfrm>
            <a:off x="5227320" y="70082"/>
            <a:ext cx="758952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050" dirty="0"/>
              <a:t>Can </a:t>
            </a:r>
            <a:r>
              <a:rPr lang="de-DE" sz="1050" b="1" dirty="0"/>
              <a:t>minimal</a:t>
            </a:r>
            <a:r>
              <a:rPr lang="de-DE" sz="1050" dirty="0"/>
              <a:t> </a:t>
            </a:r>
            <a:r>
              <a:rPr lang="de-DE" sz="1050" dirty="0" err="1"/>
              <a:t>embedded</a:t>
            </a:r>
            <a:r>
              <a:rPr lang="de-DE" sz="1050" b="1" dirty="0"/>
              <a:t> </a:t>
            </a:r>
            <a:r>
              <a:rPr lang="de-DE" sz="1050" b="1" dirty="0" err="1"/>
              <a:t>networks</a:t>
            </a:r>
            <a:r>
              <a:rPr lang="de-DE" sz="1050" b="1" dirty="0"/>
              <a:t> </a:t>
            </a:r>
            <a:r>
              <a:rPr lang="de-DE" sz="1050" dirty="0" err="1"/>
              <a:t>evolve</a:t>
            </a:r>
            <a:r>
              <a:rPr lang="de-DE" sz="1050" dirty="0"/>
              <a:t> internal </a:t>
            </a:r>
            <a:r>
              <a:rPr lang="de-DE" sz="1050" dirty="0" err="1"/>
              <a:t>dynamics</a:t>
            </a:r>
            <a:r>
              <a:rPr lang="de-DE" sz="1050" dirty="0"/>
              <a:t> </a:t>
            </a:r>
            <a:r>
              <a:rPr lang="de-DE" sz="1050" dirty="0" err="1"/>
              <a:t>that</a:t>
            </a:r>
            <a:r>
              <a:rPr lang="de-DE" sz="1050" dirty="0"/>
              <a:t> support </a:t>
            </a:r>
            <a:r>
              <a:rPr lang="de-DE" sz="1050" dirty="0" err="1"/>
              <a:t>adaptation</a:t>
            </a:r>
            <a:r>
              <a:rPr lang="de-DE" sz="1050" dirty="0"/>
              <a:t> </a:t>
            </a:r>
            <a:r>
              <a:rPr lang="de-DE" sz="1050" dirty="0" err="1"/>
              <a:t>to</a:t>
            </a:r>
            <a:r>
              <a:rPr lang="de-DE" sz="1050" dirty="0"/>
              <a:t> </a:t>
            </a:r>
            <a:r>
              <a:rPr lang="de-DE" sz="1050" dirty="0" err="1"/>
              <a:t>changing</a:t>
            </a:r>
            <a:r>
              <a:rPr lang="de-DE" sz="1050" dirty="0"/>
              <a:t> </a:t>
            </a:r>
            <a:r>
              <a:rPr lang="de-DE" sz="1050" dirty="0" err="1"/>
              <a:t>task</a:t>
            </a:r>
            <a:r>
              <a:rPr lang="de-DE" sz="1050" dirty="0"/>
              <a:t> </a:t>
            </a:r>
            <a:r>
              <a:rPr lang="de-DE" sz="1050" dirty="0" err="1"/>
              <a:t>rules</a:t>
            </a:r>
            <a:r>
              <a:rPr lang="de-DE" sz="105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5684107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D490C3-2292-F4D9-F2DF-229229EEF3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feld 12">
            <a:extLst>
              <a:ext uri="{FF2B5EF4-FFF2-40B4-BE49-F238E27FC236}">
                <a16:creationId xmlns:a16="http://schemas.microsoft.com/office/drawing/2014/main" id="{B82A7626-6351-79D1-957D-C97284707714}"/>
              </a:ext>
            </a:extLst>
          </p:cNvPr>
          <p:cNvSpPr txBox="1"/>
          <p:nvPr/>
        </p:nvSpPr>
        <p:spPr>
          <a:xfrm>
            <a:off x="3405088" y="565843"/>
            <a:ext cx="53818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b="1" dirty="0" err="1">
                <a:solidFill>
                  <a:srgbClr val="00336E"/>
                </a:solidFill>
                <a:ea typeface="Cormorant Garamond" pitchFamily="2" charset="0"/>
                <a:cs typeface="Cormorant Garamond" pitchFamily="2" charset="0"/>
              </a:rPr>
              <a:t>Unstructured</a:t>
            </a:r>
            <a:r>
              <a:rPr lang="de-DE" sz="2400" dirty="0">
                <a:solidFill>
                  <a:srgbClr val="00336E"/>
                </a:solidFill>
                <a:ea typeface="Cormorant Garamond" pitchFamily="2" charset="0"/>
                <a:cs typeface="Cormorant Garamond" pitchFamily="2" charset="0"/>
              </a:rPr>
              <a:t> Neuronal Networks</a:t>
            </a:r>
            <a:endParaRPr lang="de-DE" sz="2400" b="1" dirty="0">
              <a:solidFill>
                <a:srgbClr val="00336E"/>
              </a:solidFill>
              <a:ea typeface="Cormorant Garamond" pitchFamily="2" charset="0"/>
              <a:cs typeface="Cormorant Garamond" pitchFamily="2" charset="0"/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A62BB333-9D09-648A-C794-CDD70663BF5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73950"/>
          <a:stretch>
            <a:fillRect/>
          </a:stretch>
        </p:blipFill>
        <p:spPr>
          <a:xfrm>
            <a:off x="239360" y="1120222"/>
            <a:ext cx="3018190" cy="4461427"/>
          </a:xfrm>
          <a:prstGeom prst="rect">
            <a:avLst/>
          </a:prstGeom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3535D4A9-7CF0-A16D-81C8-B762BA74163A}"/>
              </a:ext>
            </a:extLst>
          </p:cNvPr>
          <p:cNvSpPr txBox="1"/>
          <p:nvPr/>
        </p:nvSpPr>
        <p:spPr>
          <a:xfrm>
            <a:off x="239361" y="5614667"/>
            <a:ext cx="301819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000" dirty="0"/>
              <a:t>Zhang, XJ., Moore, J.M., Yan, G. et al. (2023) </a:t>
            </a:r>
            <a:r>
              <a:rPr lang="de-DE" sz="1000" i="1" dirty="0"/>
              <a:t>Universal </a:t>
            </a:r>
            <a:r>
              <a:rPr lang="de-DE" sz="1000" i="1" dirty="0" err="1"/>
              <a:t>structural</a:t>
            </a:r>
            <a:r>
              <a:rPr lang="de-DE" sz="1000" i="1" dirty="0"/>
              <a:t> </a:t>
            </a:r>
            <a:r>
              <a:rPr lang="de-DE" sz="1000" i="1" dirty="0" err="1"/>
              <a:t>patterns</a:t>
            </a:r>
            <a:r>
              <a:rPr lang="de-DE" sz="1000" i="1" dirty="0"/>
              <a:t> in </a:t>
            </a:r>
            <a:r>
              <a:rPr lang="de-DE" sz="1000" i="1" dirty="0" err="1"/>
              <a:t>sparse</a:t>
            </a:r>
            <a:r>
              <a:rPr lang="de-DE" sz="1000" i="1" dirty="0"/>
              <a:t> </a:t>
            </a:r>
            <a:r>
              <a:rPr lang="de-DE" sz="1000" i="1" dirty="0" err="1"/>
              <a:t>recurrent</a:t>
            </a:r>
            <a:r>
              <a:rPr lang="de-DE" sz="1000" i="1" dirty="0"/>
              <a:t> </a:t>
            </a:r>
            <a:r>
              <a:rPr lang="de-DE" sz="1000" i="1" dirty="0" err="1"/>
              <a:t>neural</a:t>
            </a:r>
            <a:r>
              <a:rPr lang="de-DE" sz="1000" i="1" dirty="0"/>
              <a:t> </a:t>
            </a:r>
            <a:r>
              <a:rPr lang="de-DE" sz="1000" i="1" dirty="0" err="1"/>
              <a:t>networks</a:t>
            </a:r>
            <a:r>
              <a:rPr lang="de-DE" sz="1000" i="1" dirty="0"/>
              <a:t>. </a:t>
            </a:r>
            <a:r>
              <a:rPr lang="de-DE" sz="1000" dirty="0"/>
              <a:t>Commun </a:t>
            </a:r>
            <a:r>
              <a:rPr lang="de-DE" sz="1000" dirty="0" err="1"/>
              <a:t>Phys</a:t>
            </a:r>
            <a:endParaRPr lang="de-DE" sz="1000" dirty="0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D9F73504-F8CF-6130-7705-14503768F8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7296" y="1203595"/>
            <a:ext cx="6214629" cy="4415577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B95F4664-A0AD-6A0B-421B-594063C63F72}"/>
              </a:ext>
            </a:extLst>
          </p:cNvPr>
          <p:cNvSpPr txBox="1"/>
          <p:nvPr/>
        </p:nvSpPr>
        <p:spPr>
          <a:xfrm>
            <a:off x="5377295" y="5614667"/>
            <a:ext cx="621462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000" dirty="0"/>
              <a:t>A. Pathak, S.N. Menon, &amp; S. Sinha (2024) </a:t>
            </a:r>
            <a:r>
              <a:rPr lang="de-DE" sz="1000" i="1" dirty="0"/>
              <a:t>A </a:t>
            </a:r>
            <a:r>
              <a:rPr lang="de-DE" sz="1000" i="1" dirty="0" err="1"/>
              <a:t>hierarchy</a:t>
            </a:r>
            <a:r>
              <a:rPr lang="de-DE" sz="1000" i="1" dirty="0"/>
              <a:t> </a:t>
            </a:r>
            <a:r>
              <a:rPr lang="de-DE" sz="1000" i="1" dirty="0" err="1"/>
              <a:t>index</a:t>
            </a:r>
            <a:r>
              <a:rPr lang="de-DE" sz="1000" i="1" dirty="0"/>
              <a:t> </a:t>
            </a:r>
            <a:r>
              <a:rPr lang="de-DE" sz="1000" i="1" dirty="0" err="1"/>
              <a:t>for</a:t>
            </a:r>
            <a:r>
              <a:rPr lang="de-DE" sz="1000" i="1" dirty="0"/>
              <a:t> </a:t>
            </a:r>
            <a:r>
              <a:rPr lang="de-DE" sz="1000" i="1" dirty="0" err="1"/>
              <a:t>networks</a:t>
            </a:r>
            <a:r>
              <a:rPr lang="de-DE" sz="1000" i="1" dirty="0"/>
              <a:t> in </a:t>
            </a:r>
            <a:r>
              <a:rPr lang="de-DE" sz="1000" i="1" dirty="0" err="1"/>
              <a:t>the</a:t>
            </a:r>
            <a:r>
              <a:rPr lang="de-DE" sz="1000" i="1" dirty="0"/>
              <a:t> </a:t>
            </a:r>
            <a:r>
              <a:rPr lang="de-DE" sz="1000" i="1" dirty="0" err="1"/>
              <a:t>brain</a:t>
            </a:r>
            <a:r>
              <a:rPr lang="de-DE" sz="1000" i="1" dirty="0"/>
              <a:t> </a:t>
            </a:r>
            <a:r>
              <a:rPr lang="de-DE" sz="1000" i="1" dirty="0" err="1"/>
              <a:t>reveals</a:t>
            </a:r>
            <a:r>
              <a:rPr lang="de-DE" sz="1000" i="1" dirty="0"/>
              <a:t> a </a:t>
            </a:r>
            <a:r>
              <a:rPr lang="de-DE" sz="1000" i="1" dirty="0" err="1"/>
              <a:t>complex</a:t>
            </a:r>
            <a:r>
              <a:rPr lang="de-DE" sz="1000" i="1" dirty="0"/>
              <a:t> </a:t>
            </a:r>
            <a:r>
              <a:rPr lang="de-DE" sz="1000" i="1" dirty="0" err="1"/>
              <a:t>entangled</a:t>
            </a:r>
            <a:r>
              <a:rPr lang="de-DE" sz="1000" i="1" dirty="0"/>
              <a:t> organizational </a:t>
            </a:r>
            <a:r>
              <a:rPr lang="de-DE" sz="1000" i="1" dirty="0" err="1"/>
              <a:t>structure</a:t>
            </a:r>
            <a:r>
              <a:rPr lang="de-DE" sz="1000" dirty="0"/>
              <a:t>, </a:t>
            </a:r>
            <a:r>
              <a:rPr lang="de-DE" sz="1000" dirty="0" err="1"/>
              <a:t>Proc</a:t>
            </a:r>
            <a:r>
              <a:rPr lang="de-DE" sz="1000" dirty="0"/>
              <a:t>. </a:t>
            </a:r>
            <a:r>
              <a:rPr lang="de-DE" sz="1000" dirty="0" err="1"/>
              <a:t>Natl</a:t>
            </a:r>
            <a:r>
              <a:rPr lang="de-DE" sz="1000" dirty="0"/>
              <a:t>. Acad. </a:t>
            </a:r>
            <a:r>
              <a:rPr lang="de-DE" sz="1000" dirty="0" err="1"/>
              <a:t>Sci</a:t>
            </a:r>
            <a:r>
              <a:rPr lang="de-DE" sz="1000" dirty="0"/>
              <a:t>. U.S.A.</a:t>
            </a:r>
          </a:p>
        </p:txBody>
      </p:sp>
      <p:sp>
        <p:nvSpPr>
          <p:cNvPr id="4" name="Freihandform: Form 3">
            <a:extLst>
              <a:ext uri="{FF2B5EF4-FFF2-40B4-BE49-F238E27FC236}">
                <a16:creationId xmlns:a16="http://schemas.microsoft.com/office/drawing/2014/main" id="{220C7E1A-61D6-72CD-BAF9-6A050D77C5B7}"/>
              </a:ext>
            </a:extLst>
          </p:cNvPr>
          <p:cNvSpPr/>
          <p:nvPr/>
        </p:nvSpPr>
        <p:spPr>
          <a:xfrm>
            <a:off x="5016736" y="-426720"/>
            <a:ext cx="7490460" cy="853440"/>
          </a:xfrm>
          <a:custGeom>
            <a:avLst/>
            <a:gdLst>
              <a:gd name="csX0" fmla="*/ 434340 w 7490460"/>
              <a:gd name="csY0" fmla="*/ 0 h 853440"/>
              <a:gd name="csX1" fmla="*/ 521875 w 7490460"/>
              <a:gd name="csY1" fmla="*/ 8669 h 853440"/>
              <a:gd name="csX2" fmla="*/ 555427 w 7490460"/>
              <a:gd name="csY2" fmla="*/ 18902 h 853440"/>
              <a:gd name="csX3" fmla="*/ 7490460 w 7490460"/>
              <a:gd name="csY3" fmla="*/ 18902 h 853440"/>
              <a:gd name="csX4" fmla="*/ 7490460 w 7490460"/>
              <a:gd name="csY4" fmla="*/ 853440 h 853440"/>
              <a:gd name="csX5" fmla="*/ 434340 w 7490460"/>
              <a:gd name="csY5" fmla="*/ 853440 h 853440"/>
              <a:gd name="csX6" fmla="*/ 426720 w 7490460"/>
              <a:gd name="csY6" fmla="*/ 853440 h 853440"/>
              <a:gd name="csX7" fmla="*/ 426720 w 7490460"/>
              <a:gd name="csY7" fmla="*/ 852685 h 853440"/>
              <a:gd name="csX8" fmla="*/ 346805 w 7490460"/>
              <a:gd name="csY8" fmla="*/ 844771 h 853440"/>
              <a:gd name="csX9" fmla="*/ 0 w 7490460"/>
              <a:gd name="csY9" fmla="*/ 426720 h 853440"/>
              <a:gd name="csX10" fmla="*/ 434340 w 7490460"/>
              <a:gd name="csY10" fmla="*/ 0 h 85344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7490460" h="853440">
                <a:moveTo>
                  <a:pt x="434340" y="0"/>
                </a:moveTo>
                <a:cubicBezTo>
                  <a:pt x="464325" y="0"/>
                  <a:pt x="493600" y="2985"/>
                  <a:pt x="521875" y="8669"/>
                </a:cubicBezTo>
                <a:lnTo>
                  <a:pt x="555427" y="18902"/>
                </a:lnTo>
                <a:lnTo>
                  <a:pt x="7490460" y="18902"/>
                </a:lnTo>
                <a:lnTo>
                  <a:pt x="7490460" y="853440"/>
                </a:lnTo>
                <a:lnTo>
                  <a:pt x="434340" y="853440"/>
                </a:lnTo>
                <a:lnTo>
                  <a:pt x="426720" y="853440"/>
                </a:lnTo>
                <a:lnTo>
                  <a:pt x="426720" y="852685"/>
                </a:lnTo>
                <a:lnTo>
                  <a:pt x="346805" y="844771"/>
                </a:lnTo>
                <a:cubicBezTo>
                  <a:pt x="148884" y="804981"/>
                  <a:pt x="0" y="632932"/>
                  <a:pt x="0" y="426720"/>
                </a:cubicBezTo>
                <a:cubicBezTo>
                  <a:pt x="0" y="191049"/>
                  <a:pt x="194461" y="0"/>
                  <a:pt x="434340" y="0"/>
                </a:cubicBezTo>
                <a:close/>
              </a:path>
            </a:pathLst>
          </a:custGeom>
          <a:solidFill>
            <a:srgbClr val="E3E9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de-DE" sz="1600" b="1">
              <a:solidFill>
                <a:schemeClr val="tx1"/>
              </a:solidFill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01AEB68F-A693-9B9D-9D07-3EBCCEDF8B4E}"/>
              </a:ext>
            </a:extLst>
          </p:cNvPr>
          <p:cNvSpPr txBox="1"/>
          <p:nvPr/>
        </p:nvSpPr>
        <p:spPr>
          <a:xfrm>
            <a:off x="5227320" y="70082"/>
            <a:ext cx="758952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050" dirty="0"/>
              <a:t>Can </a:t>
            </a:r>
            <a:r>
              <a:rPr lang="de-DE" sz="1050" b="1" dirty="0"/>
              <a:t>minimal</a:t>
            </a:r>
            <a:r>
              <a:rPr lang="de-DE" sz="1050" dirty="0"/>
              <a:t> </a:t>
            </a:r>
            <a:r>
              <a:rPr lang="de-DE" sz="1050" dirty="0" err="1"/>
              <a:t>embedded</a:t>
            </a:r>
            <a:r>
              <a:rPr lang="de-DE" sz="1050" b="1" dirty="0"/>
              <a:t> </a:t>
            </a:r>
            <a:r>
              <a:rPr lang="de-DE" sz="1050" b="1" dirty="0" err="1"/>
              <a:t>networks</a:t>
            </a:r>
            <a:r>
              <a:rPr lang="de-DE" sz="1050" b="1" dirty="0"/>
              <a:t> </a:t>
            </a:r>
            <a:r>
              <a:rPr lang="de-DE" sz="1050" dirty="0" err="1"/>
              <a:t>evolve</a:t>
            </a:r>
            <a:r>
              <a:rPr lang="de-DE" sz="1050" dirty="0"/>
              <a:t> internal </a:t>
            </a:r>
            <a:r>
              <a:rPr lang="de-DE" sz="1050" dirty="0" err="1"/>
              <a:t>dynamics</a:t>
            </a:r>
            <a:r>
              <a:rPr lang="de-DE" sz="1050" dirty="0"/>
              <a:t> </a:t>
            </a:r>
            <a:r>
              <a:rPr lang="de-DE" sz="1050" dirty="0" err="1"/>
              <a:t>that</a:t>
            </a:r>
            <a:r>
              <a:rPr lang="de-DE" sz="1050" dirty="0"/>
              <a:t> support </a:t>
            </a:r>
            <a:r>
              <a:rPr lang="de-DE" sz="1050" dirty="0" err="1"/>
              <a:t>adaptation</a:t>
            </a:r>
            <a:r>
              <a:rPr lang="de-DE" sz="1050" dirty="0"/>
              <a:t> </a:t>
            </a:r>
            <a:r>
              <a:rPr lang="de-DE" sz="1050" dirty="0" err="1"/>
              <a:t>to</a:t>
            </a:r>
            <a:r>
              <a:rPr lang="de-DE" sz="1050" dirty="0"/>
              <a:t> </a:t>
            </a:r>
            <a:r>
              <a:rPr lang="de-DE" sz="1050" dirty="0" err="1"/>
              <a:t>changing</a:t>
            </a:r>
            <a:r>
              <a:rPr lang="de-DE" sz="1050" dirty="0"/>
              <a:t> </a:t>
            </a:r>
            <a:r>
              <a:rPr lang="de-DE" sz="1050" dirty="0" err="1"/>
              <a:t>task</a:t>
            </a:r>
            <a:r>
              <a:rPr lang="de-DE" sz="1050" dirty="0"/>
              <a:t> </a:t>
            </a:r>
            <a:r>
              <a:rPr lang="de-DE" sz="1050" dirty="0" err="1"/>
              <a:t>rules</a:t>
            </a:r>
            <a:r>
              <a:rPr lang="de-DE" sz="105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7170569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8723B9-E3A4-D16E-AD8C-DB7298DC99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feld 12">
            <a:extLst>
              <a:ext uri="{FF2B5EF4-FFF2-40B4-BE49-F238E27FC236}">
                <a16:creationId xmlns:a16="http://schemas.microsoft.com/office/drawing/2014/main" id="{66033CFC-C0CA-82BE-E936-D2235327CACD}"/>
              </a:ext>
            </a:extLst>
          </p:cNvPr>
          <p:cNvSpPr txBox="1"/>
          <p:nvPr/>
        </p:nvSpPr>
        <p:spPr>
          <a:xfrm>
            <a:off x="3405088" y="565843"/>
            <a:ext cx="53818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b="1" dirty="0">
                <a:solidFill>
                  <a:srgbClr val="00336E"/>
                </a:solidFill>
                <a:ea typeface="Cormorant Garamond" pitchFamily="2" charset="0"/>
                <a:cs typeface="Cormorant Garamond" pitchFamily="2" charset="0"/>
              </a:rPr>
              <a:t>The </a:t>
            </a:r>
            <a:r>
              <a:rPr lang="de-DE" sz="2400" b="1" dirty="0" err="1">
                <a:solidFill>
                  <a:srgbClr val="00336E"/>
                </a:solidFill>
                <a:ea typeface="Cormorant Garamond" pitchFamily="2" charset="0"/>
                <a:cs typeface="Cormorant Garamond" pitchFamily="2" charset="0"/>
              </a:rPr>
              <a:t>neurons</a:t>
            </a:r>
            <a:endParaRPr lang="de-DE" sz="2400" b="1" dirty="0">
              <a:solidFill>
                <a:srgbClr val="00336E"/>
              </a:solidFill>
              <a:ea typeface="Cormorant Garamond" pitchFamily="2" charset="0"/>
              <a:cs typeface="Cormorant Garamond" pitchFamily="2" charset="0"/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F8495E11-51A3-6207-EDE3-27C6248727B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73950"/>
          <a:stretch>
            <a:fillRect/>
          </a:stretch>
        </p:blipFill>
        <p:spPr>
          <a:xfrm>
            <a:off x="239360" y="1120222"/>
            <a:ext cx="3018190" cy="4461427"/>
          </a:xfrm>
          <a:prstGeom prst="rect">
            <a:avLst/>
          </a:prstGeom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EDA2B30D-EF04-2A3E-8BF3-B282C4658F02}"/>
              </a:ext>
            </a:extLst>
          </p:cNvPr>
          <p:cNvSpPr txBox="1"/>
          <p:nvPr/>
        </p:nvSpPr>
        <p:spPr>
          <a:xfrm>
            <a:off x="239361" y="5614667"/>
            <a:ext cx="301819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000" dirty="0"/>
              <a:t>Zhang, XJ., Moore, J.M., Yan, G. et al. (2023) </a:t>
            </a:r>
            <a:r>
              <a:rPr lang="de-DE" sz="1000" i="1" dirty="0"/>
              <a:t>Universal </a:t>
            </a:r>
            <a:r>
              <a:rPr lang="de-DE" sz="1000" i="1" dirty="0" err="1"/>
              <a:t>structural</a:t>
            </a:r>
            <a:r>
              <a:rPr lang="de-DE" sz="1000" i="1" dirty="0"/>
              <a:t> </a:t>
            </a:r>
            <a:r>
              <a:rPr lang="de-DE" sz="1000" i="1" dirty="0" err="1"/>
              <a:t>patterns</a:t>
            </a:r>
            <a:r>
              <a:rPr lang="de-DE" sz="1000" i="1" dirty="0"/>
              <a:t> in </a:t>
            </a:r>
            <a:r>
              <a:rPr lang="de-DE" sz="1000" i="1" dirty="0" err="1"/>
              <a:t>sparse</a:t>
            </a:r>
            <a:r>
              <a:rPr lang="de-DE" sz="1000" i="1" dirty="0"/>
              <a:t> </a:t>
            </a:r>
            <a:r>
              <a:rPr lang="de-DE" sz="1000" i="1" dirty="0" err="1"/>
              <a:t>recurrent</a:t>
            </a:r>
            <a:r>
              <a:rPr lang="de-DE" sz="1000" i="1" dirty="0"/>
              <a:t> </a:t>
            </a:r>
            <a:r>
              <a:rPr lang="de-DE" sz="1000" i="1" dirty="0" err="1"/>
              <a:t>neural</a:t>
            </a:r>
            <a:r>
              <a:rPr lang="de-DE" sz="1000" i="1" dirty="0"/>
              <a:t> </a:t>
            </a:r>
            <a:r>
              <a:rPr lang="de-DE" sz="1000" i="1" dirty="0" err="1"/>
              <a:t>networks</a:t>
            </a:r>
            <a:r>
              <a:rPr lang="de-DE" sz="1000" i="1" dirty="0"/>
              <a:t>. </a:t>
            </a:r>
            <a:r>
              <a:rPr lang="de-DE" sz="1000" dirty="0"/>
              <a:t>Commun </a:t>
            </a:r>
            <a:r>
              <a:rPr lang="de-DE" sz="1000" dirty="0" err="1"/>
              <a:t>Phys</a:t>
            </a:r>
            <a:endParaRPr lang="de-DE" sz="1000" dirty="0"/>
          </a:p>
        </p:txBody>
      </p:sp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232A42F5-0E91-16AC-5BE0-640F889466D9}"/>
              </a:ext>
            </a:extLst>
          </p:cNvPr>
          <p:cNvGrpSpPr/>
          <p:nvPr/>
        </p:nvGrpSpPr>
        <p:grpSpPr>
          <a:xfrm>
            <a:off x="2317288" y="2183655"/>
            <a:ext cx="2281872" cy="2161597"/>
            <a:chOff x="2317288" y="2183655"/>
            <a:chExt cx="2281872" cy="2161597"/>
          </a:xfrm>
        </p:grpSpPr>
        <p:sp>
          <p:nvSpPr>
            <p:cNvPr id="7" name="Ellipse 6">
              <a:extLst>
                <a:ext uri="{FF2B5EF4-FFF2-40B4-BE49-F238E27FC236}">
                  <a16:creationId xmlns:a16="http://schemas.microsoft.com/office/drawing/2014/main" id="{0915A880-BAEE-857A-AD83-AFD329308A49}"/>
                </a:ext>
              </a:extLst>
            </p:cNvPr>
            <p:cNvSpPr/>
            <p:nvPr/>
          </p:nvSpPr>
          <p:spPr>
            <a:xfrm>
              <a:off x="2317288" y="2823981"/>
              <a:ext cx="217559" cy="204970"/>
            </a:xfrm>
            <a:prstGeom prst="ellipse">
              <a:avLst/>
            </a:prstGeom>
            <a:noFill/>
            <a:ln w="38100">
              <a:solidFill>
                <a:srgbClr val="00336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de-DE" sz="4000" b="1">
                <a:solidFill>
                  <a:schemeClr val="tx1"/>
                </a:solidFill>
              </a:endParaRPr>
            </a:p>
          </p:txBody>
        </p:sp>
        <p:cxnSp>
          <p:nvCxnSpPr>
            <p:cNvPr id="11" name="Gerader Verbinder 10">
              <a:extLst>
                <a:ext uri="{FF2B5EF4-FFF2-40B4-BE49-F238E27FC236}">
                  <a16:creationId xmlns:a16="http://schemas.microsoft.com/office/drawing/2014/main" id="{4B63C75E-F780-20C9-A2E7-F1EF745EB499}"/>
                </a:ext>
              </a:extLst>
            </p:cNvPr>
            <p:cNvCxnSpPr>
              <a:cxnSpLocks/>
              <a:stCxn id="7" idx="0"/>
            </p:cNvCxnSpPr>
            <p:nvPr/>
          </p:nvCxnSpPr>
          <p:spPr>
            <a:xfrm flipV="1">
              <a:off x="2426068" y="2183655"/>
              <a:ext cx="2098928" cy="640326"/>
            </a:xfrm>
            <a:prstGeom prst="line">
              <a:avLst/>
            </a:prstGeom>
            <a:ln w="38100">
              <a:solidFill>
                <a:srgbClr val="00336E"/>
              </a:solidFill>
              <a:prstDash val="lg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Gerader Verbinder 11">
              <a:extLst>
                <a:ext uri="{FF2B5EF4-FFF2-40B4-BE49-F238E27FC236}">
                  <a16:creationId xmlns:a16="http://schemas.microsoft.com/office/drawing/2014/main" id="{49BC4549-4F4A-500A-6065-0D76B9D6A6C5}"/>
                </a:ext>
              </a:extLst>
            </p:cNvPr>
            <p:cNvCxnSpPr>
              <a:cxnSpLocks/>
              <a:stCxn id="7" idx="4"/>
            </p:cNvCxnSpPr>
            <p:nvPr/>
          </p:nvCxnSpPr>
          <p:spPr>
            <a:xfrm>
              <a:off x="2426068" y="3028951"/>
              <a:ext cx="2173092" cy="1316301"/>
            </a:xfrm>
            <a:prstGeom prst="line">
              <a:avLst/>
            </a:prstGeom>
            <a:ln w="38100">
              <a:solidFill>
                <a:srgbClr val="00336E"/>
              </a:solidFill>
              <a:prstDash val="lg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feld 16">
                <a:extLst>
                  <a:ext uri="{FF2B5EF4-FFF2-40B4-BE49-F238E27FC236}">
                    <a16:creationId xmlns:a16="http://schemas.microsoft.com/office/drawing/2014/main" id="{8888A380-91D1-CDC4-54EE-F93019E1F5DC}"/>
                  </a:ext>
                </a:extLst>
              </p:cNvPr>
              <p:cNvSpPr txBox="1"/>
              <p:nvPr/>
            </p:nvSpPr>
            <p:spPr>
              <a:xfrm>
                <a:off x="4524996" y="1953698"/>
                <a:ext cx="5794535" cy="223561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32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de-DE" sz="3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de-DE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3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de-DE" sz="3200" b="0" i="1" smtClean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de-DE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32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de-DE" sz="3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de-DE" sz="3200" b="0" i="1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supHide m:val="on"/>
                          <m:ctrlPr>
                            <a:rPr lang="de-DE" sz="3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de-DE" sz="32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de-DE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32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de-DE" sz="3200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de-DE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3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de-DE" sz="32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de-DE" sz="3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de-DE" sz="3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de-DE" sz="32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de-DE" sz="32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de-DE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𝜉</m:t>
                          </m:r>
                        </m:e>
                        <m:sub>
                          <m:r>
                            <a:rPr lang="de-DE" sz="3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de-DE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3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de-DE" sz="3200" b="0" dirty="0"/>
              </a:p>
              <a:p>
                <a:endParaRPr lang="de-DE" sz="32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32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de-DE" sz="3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de-DE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3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de-DE" sz="32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de-DE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l-GR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Θ</m:t>
                      </m:r>
                      <m:r>
                        <a:rPr lang="de-DE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func>
                        <m:funcPr>
                          <m:ctrlPr>
                            <a:rPr lang="de-DE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de-DE" sz="32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tanh</m:t>
                          </m:r>
                        </m:fName>
                        <m:e>
                          <m:d>
                            <m:dPr>
                              <m:ctrlPr>
                                <a:rPr lang="de-DE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de-DE" sz="3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sz="3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de-DE" sz="3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de-DE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de-DE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de-DE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  <m:r>
                            <a:rPr lang="de-DE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de-DE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de-DE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func>
                      <m:r>
                        <a:rPr lang="de-DE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de-DE" sz="3200" dirty="0"/>
              </a:p>
            </p:txBody>
          </p:sp>
        </mc:Choice>
        <mc:Fallback xmlns="">
          <p:sp>
            <p:nvSpPr>
              <p:cNvPr id="17" name="Textfeld 16">
                <a:extLst>
                  <a:ext uri="{FF2B5EF4-FFF2-40B4-BE49-F238E27FC236}">
                    <a16:creationId xmlns:a16="http://schemas.microsoft.com/office/drawing/2014/main" id="{8888A380-91D1-CDC4-54EE-F93019E1F5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4996" y="1953698"/>
                <a:ext cx="5794535" cy="223561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3" name="Gruppieren 52">
            <a:extLst>
              <a:ext uri="{FF2B5EF4-FFF2-40B4-BE49-F238E27FC236}">
                <a16:creationId xmlns:a16="http://schemas.microsoft.com/office/drawing/2014/main" id="{2284920E-FC3D-B0B3-7022-57DD8B0FA18C}"/>
              </a:ext>
            </a:extLst>
          </p:cNvPr>
          <p:cNvGrpSpPr/>
          <p:nvPr/>
        </p:nvGrpSpPr>
        <p:grpSpPr>
          <a:xfrm>
            <a:off x="5186714" y="1724000"/>
            <a:ext cx="5672553" cy="3329138"/>
            <a:chOff x="5186714" y="1724000"/>
            <a:chExt cx="5672553" cy="3329138"/>
          </a:xfrm>
        </p:grpSpPr>
        <p:grpSp>
          <p:nvGrpSpPr>
            <p:cNvPr id="44" name="Gruppieren 43">
              <a:extLst>
                <a:ext uri="{FF2B5EF4-FFF2-40B4-BE49-F238E27FC236}">
                  <a16:creationId xmlns:a16="http://schemas.microsoft.com/office/drawing/2014/main" id="{4BCB5E33-EF67-ADE9-D129-BD0CB1F235CC}"/>
                </a:ext>
              </a:extLst>
            </p:cNvPr>
            <p:cNvGrpSpPr/>
            <p:nvPr/>
          </p:nvGrpSpPr>
          <p:grpSpPr>
            <a:xfrm>
              <a:off x="5186714" y="1724000"/>
              <a:ext cx="5672553" cy="2820560"/>
              <a:chOff x="5186714" y="1724000"/>
              <a:chExt cx="5672553" cy="2820560"/>
            </a:xfrm>
          </p:grpSpPr>
          <p:grpSp>
            <p:nvGrpSpPr>
              <p:cNvPr id="33" name="Gruppieren 32">
                <a:extLst>
                  <a:ext uri="{FF2B5EF4-FFF2-40B4-BE49-F238E27FC236}">
                    <a16:creationId xmlns:a16="http://schemas.microsoft.com/office/drawing/2014/main" id="{4EDFD337-B00B-8B63-FC6C-45C1FA69DB35}"/>
                  </a:ext>
                </a:extLst>
              </p:cNvPr>
              <p:cNvGrpSpPr/>
              <p:nvPr/>
            </p:nvGrpSpPr>
            <p:grpSpPr>
              <a:xfrm>
                <a:off x="5186714" y="1724000"/>
                <a:ext cx="5672553" cy="459655"/>
                <a:chOff x="5186714" y="1724000"/>
                <a:chExt cx="5672553" cy="459655"/>
              </a:xfrm>
            </p:grpSpPr>
            <p:sp>
              <p:nvSpPr>
                <p:cNvPr id="20" name="Textfeld 19">
                  <a:extLst>
                    <a:ext uri="{FF2B5EF4-FFF2-40B4-BE49-F238E27FC236}">
                      <a16:creationId xmlns:a16="http://schemas.microsoft.com/office/drawing/2014/main" id="{EED2C7CD-6FAC-28D7-14F1-48671F23BCF4}"/>
                    </a:ext>
                  </a:extLst>
                </p:cNvPr>
                <p:cNvSpPr txBox="1"/>
                <p:nvPr/>
              </p:nvSpPr>
              <p:spPr>
                <a:xfrm>
                  <a:off x="5186714" y="1906656"/>
                  <a:ext cx="1837472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de-DE" sz="1200" b="1" dirty="0">
                      <a:solidFill>
                        <a:srgbClr val="00336E"/>
                      </a:solidFill>
                    </a:rPr>
                    <a:t>Tonic </a:t>
                  </a:r>
                  <a:r>
                    <a:rPr lang="de-DE" sz="1200" b="1" dirty="0" err="1">
                      <a:solidFill>
                        <a:srgbClr val="00336E"/>
                      </a:solidFill>
                    </a:rPr>
                    <a:t>activation</a:t>
                  </a:r>
                  <a:r>
                    <a:rPr lang="de-DE" sz="1200" b="1" dirty="0">
                      <a:solidFill>
                        <a:srgbClr val="00336E"/>
                      </a:solidFill>
                    </a:rPr>
                    <a:t> </a:t>
                  </a:r>
                  <a:r>
                    <a:rPr lang="de-DE" sz="1200" b="1" dirty="0" err="1">
                      <a:solidFill>
                        <a:srgbClr val="00336E"/>
                      </a:solidFill>
                    </a:rPr>
                    <a:t>bias</a:t>
                  </a:r>
                  <a:endParaRPr lang="de-DE" sz="1200" b="1" dirty="0">
                    <a:solidFill>
                      <a:srgbClr val="00336E"/>
                    </a:solidFill>
                  </a:endParaRPr>
                </a:p>
              </p:txBody>
            </p:sp>
            <p:sp>
              <p:nvSpPr>
                <p:cNvPr id="24" name="Textfeld 23">
                  <a:extLst>
                    <a:ext uri="{FF2B5EF4-FFF2-40B4-BE49-F238E27FC236}">
                      <a16:creationId xmlns:a16="http://schemas.microsoft.com/office/drawing/2014/main" id="{2B33A397-EA73-06E6-F92E-916FC17E1EED}"/>
                    </a:ext>
                  </a:extLst>
                </p:cNvPr>
                <p:cNvSpPr txBox="1"/>
                <p:nvPr/>
              </p:nvSpPr>
              <p:spPr>
                <a:xfrm>
                  <a:off x="6949440" y="1724000"/>
                  <a:ext cx="1837472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de-DE" sz="1200" b="1" dirty="0" err="1">
                      <a:solidFill>
                        <a:srgbClr val="00336E"/>
                      </a:solidFill>
                      <a:ea typeface="Cormorant Garamond" pitchFamily="2" charset="0"/>
                      <a:cs typeface="Cormorant Garamond" pitchFamily="2" charset="0"/>
                    </a:rPr>
                    <a:t>Weighted</a:t>
                  </a:r>
                  <a:r>
                    <a:rPr lang="de-DE" sz="1200" b="1" dirty="0">
                      <a:solidFill>
                        <a:srgbClr val="00336E"/>
                      </a:solidFill>
                      <a:ea typeface="Cormorant Garamond" pitchFamily="2" charset="0"/>
                      <a:cs typeface="Cormorant Garamond" pitchFamily="2" charset="0"/>
                    </a:rPr>
                    <a:t> </a:t>
                  </a:r>
                  <a:r>
                    <a:rPr lang="de-DE" sz="1200" b="1" dirty="0" err="1">
                      <a:solidFill>
                        <a:srgbClr val="00336E"/>
                      </a:solidFill>
                      <a:ea typeface="Cormorant Garamond" pitchFamily="2" charset="0"/>
                      <a:cs typeface="Cormorant Garamond" pitchFamily="2" charset="0"/>
                    </a:rPr>
                    <a:t>sum</a:t>
                  </a:r>
                  <a:r>
                    <a:rPr lang="de-DE" sz="1200" b="1" dirty="0">
                      <a:solidFill>
                        <a:srgbClr val="00336E"/>
                      </a:solidFill>
                      <a:ea typeface="Cormorant Garamond" pitchFamily="2" charset="0"/>
                      <a:cs typeface="Cormorant Garamond" pitchFamily="2" charset="0"/>
                    </a:rPr>
                    <a:t> </a:t>
                  </a:r>
                  <a:r>
                    <a:rPr lang="de-DE" sz="1200" b="1" dirty="0" err="1">
                      <a:solidFill>
                        <a:srgbClr val="00336E"/>
                      </a:solidFill>
                      <a:ea typeface="Cormorant Garamond" pitchFamily="2" charset="0"/>
                      <a:cs typeface="Cormorant Garamond" pitchFamily="2" charset="0"/>
                    </a:rPr>
                    <a:t>of</a:t>
                  </a:r>
                  <a:r>
                    <a:rPr lang="de-DE" sz="1200" b="1" dirty="0">
                      <a:solidFill>
                        <a:srgbClr val="00336E"/>
                      </a:solidFill>
                      <a:ea typeface="Cormorant Garamond" pitchFamily="2" charset="0"/>
                      <a:cs typeface="Cormorant Garamond" pitchFamily="2" charset="0"/>
                    </a:rPr>
                    <a:t> </a:t>
                  </a:r>
                  <a:r>
                    <a:rPr lang="de-DE" sz="1200" b="1" dirty="0" err="1">
                      <a:solidFill>
                        <a:srgbClr val="00336E"/>
                      </a:solidFill>
                      <a:ea typeface="Cormorant Garamond" pitchFamily="2" charset="0"/>
                      <a:cs typeface="Cormorant Garamond" pitchFamily="2" charset="0"/>
                    </a:rPr>
                    <a:t>inputs</a:t>
                  </a:r>
                  <a:endParaRPr lang="de-DE" sz="1200" b="1" dirty="0">
                    <a:solidFill>
                      <a:srgbClr val="00336E"/>
                    </a:solidFill>
                    <a:ea typeface="Cormorant Garamond" pitchFamily="2" charset="0"/>
                    <a:cs typeface="Cormorant Garamond" pitchFamily="2" charset="0"/>
                  </a:endParaRPr>
                </a:p>
              </p:txBody>
            </p:sp>
            <p:sp>
              <p:nvSpPr>
                <p:cNvPr id="32" name="Textfeld 31">
                  <a:extLst>
                    <a:ext uri="{FF2B5EF4-FFF2-40B4-BE49-F238E27FC236}">
                      <a16:creationId xmlns:a16="http://schemas.microsoft.com/office/drawing/2014/main" id="{18E8B0EC-94AF-6E2F-71BB-C4360C43C3CE}"/>
                    </a:ext>
                  </a:extLst>
                </p:cNvPr>
                <p:cNvSpPr txBox="1"/>
                <p:nvPr/>
              </p:nvSpPr>
              <p:spPr>
                <a:xfrm>
                  <a:off x="8888427" y="1906656"/>
                  <a:ext cx="1970840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de-DE" sz="1200" b="1" dirty="0">
                      <a:solidFill>
                        <a:srgbClr val="00336E"/>
                      </a:solidFill>
                    </a:rPr>
                    <a:t>Random normal </a:t>
                  </a:r>
                  <a:r>
                    <a:rPr lang="de-DE" sz="1200" b="1" dirty="0" err="1">
                      <a:solidFill>
                        <a:srgbClr val="00336E"/>
                      </a:solidFill>
                    </a:rPr>
                    <a:t>noise</a:t>
                  </a:r>
                  <a:endParaRPr lang="de-DE" sz="1200" b="1" dirty="0">
                    <a:solidFill>
                      <a:srgbClr val="00336E"/>
                    </a:solidFill>
                  </a:endParaRPr>
                </a:p>
              </p:txBody>
            </p:sp>
          </p:grpSp>
          <p:grpSp>
            <p:nvGrpSpPr>
              <p:cNvPr id="43" name="Gruppieren 42">
                <a:extLst>
                  <a:ext uri="{FF2B5EF4-FFF2-40B4-BE49-F238E27FC236}">
                    <a16:creationId xmlns:a16="http://schemas.microsoft.com/office/drawing/2014/main" id="{E50F2E35-0FA3-ACFE-EF44-83F9369855F2}"/>
                  </a:ext>
                </a:extLst>
              </p:cNvPr>
              <p:cNvGrpSpPr/>
              <p:nvPr/>
            </p:nvGrpSpPr>
            <p:grpSpPr>
              <a:xfrm>
                <a:off x="5494941" y="4079625"/>
                <a:ext cx="4270991" cy="464935"/>
                <a:chOff x="5494941" y="4079625"/>
                <a:chExt cx="4270991" cy="464935"/>
              </a:xfrm>
            </p:grpSpPr>
            <p:sp>
              <p:nvSpPr>
                <p:cNvPr id="37" name="Textfeld 36">
                  <a:extLst>
                    <a:ext uri="{FF2B5EF4-FFF2-40B4-BE49-F238E27FC236}">
                      <a16:creationId xmlns:a16="http://schemas.microsoft.com/office/drawing/2014/main" id="{8E67509C-E279-CBCA-1EE4-BB2176591876}"/>
                    </a:ext>
                  </a:extLst>
                </p:cNvPr>
                <p:cNvSpPr txBox="1"/>
                <p:nvPr/>
              </p:nvSpPr>
              <p:spPr>
                <a:xfrm>
                  <a:off x="5494941" y="4267561"/>
                  <a:ext cx="1837472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de-DE" sz="1200" b="1" dirty="0">
                      <a:solidFill>
                        <a:srgbClr val="00336E"/>
                      </a:solidFill>
                      <a:ea typeface="Cormorant Garamond" pitchFamily="2" charset="0"/>
                      <a:cs typeface="Cormorant Garamond" pitchFamily="2" charset="0"/>
                    </a:rPr>
                    <a:t>Threshold</a:t>
                  </a:r>
                </a:p>
              </p:txBody>
            </p:sp>
            <p:cxnSp>
              <p:nvCxnSpPr>
                <p:cNvPr id="39" name="Gerade Verbindung mit Pfeil 38">
                  <a:extLst>
                    <a:ext uri="{FF2B5EF4-FFF2-40B4-BE49-F238E27FC236}">
                      <a16:creationId xmlns:a16="http://schemas.microsoft.com/office/drawing/2014/main" id="{F75640FB-8BBC-C581-2D6F-694FD8F12EF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650802" y="4079625"/>
                  <a:ext cx="196576" cy="265627"/>
                </a:xfrm>
                <a:prstGeom prst="straightConnector1">
                  <a:avLst/>
                </a:prstGeom>
                <a:ln>
                  <a:solidFill>
                    <a:srgbClr val="00336E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Gerade Verbindung mit Pfeil 39">
                  <a:extLst>
                    <a:ext uri="{FF2B5EF4-FFF2-40B4-BE49-F238E27FC236}">
                      <a16:creationId xmlns:a16="http://schemas.microsoft.com/office/drawing/2014/main" id="{1F778EDE-FD0C-DF56-6716-BC579DD5438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758940" y="4130040"/>
                  <a:ext cx="3006992" cy="276020"/>
                </a:xfrm>
                <a:prstGeom prst="straightConnector1">
                  <a:avLst/>
                </a:prstGeom>
                <a:ln>
                  <a:solidFill>
                    <a:srgbClr val="00336E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46" name="Rechteck 45">
              <a:extLst>
                <a:ext uri="{FF2B5EF4-FFF2-40B4-BE49-F238E27FC236}">
                  <a16:creationId xmlns:a16="http://schemas.microsoft.com/office/drawing/2014/main" id="{2E5E92B3-F14F-D0FA-53ED-4361903B5EC4}"/>
                </a:ext>
              </a:extLst>
            </p:cNvPr>
            <p:cNvSpPr/>
            <p:nvPr/>
          </p:nvSpPr>
          <p:spPr>
            <a:xfrm>
              <a:off x="7142649" y="3687905"/>
              <a:ext cx="2077551" cy="548447"/>
            </a:xfrm>
            <a:prstGeom prst="rect">
              <a:avLst/>
            </a:prstGeom>
            <a:noFill/>
            <a:ln w="57150">
              <a:solidFill>
                <a:srgbClr val="B3811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8" name="Textfeld 47">
              <a:extLst>
                <a:ext uri="{FF2B5EF4-FFF2-40B4-BE49-F238E27FC236}">
                  <a16:creationId xmlns:a16="http://schemas.microsoft.com/office/drawing/2014/main" id="{1A2CFFD2-3B55-FAAE-27F9-D2E060614E79}"/>
                </a:ext>
              </a:extLst>
            </p:cNvPr>
            <p:cNvSpPr txBox="1"/>
            <p:nvPr/>
          </p:nvSpPr>
          <p:spPr>
            <a:xfrm>
              <a:off x="6912187" y="4345252"/>
              <a:ext cx="2538474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2000" b="1" dirty="0" err="1">
                  <a:solidFill>
                    <a:srgbClr val="B38117"/>
                  </a:solidFill>
                  <a:ea typeface="Cormorant Garamond" pitchFamily="2" charset="0"/>
                  <a:cs typeface="Cormorant Garamond" pitchFamily="2" charset="0"/>
                </a:rPr>
                <a:t>Meaningful</a:t>
              </a:r>
              <a:r>
                <a:rPr lang="de-DE" sz="2000" b="1" dirty="0">
                  <a:solidFill>
                    <a:srgbClr val="B38117"/>
                  </a:solidFill>
                  <a:ea typeface="Cormorant Garamond" pitchFamily="2" charset="0"/>
                  <a:cs typeface="Cormorant Garamond" pitchFamily="2" charset="0"/>
                </a:rPr>
                <a:t> </a:t>
              </a:r>
              <a:r>
                <a:rPr lang="de-DE" sz="2000" b="1" dirty="0" err="1">
                  <a:solidFill>
                    <a:srgbClr val="B38117"/>
                  </a:solidFill>
                  <a:ea typeface="Cormorant Garamond" pitchFamily="2" charset="0"/>
                  <a:cs typeface="Cormorant Garamond" pitchFamily="2" charset="0"/>
                </a:rPr>
                <a:t>threshold</a:t>
              </a:r>
              <a:r>
                <a:rPr lang="de-DE" sz="2000" b="1" dirty="0">
                  <a:solidFill>
                    <a:srgbClr val="B38117"/>
                  </a:solidFill>
                  <a:ea typeface="Cormorant Garamond" pitchFamily="2" charset="0"/>
                  <a:cs typeface="Cormorant Garamond" pitchFamily="2" charset="0"/>
                </a:rPr>
                <a:t> </a:t>
              </a:r>
              <a:r>
                <a:rPr lang="de-DE" sz="2000" b="1" dirty="0" err="1">
                  <a:solidFill>
                    <a:srgbClr val="B38117"/>
                  </a:solidFill>
                  <a:ea typeface="Cormorant Garamond" pitchFamily="2" charset="0"/>
                  <a:cs typeface="Cormorant Garamond" pitchFamily="2" charset="0"/>
                </a:rPr>
                <a:t>mapping</a:t>
              </a:r>
              <a:endParaRPr lang="de-DE" sz="2000" b="1" dirty="0">
                <a:solidFill>
                  <a:srgbClr val="B38117"/>
                </a:solidFill>
                <a:ea typeface="Cormorant Garamond" pitchFamily="2" charset="0"/>
                <a:cs typeface="Cormorant Garamond" pitchFamily="2" charset="0"/>
              </a:endParaRPr>
            </a:p>
          </p:txBody>
        </p:sp>
      </p:grpSp>
      <p:sp>
        <p:nvSpPr>
          <p:cNvPr id="2" name="Textfeld 1">
            <a:extLst>
              <a:ext uri="{FF2B5EF4-FFF2-40B4-BE49-F238E27FC236}">
                <a16:creationId xmlns:a16="http://schemas.microsoft.com/office/drawing/2014/main" id="{230123C6-07BE-0B3C-E2D0-B303AEC4F20F}"/>
              </a:ext>
            </a:extLst>
          </p:cNvPr>
          <p:cNvSpPr txBox="1"/>
          <p:nvPr/>
        </p:nvSpPr>
        <p:spPr>
          <a:xfrm>
            <a:off x="8934451" y="5628739"/>
            <a:ext cx="301819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000" dirty="0" err="1"/>
              <a:t>Candadai</a:t>
            </a:r>
            <a:r>
              <a:rPr lang="de-DE" sz="1000" dirty="0"/>
              <a:t> M. et al. (2020) </a:t>
            </a:r>
            <a:r>
              <a:rPr lang="de-DE" sz="1000" i="1" dirty="0"/>
              <a:t>Universal </a:t>
            </a:r>
            <a:r>
              <a:rPr lang="de-DE" sz="1000" i="1" dirty="0" err="1"/>
              <a:t>structural</a:t>
            </a:r>
            <a:r>
              <a:rPr lang="de-DE" sz="1000" i="1" dirty="0"/>
              <a:t> </a:t>
            </a:r>
            <a:r>
              <a:rPr lang="de-DE" sz="1000" i="1" dirty="0" err="1"/>
              <a:t>patterns</a:t>
            </a:r>
            <a:r>
              <a:rPr lang="de-DE" sz="1000" i="1" dirty="0"/>
              <a:t> in </a:t>
            </a:r>
            <a:r>
              <a:rPr lang="de-DE" sz="1000" i="1" dirty="0" err="1"/>
              <a:t>sparse</a:t>
            </a:r>
            <a:r>
              <a:rPr lang="de-DE" sz="1000" i="1" dirty="0"/>
              <a:t> </a:t>
            </a:r>
            <a:r>
              <a:rPr lang="de-DE" sz="1000" i="1" dirty="0" err="1"/>
              <a:t>recurrent</a:t>
            </a:r>
            <a:r>
              <a:rPr lang="de-DE" sz="1000" i="1" dirty="0"/>
              <a:t> </a:t>
            </a:r>
            <a:r>
              <a:rPr lang="de-DE" sz="1000" i="1" dirty="0" err="1"/>
              <a:t>neural</a:t>
            </a:r>
            <a:r>
              <a:rPr lang="de-DE" sz="1000" i="1" dirty="0"/>
              <a:t> </a:t>
            </a:r>
            <a:r>
              <a:rPr lang="de-DE" sz="1000" i="1" dirty="0" err="1"/>
              <a:t>networks</a:t>
            </a:r>
            <a:r>
              <a:rPr lang="de-DE" sz="1000" i="1" dirty="0"/>
              <a:t>. </a:t>
            </a:r>
            <a:r>
              <a:rPr lang="de-DE" sz="1000" dirty="0"/>
              <a:t>Commun </a:t>
            </a:r>
            <a:r>
              <a:rPr lang="de-DE" sz="1000" dirty="0" err="1"/>
              <a:t>Phys</a:t>
            </a:r>
            <a:endParaRPr lang="de-DE" sz="1000" dirty="0"/>
          </a:p>
        </p:txBody>
      </p:sp>
      <p:sp>
        <p:nvSpPr>
          <p:cNvPr id="4" name="Freihandform: Form 3">
            <a:extLst>
              <a:ext uri="{FF2B5EF4-FFF2-40B4-BE49-F238E27FC236}">
                <a16:creationId xmlns:a16="http://schemas.microsoft.com/office/drawing/2014/main" id="{78B07249-CD06-6AAD-314E-55F8BA6DF36C}"/>
              </a:ext>
            </a:extLst>
          </p:cNvPr>
          <p:cNvSpPr/>
          <p:nvPr/>
        </p:nvSpPr>
        <p:spPr>
          <a:xfrm>
            <a:off x="5016736" y="-426720"/>
            <a:ext cx="7490460" cy="853440"/>
          </a:xfrm>
          <a:custGeom>
            <a:avLst/>
            <a:gdLst>
              <a:gd name="csX0" fmla="*/ 434340 w 7490460"/>
              <a:gd name="csY0" fmla="*/ 0 h 853440"/>
              <a:gd name="csX1" fmla="*/ 521875 w 7490460"/>
              <a:gd name="csY1" fmla="*/ 8669 h 853440"/>
              <a:gd name="csX2" fmla="*/ 555427 w 7490460"/>
              <a:gd name="csY2" fmla="*/ 18902 h 853440"/>
              <a:gd name="csX3" fmla="*/ 7490460 w 7490460"/>
              <a:gd name="csY3" fmla="*/ 18902 h 853440"/>
              <a:gd name="csX4" fmla="*/ 7490460 w 7490460"/>
              <a:gd name="csY4" fmla="*/ 853440 h 853440"/>
              <a:gd name="csX5" fmla="*/ 434340 w 7490460"/>
              <a:gd name="csY5" fmla="*/ 853440 h 853440"/>
              <a:gd name="csX6" fmla="*/ 426720 w 7490460"/>
              <a:gd name="csY6" fmla="*/ 853440 h 853440"/>
              <a:gd name="csX7" fmla="*/ 426720 w 7490460"/>
              <a:gd name="csY7" fmla="*/ 852685 h 853440"/>
              <a:gd name="csX8" fmla="*/ 346805 w 7490460"/>
              <a:gd name="csY8" fmla="*/ 844771 h 853440"/>
              <a:gd name="csX9" fmla="*/ 0 w 7490460"/>
              <a:gd name="csY9" fmla="*/ 426720 h 853440"/>
              <a:gd name="csX10" fmla="*/ 434340 w 7490460"/>
              <a:gd name="csY10" fmla="*/ 0 h 85344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7490460" h="853440">
                <a:moveTo>
                  <a:pt x="434340" y="0"/>
                </a:moveTo>
                <a:cubicBezTo>
                  <a:pt x="464325" y="0"/>
                  <a:pt x="493600" y="2985"/>
                  <a:pt x="521875" y="8669"/>
                </a:cubicBezTo>
                <a:lnTo>
                  <a:pt x="555427" y="18902"/>
                </a:lnTo>
                <a:lnTo>
                  <a:pt x="7490460" y="18902"/>
                </a:lnTo>
                <a:lnTo>
                  <a:pt x="7490460" y="853440"/>
                </a:lnTo>
                <a:lnTo>
                  <a:pt x="434340" y="853440"/>
                </a:lnTo>
                <a:lnTo>
                  <a:pt x="426720" y="853440"/>
                </a:lnTo>
                <a:lnTo>
                  <a:pt x="426720" y="852685"/>
                </a:lnTo>
                <a:lnTo>
                  <a:pt x="346805" y="844771"/>
                </a:lnTo>
                <a:cubicBezTo>
                  <a:pt x="148884" y="804981"/>
                  <a:pt x="0" y="632932"/>
                  <a:pt x="0" y="426720"/>
                </a:cubicBezTo>
                <a:cubicBezTo>
                  <a:pt x="0" y="191049"/>
                  <a:pt x="194461" y="0"/>
                  <a:pt x="434340" y="0"/>
                </a:cubicBezTo>
                <a:close/>
              </a:path>
            </a:pathLst>
          </a:custGeom>
          <a:solidFill>
            <a:srgbClr val="E3E9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de-DE" sz="1600" b="1">
              <a:solidFill>
                <a:schemeClr val="tx1"/>
              </a:solidFill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2574906E-046E-E5F6-CDB2-EE1B81239C0A}"/>
              </a:ext>
            </a:extLst>
          </p:cNvPr>
          <p:cNvSpPr txBox="1"/>
          <p:nvPr/>
        </p:nvSpPr>
        <p:spPr>
          <a:xfrm>
            <a:off x="5227320" y="70082"/>
            <a:ext cx="758952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050" dirty="0"/>
              <a:t>Can </a:t>
            </a:r>
            <a:r>
              <a:rPr lang="de-DE" sz="1050" b="1" dirty="0"/>
              <a:t>minimal</a:t>
            </a:r>
            <a:r>
              <a:rPr lang="de-DE" sz="1050" dirty="0"/>
              <a:t> </a:t>
            </a:r>
            <a:r>
              <a:rPr lang="de-DE" sz="1050" dirty="0" err="1"/>
              <a:t>embedded</a:t>
            </a:r>
            <a:r>
              <a:rPr lang="de-DE" sz="1050" b="1" dirty="0"/>
              <a:t> </a:t>
            </a:r>
            <a:r>
              <a:rPr lang="de-DE" sz="1050" b="1" dirty="0" err="1"/>
              <a:t>networks</a:t>
            </a:r>
            <a:r>
              <a:rPr lang="de-DE" sz="1050" b="1" dirty="0"/>
              <a:t> </a:t>
            </a:r>
            <a:r>
              <a:rPr lang="de-DE" sz="1050" dirty="0" err="1"/>
              <a:t>evolve</a:t>
            </a:r>
            <a:r>
              <a:rPr lang="de-DE" sz="1050" dirty="0"/>
              <a:t> internal </a:t>
            </a:r>
            <a:r>
              <a:rPr lang="de-DE" sz="1050" dirty="0" err="1"/>
              <a:t>dynamics</a:t>
            </a:r>
            <a:r>
              <a:rPr lang="de-DE" sz="1050" dirty="0"/>
              <a:t> </a:t>
            </a:r>
            <a:r>
              <a:rPr lang="de-DE" sz="1050" dirty="0" err="1"/>
              <a:t>that</a:t>
            </a:r>
            <a:r>
              <a:rPr lang="de-DE" sz="1050" dirty="0"/>
              <a:t> support </a:t>
            </a:r>
            <a:r>
              <a:rPr lang="de-DE" sz="1050" dirty="0" err="1"/>
              <a:t>adaptation</a:t>
            </a:r>
            <a:r>
              <a:rPr lang="de-DE" sz="1050" dirty="0"/>
              <a:t> </a:t>
            </a:r>
            <a:r>
              <a:rPr lang="de-DE" sz="1050" dirty="0" err="1"/>
              <a:t>to</a:t>
            </a:r>
            <a:r>
              <a:rPr lang="de-DE" sz="1050" dirty="0"/>
              <a:t> </a:t>
            </a:r>
            <a:r>
              <a:rPr lang="de-DE" sz="1050" dirty="0" err="1"/>
              <a:t>changing</a:t>
            </a:r>
            <a:r>
              <a:rPr lang="de-DE" sz="1050" dirty="0"/>
              <a:t> </a:t>
            </a:r>
            <a:r>
              <a:rPr lang="de-DE" sz="1050" dirty="0" err="1"/>
              <a:t>task</a:t>
            </a:r>
            <a:r>
              <a:rPr lang="de-DE" sz="1050" dirty="0"/>
              <a:t> </a:t>
            </a:r>
            <a:r>
              <a:rPr lang="de-DE" sz="1050" dirty="0" err="1"/>
              <a:t>rules</a:t>
            </a:r>
            <a:r>
              <a:rPr lang="de-DE" sz="105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2155274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62FE6C-99B8-FD9C-3339-90E282BED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feld 12">
            <a:extLst>
              <a:ext uri="{FF2B5EF4-FFF2-40B4-BE49-F238E27FC236}">
                <a16:creationId xmlns:a16="http://schemas.microsoft.com/office/drawing/2014/main" id="{A01B4ADF-5A7C-924A-783C-7142458841ED}"/>
              </a:ext>
            </a:extLst>
          </p:cNvPr>
          <p:cNvSpPr txBox="1"/>
          <p:nvPr/>
        </p:nvSpPr>
        <p:spPr>
          <a:xfrm>
            <a:off x="3405088" y="565843"/>
            <a:ext cx="538182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b="1" dirty="0" err="1">
                <a:solidFill>
                  <a:srgbClr val="00336E"/>
                </a:solidFill>
                <a:ea typeface="Cormorant Garamond" pitchFamily="2" charset="0"/>
                <a:cs typeface="Cormorant Garamond" pitchFamily="2" charset="0"/>
              </a:rPr>
              <a:t>Generalization</a:t>
            </a:r>
            <a:r>
              <a:rPr lang="de-DE" sz="2400" b="1" dirty="0">
                <a:solidFill>
                  <a:srgbClr val="00336E"/>
                </a:solidFill>
                <a:ea typeface="Cormorant Garamond" pitchFamily="2" charset="0"/>
                <a:cs typeface="Cormorant Garamond" pitchFamily="2" charset="0"/>
              </a:rPr>
              <a:t> </a:t>
            </a:r>
            <a:r>
              <a:rPr lang="de-DE" sz="2400" b="1" dirty="0" err="1">
                <a:solidFill>
                  <a:srgbClr val="00336E"/>
                </a:solidFill>
                <a:ea typeface="Cormorant Garamond" pitchFamily="2" charset="0"/>
                <a:cs typeface="Cormorant Garamond" pitchFamily="2" charset="0"/>
              </a:rPr>
              <a:t>through</a:t>
            </a:r>
            <a:r>
              <a:rPr lang="de-DE" sz="2400" b="1" dirty="0">
                <a:solidFill>
                  <a:srgbClr val="00336E"/>
                </a:solidFill>
                <a:ea typeface="Cormorant Garamond" pitchFamily="2" charset="0"/>
                <a:cs typeface="Cormorant Garamond" pitchFamily="2" charset="0"/>
              </a:rPr>
              <a:t> </a:t>
            </a:r>
            <a:r>
              <a:rPr lang="de-DE" sz="2400" b="1" dirty="0" err="1">
                <a:solidFill>
                  <a:srgbClr val="00336E"/>
                </a:solidFill>
                <a:ea typeface="Cormorant Garamond" pitchFamily="2" charset="0"/>
                <a:cs typeface="Cormorant Garamond" pitchFamily="2" charset="0"/>
              </a:rPr>
              <a:t>training</a:t>
            </a:r>
            <a:r>
              <a:rPr lang="de-DE" sz="2400" b="1" dirty="0">
                <a:solidFill>
                  <a:srgbClr val="00336E"/>
                </a:solidFill>
                <a:ea typeface="Cormorant Garamond" pitchFamily="2" charset="0"/>
                <a:cs typeface="Cormorant Garamond" pitchFamily="2" charset="0"/>
              </a:rPr>
              <a:t> </a:t>
            </a:r>
            <a:r>
              <a:rPr lang="de-DE" sz="2400" b="1" dirty="0" err="1">
                <a:solidFill>
                  <a:srgbClr val="00336E"/>
                </a:solidFill>
                <a:ea typeface="Cormorant Garamond" pitchFamily="2" charset="0"/>
                <a:cs typeface="Cormorant Garamond" pitchFamily="2" charset="0"/>
              </a:rPr>
              <a:t>perturbations</a:t>
            </a:r>
            <a:endParaRPr lang="de-DE" sz="2400" b="1" dirty="0">
              <a:solidFill>
                <a:srgbClr val="00336E"/>
              </a:solidFill>
              <a:ea typeface="Cormorant Garamond" pitchFamily="2" charset="0"/>
              <a:cs typeface="Cormorant Garamond" pitchFamily="2" charset="0"/>
            </a:endParaRP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2730DD86-8796-B05F-F791-1713C0B23840}"/>
              </a:ext>
            </a:extLst>
          </p:cNvPr>
          <p:cNvSpPr txBox="1"/>
          <p:nvPr/>
        </p:nvSpPr>
        <p:spPr>
          <a:xfrm>
            <a:off x="222408" y="4265897"/>
            <a:ext cx="301819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000" dirty="0"/>
              <a:t>Chaudhury S., Yamasaki, T.  (2020) </a:t>
            </a:r>
            <a:r>
              <a:rPr lang="de-DE" sz="1000" i="1" dirty="0" err="1"/>
              <a:t>Investigating</a:t>
            </a:r>
            <a:r>
              <a:rPr lang="de-DE" sz="1000" i="1" dirty="0"/>
              <a:t> </a:t>
            </a:r>
            <a:r>
              <a:rPr lang="de-DE" sz="1000" i="1" dirty="0" err="1"/>
              <a:t>generalization</a:t>
            </a:r>
            <a:r>
              <a:rPr lang="de-DE" sz="1000" i="1" dirty="0"/>
              <a:t> in </a:t>
            </a:r>
            <a:r>
              <a:rPr lang="de-DE" sz="1000" i="1" dirty="0" err="1"/>
              <a:t>neural</a:t>
            </a:r>
            <a:r>
              <a:rPr lang="de-DE" sz="1000" i="1" dirty="0"/>
              <a:t> </a:t>
            </a:r>
            <a:r>
              <a:rPr lang="de-DE" sz="1000" i="1" dirty="0" err="1"/>
              <a:t>networks</a:t>
            </a:r>
            <a:r>
              <a:rPr lang="de-DE" sz="1000" i="1" dirty="0"/>
              <a:t> </a:t>
            </a:r>
            <a:r>
              <a:rPr lang="de-DE" sz="1000" i="1" dirty="0" err="1"/>
              <a:t>under</a:t>
            </a:r>
            <a:r>
              <a:rPr lang="de-DE" sz="1000" i="1" dirty="0"/>
              <a:t> </a:t>
            </a:r>
            <a:r>
              <a:rPr lang="de-DE" sz="1000" i="1" dirty="0" err="1"/>
              <a:t>optimally</a:t>
            </a:r>
            <a:r>
              <a:rPr lang="de-DE" sz="1000" i="1" dirty="0"/>
              <a:t> </a:t>
            </a:r>
            <a:r>
              <a:rPr lang="de-DE" sz="1000" i="1" dirty="0" err="1"/>
              <a:t>evolved</a:t>
            </a:r>
            <a:r>
              <a:rPr lang="de-DE" sz="1000" i="1" dirty="0"/>
              <a:t> </a:t>
            </a:r>
            <a:r>
              <a:rPr lang="de-DE" sz="1000" i="1" dirty="0" err="1"/>
              <a:t>training</a:t>
            </a:r>
            <a:r>
              <a:rPr lang="de-DE" sz="1000" i="1" dirty="0"/>
              <a:t> </a:t>
            </a:r>
            <a:r>
              <a:rPr lang="de-DE" sz="1000" i="1" dirty="0" err="1"/>
              <a:t>perturbations</a:t>
            </a:r>
            <a:r>
              <a:rPr lang="de-DE" sz="1000" i="1" dirty="0"/>
              <a:t>. </a:t>
            </a:r>
            <a:r>
              <a:rPr lang="de-DE" sz="1000" dirty="0" err="1"/>
              <a:t>arXiv</a:t>
            </a:r>
            <a:endParaRPr lang="de-DE" sz="1000" dirty="0"/>
          </a:p>
        </p:txBody>
      </p:sp>
      <p:sp>
        <p:nvSpPr>
          <p:cNvPr id="4" name="Freihandform: Form 3">
            <a:extLst>
              <a:ext uri="{FF2B5EF4-FFF2-40B4-BE49-F238E27FC236}">
                <a16:creationId xmlns:a16="http://schemas.microsoft.com/office/drawing/2014/main" id="{E2A2B29E-F89E-2B94-EB7B-D134649B5DE7}"/>
              </a:ext>
            </a:extLst>
          </p:cNvPr>
          <p:cNvSpPr/>
          <p:nvPr/>
        </p:nvSpPr>
        <p:spPr>
          <a:xfrm>
            <a:off x="5016736" y="-426720"/>
            <a:ext cx="7490460" cy="853440"/>
          </a:xfrm>
          <a:custGeom>
            <a:avLst/>
            <a:gdLst>
              <a:gd name="csX0" fmla="*/ 434340 w 7490460"/>
              <a:gd name="csY0" fmla="*/ 0 h 853440"/>
              <a:gd name="csX1" fmla="*/ 521875 w 7490460"/>
              <a:gd name="csY1" fmla="*/ 8669 h 853440"/>
              <a:gd name="csX2" fmla="*/ 555427 w 7490460"/>
              <a:gd name="csY2" fmla="*/ 18902 h 853440"/>
              <a:gd name="csX3" fmla="*/ 7490460 w 7490460"/>
              <a:gd name="csY3" fmla="*/ 18902 h 853440"/>
              <a:gd name="csX4" fmla="*/ 7490460 w 7490460"/>
              <a:gd name="csY4" fmla="*/ 853440 h 853440"/>
              <a:gd name="csX5" fmla="*/ 434340 w 7490460"/>
              <a:gd name="csY5" fmla="*/ 853440 h 853440"/>
              <a:gd name="csX6" fmla="*/ 426720 w 7490460"/>
              <a:gd name="csY6" fmla="*/ 853440 h 853440"/>
              <a:gd name="csX7" fmla="*/ 426720 w 7490460"/>
              <a:gd name="csY7" fmla="*/ 852685 h 853440"/>
              <a:gd name="csX8" fmla="*/ 346805 w 7490460"/>
              <a:gd name="csY8" fmla="*/ 844771 h 853440"/>
              <a:gd name="csX9" fmla="*/ 0 w 7490460"/>
              <a:gd name="csY9" fmla="*/ 426720 h 853440"/>
              <a:gd name="csX10" fmla="*/ 434340 w 7490460"/>
              <a:gd name="csY10" fmla="*/ 0 h 85344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7490460" h="853440">
                <a:moveTo>
                  <a:pt x="434340" y="0"/>
                </a:moveTo>
                <a:cubicBezTo>
                  <a:pt x="464325" y="0"/>
                  <a:pt x="493600" y="2985"/>
                  <a:pt x="521875" y="8669"/>
                </a:cubicBezTo>
                <a:lnTo>
                  <a:pt x="555427" y="18902"/>
                </a:lnTo>
                <a:lnTo>
                  <a:pt x="7490460" y="18902"/>
                </a:lnTo>
                <a:lnTo>
                  <a:pt x="7490460" y="853440"/>
                </a:lnTo>
                <a:lnTo>
                  <a:pt x="434340" y="853440"/>
                </a:lnTo>
                <a:lnTo>
                  <a:pt x="426720" y="853440"/>
                </a:lnTo>
                <a:lnTo>
                  <a:pt x="426720" y="852685"/>
                </a:lnTo>
                <a:lnTo>
                  <a:pt x="346805" y="844771"/>
                </a:lnTo>
                <a:cubicBezTo>
                  <a:pt x="148884" y="804981"/>
                  <a:pt x="0" y="632932"/>
                  <a:pt x="0" y="426720"/>
                </a:cubicBezTo>
                <a:cubicBezTo>
                  <a:pt x="0" y="191049"/>
                  <a:pt x="194461" y="0"/>
                  <a:pt x="434340" y="0"/>
                </a:cubicBezTo>
                <a:close/>
              </a:path>
            </a:pathLst>
          </a:custGeom>
          <a:solidFill>
            <a:srgbClr val="E3E9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de-DE" sz="1600" b="1">
              <a:solidFill>
                <a:schemeClr val="tx1"/>
              </a:solidFill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FC267A44-3FCD-9943-C020-AD4E224B6216}"/>
              </a:ext>
            </a:extLst>
          </p:cNvPr>
          <p:cNvSpPr txBox="1"/>
          <p:nvPr/>
        </p:nvSpPr>
        <p:spPr>
          <a:xfrm>
            <a:off x="5227320" y="70082"/>
            <a:ext cx="758952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050" dirty="0"/>
              <a:t>Can minimal </a:t>
            </a:r>
            <a:r>
              <a:rPr lang="de-DE" sz="1050" dirty="0" err="1"/>
              <a:t>embedded</a:t>
            </a:r>
            <a:r>
              <a:rPr lang="de-DE" sz="1050" b="1" dirty="0"/>
              <a:t> </a:t>
            </a:r>
            <a:r>
              <a:rPr lang="de-DE" sz="1050" dirty="0" err="1"/>
              <a:t>networks</a:t>
            </a:r>
            <a:r>
              <a:rPr lang="de-DE" sz="1050" b="1" dirty="0"/>
              <a:t> </a:t>
            </a:r>
            <a:r>
              <a:rPr lang="de-DE" sz="1050" dirty="0" err="1"/>
              <a:t>evolve</a:t>
            </a:r>
            <a:r>
              <a:rPr lang="de-DE" sz="1050" dirty="0"/>
              <a:t> internal </a:t>
            </a:r>
            <a:r>
              <a:rPr lang="de-DE" sz="1050" dirty="0" err="1"/>
              <a:t>dynamics</a:t>
            </a:r>
            <a:r>
              <a:rPr lang="de-DE" sz="1050" dirty="0"/>
              <a:t> </a:t>
            </a:r>
            <a:r>
              <a:rPr lang="de-DE" sz="1050" dirty="0" err="1"/>
              <a:t>that</a:t>
            </a:r>
            <a:r>
              <a:rPr lang="de-DE" sz="1050" dirty="0"/>
              <a:t> support </a:t>
            </a:r>
            <a:r>
              <a:rPr lang="de-DE" sz="1050" b="1" dirty="0" err="1"/>
              <a:t>adaptation</a:t>
            </a:r>
            <a:r>
              <a:rPr lang="de-DE" sz="1050" b="1" dirty="0"/>
              <a:t> </a:t>
            </a:r>
            <a:r>
              <a:rPr lang="de-DE" sz="1050" b="1" dirty="0" err="1"/>
              <a:t>to</a:t>
            </a:r>
            <a:r>
              <a:rPr lang="de-DE" sz="1050" b="1" dirty="0"/>
              <a:t> </a:t>
            </a:r>
            <a:r>
              <a:rPr lang="de-DE" sz="1050" b="1" dirty="0" err="1"/>
              <a:t>changing</a:t>
            </a:r>
            <a:r>
              <a:rPr lang="de-DE" sz="1050" b="1" dirty="0"/>
              <a:t> </a:t>
            </a:r>
            <a:r>
              <a:rPr lang="de-DE" sz="1050" b="1" dirty="0" err="1"/>
              <a:t>task</a:t>
            </a:r>
            <a:r>
              <a:rPr lang="de-DE" sz="1050" b="1" dirty="0"/>
              <a:t> </a:t>
            </a:r>
            <a:r>
              <a:rPr lang="de-DE" sz="1050" b="1" dirty="0" err="1"/>
              <a:t>rules</a:t>
            </a:r>
            <a:r>
              <a:rPr lang="de-DE" sz="1050" dirty="0"/>
              <a:t>?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B734D234-2127-2CEE-CEE7-838E76F9F002}"/>
              </a:ext>
            </a:extLst>
          </p:cNvPr>
          <p:cNvSpPr txBox="1"/>
          <p:nvPr/>
        </p:nvSpPr>
        <p:spPr>
          <a:xfrm>
            <a:off x="13867366" y="1875235"/>
            <a:ext cx="641032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/>
              <a:t>CHAUDHURY, Subhajit; YAMASAKI, Toshihiko. </a:t>
            </a:r>
            <a:r>
              <a:rPr lang="de-DE" dirty="0" err="1"/>
              <a:t>Investigating</a:t>
            </a:r>
            <a:r>
              <a:rPr lang="de-DE" dirty="0"/>
              <a:t> </a:t>
            </a:r>
            <a:r>
              <a:rPr lang="de-DE" dirty="0" err="1"/>
              <a:t>generalization</a:t>
            </a:r>
            <a:r>
              <a:rPr lang="de-DE" dirty="0"/>
              <a:t> in </a:t>
            </a:r>
            <a:r>
              <a:rPr lang="de-DE" dirty="0" err="1"/>
              <a:t>neural</a:t>
            </a:r>
            <a:r>
              <a:rPr lang="de-DE" dirty="0"/>
              <a:t> </a:t>
            </a:r>
            <a:r>
              <a:rPr lang="de-DE" dirty="0" err="1"/>
              <a:t>networks</a:t>
            </a:r>
            <a:r>
              <a:rPr lang="de-DE" dirty="0"/>
              <a:t> </a:t>
            </a:r>
            <a:r>
              <a:rPr lang="de-DE" dirty="0" err="1"/>
              <a:t>under</a:t>
            </a:r>
            <a:r>
              <a:rPr lang="de-DE" dirty="0"/>
              <a:t> </a:t>
            </a:r>
            <a:r>
              <a:rPr lang="de-DE" dirty="0" err="1"/>
              <a:t>optimally</a:t>
            </a:r>
            <a:r>
              <a:rPr lang="de-DE" dirty="0"/>
              <a:t> </a:t>
            </a:r>
            <a:r>
              <a:rPr lang="de-DE" dirty="0" err="1"/>
              <a:t>evolved</a:t>
            </a:r>
            <a:r>
              <a:rPr lang="de-DE" dirty="0"/>
              <a:t> </a:t>
            </a:r>
            <a:r>
              <a:rPr lang="de-DE" dirty="0" err="1"/>
              <a:t>training</a:t>
            </a:r>
            <a:r>
              <a:rPr lang="de-DE" dirty="0"/>
              <a:t> </a:t>
            </a:r>
            <a:r>
              <a:rPr lang="de-DE" dirty="0" err="1"/>
              <a:t>perturbations</a:t>
            </a:r>
            <a:r>
              <a:rPr lang="de-DE" dirty="0"/>
              <a:t>. In: </a:t>
            </a:r>
            <a:r>
              <a:rPr lang="de-DE" i="1" dirty="0"/>
              <a:t>ICASSP 2020-2020 IEEE International Conference on Acoustics, Speech and Signal Processing (ICASSP)</a:t>
            </a:r>
            <a:r>
              <a:rPr lang="de-DE" dirty="0"/>
              <a:t>. IEEE, 2020. S. 3617-3612.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49E2E195-4726-D3A9-F2AC-6957A4F4F1D7}"/>
              </a:ext>
            </a:extLst>
          </p:cNvPr>
          <p:cNvSpPr txBox="1"/>
          <p:nvPr/>
        </p:nvSpPr>
        <p:spPr>
          <a:xfrm>
            <a:off x="13867366" y="3942732"/>
            <a:ext cx="64103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/>
              <a:t>JACOBSEN, Jörn-Henrik, et al. </a:t>
            </a:r>
            <a:r>
              <a:rPr lang="de-DE" dirty="0" err="1"/>
              <a:t>Excessive</a:t>
            </a:r>
            <a:r>
              <a:rPr lang="de-DE" dirty="0"/>
              <a:t> </a:t>
            </a:r>
            <a:r>
              <a:rPr lang="de-DE" dirty="0" err="1"/>
              <a:t>invariance</a:t>
            </a:r>
            <a:r>
              <a:rPr lang="de-DE" dirty="0"/>
              <a:t> </a:t>
            </a:r>
            <a:r>
              <a:rPr lang="de-DE" dirty="0" err="1"/>
              <a:t>causes</a:t>
            </a:r>
            <a:r>
              <a:rPr lang="de-DE" dirty="0"/>
              <a:t> </a:t>
            </a:r>
            <a:r>
              <a:rPr lang="de-DE" dirty="0" err="1"/>
              <a:t>adversarial</a:t>
            </a:r>
            <a:r>
              <a:rPr lang="de-DE" dirty="0"/>
              <a:t> </a:t>
            </a:r>
            <a:r>
              <a:rPr lang="de-DE" dirty="0" err="1"/>
              <a:t>vulnerability</a:t>
            </a:r>
            <a:r>
              <a:rPr lang="de-DE" dirty="0"/>
              <a:t>. </a:t>
            </a:r>
            <a:r>
              <a:rPr lang="de-DE" i="1" dirty="0" err="1"/>
              <a:t>arXiv</a:t>
            </a:r>
            <a:r>
              <a:rPr lang="de-DE" i="1" dirty="0"/>
              <a:t> </a:t>
            </a:r>
            <a:r>
              <a:rPr lang="de-DE" i="1" dirty="0" err="1"/>
              <a:t>preprint</a:t>
            </a:r>
            <a:r>
              <a:rPr lang="de-DE" i="1" dirty="0"/>
              <a:t> arXiv:1811.00401</a:t>
            </a:r>
            <a:r>
              <a:rPr lang="de-DE" dirty="0"/>
              <a:t>, 2018.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65B01818-98E3-6E6C-F18B-77AACFB0A663}"/>
              </a:ext>
            </a:extLst>
          </p:cNvPr>
          <p:cNvSpPr txBox="1"/>
          <p:nvPr/>
        </p:nvSpPr>
        <p:spPr>
          <a:xfrm>
            <a:off x="13615569" y="5179232"/>
            <a:ext cx="64103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/>
              <a:t>https://proceedings.mlr.press/v97/arora19a.html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DAA4CE68-FE01-91DC-93EC-DB0EB587788A}"/>
              </a:ext>
            </a:extLst>
          </p:cNvPr>
          <p:cNvSpPr txBox="1"/>
          <p:nvPr/>
        </p:nvSpPr>
        <p:spPr>
          <a:xfrm>
            <a:off x="14054138" y="6014777"/>
            <a:ext cx="64103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/>
              <a:t>https://arxiv.org/pdf/1802.08760</a:t>
            </a: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2202AA44-2BC6-B795-1AB1-D84EF29A729F}"/>
              </a:ext>
            </a:extLst>
          </p:cNvPr>
          <p:cNvSpPr txBox="1"/>
          <p:nvPr/>
        </p:nvSpPr>
        <p:spPr>
          <a:xfrm>
            <a:off x="13867366" y="814040"/>
            <a:ext cx="295336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/>
              <a:t>https://www.sciencedirect.com/science/article/pii/S0925231224014723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4D2F1412-FEBF-5B86-1E82-504640C1F26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366" r="1479" b="65783"/>
          <a:stretch>
            <a:fillRect/>
          </a:stretch>
        </p:blipFill>
        <p:spPr>
          <a:xfrm>
            <a:off x="222408" y="1535963"/>
            <a:ext cx="4650074" cy="2447372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AA88D3A9-E540-F7E4-9F97-04E01AF68F6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119" t="34217" r="1479"/>
          <a:stretch>
            <a:fillRect/>
          </a:stretch>
        </p:blipFill>
        <p:spPr>
          <a:xfrm>
            <a:off x="5589036" y="1535963"/>
            <a:ext cx="5036777" cy="4705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32986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2CB23141-E362-ACD3-F7B0-21F08E9D7FDE}"/>
              </a:ext>
            </a:extLst>
          </p:cNvPr>
          <p:cNvCxnSpPr>
            <a:cxnSpLocks/>
          </p:cNvCxnSpPr>
          <p:nvPr/>
        </p:nvCxnSpPr>
        <p:spPr>
          <a:xfrm>
            <a:off x="-275771" y="1782769"/>
            <a:ext cx="12729028" cy="0"/>
          </a:xfrm>
          <a:prstGeom prst="line">
            <a:avLst/>
          </a:prstGeom>
          <a:ln w="101600">
            <a:solidFill>
              <a:srgbClr val="0033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feld 11">
            <a:extLst>
              <a:ext uri="{FF2B5EF4-FFF2-40B4-BE49-F238E27FC236}">
                <a16:creationId xmlns:a16="http://schemas.microsoft.com/office/drawing/2014/main" id="{522E4EA4-40FF-BFA9-D961-1282DECB22F2}"/>
              </a:ext>
            </a:extLst>
          </p:cNvPr>
          <p:cNvSpPr txBox="1"/>
          <p:nvPr/>
        </p:nvSpPr>
        <p:spPr>
          <a:xfrm>
            <a:off x="673504" y="2411400"/>
            <a:ext cx="17198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noProof="0" dirty="0"/>
              <a:t>Static Task Phase</a:t>
            </a:r>
          </a:p>
          <a:p>
            <a:r>
              <a:rPr lang="en-US" sz="1200" dirty="0"/>
              <a:t>Train on static task w/ traditional evolution and define adaptability gap</a:t>
            </a:r>
            <a:endParaRPr lang="en-US" sz="1200" noProof="0" dirty="0"/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A65FCA2B-308B-6A8A-4B57-83BFEC6C3D3F}"/>
              </a:ext>
            </a:extLst>
          </p:cNvPr>
          <p:cNvSpPr/>
          <p:nvPr/>
        </p:nvSpPr>
        <p:spPr>
          <a:xfrm>
            <a:off x="1071455" y="1320807"/>
            <a:ext cx="923924" cy="923924"/>
          </a:xfrm>
          <a:prstGeom prst="ellipse">
            <a:avLst/>
          </a:prstGeom>
          <a:solidFill>
            <a:srgbClr val="E3E9EA"/>
          </a:solidFill>
          <a:ln>
            <a:solidFill>
              <a:srgbClr val="00336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sz="4000" b="1" dirty="0">
                <a:solidFill>
                  <a:schemeClr val="tx1"/>
                </a:solidFill>
              </a:rPr>
              <a:t>1</a:t>
            </a:r>
            <a:endParaRPr lang="de-DE" sz="1600" b="1" dirty="0">
              <a:solidFill>
                <a:schemeClr val="tx1"/>
              </a:solidFill>
            </a:endParaRPr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A347E990-967E-91F7-152C-9ABBA9724A93}"/>
              </a:ext>
            </a:extLst>
          </p:cNvPr>
          <p:cNvSpPr/>
          <p:nvPr/>
        </p:nvSpPr>
        <p:spPr>
          <a:xfrm>
            <a:off x="4113177" y="1320807"/>
            <a:ext cx="923924" cy="923924"/>
          </a:xfrm>
          <a:prstGeom prst="ellipse">
            <a:avLst/>
          </a:prstGeom>
          <a:solidFill>
            <a:srgbClr val="E3E9EA"/>
          </a:solidFill>
          <a:ln>
            <a:solidFill>
              <a:srgbClr val="00336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sz="4000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F8526C6F-D07C-B179-E6D5-138F54256EA9}"/>
              </a:ext>
            </a:extLst>
          </p:cNvPr>
          <p:cNvSpPr/>
          <p:nvPr/>
        </p:nvSpPr>
        <p:spPr>
          <a:xfrm>
            <a:off x="7154899" y="1320807"/>
            <a:ext cx="923924" cy="923924"/>
          </a:xfrm>
          <a:prstGeom prst="ellipse">
            <a:avLst/>
          </a:prstGeom>
          <a:solidFill>
            <a:srgbClr val="E3E9EA"/>
          </a:solidFill>
          <a:ln>
            <a:solidFill>
              <a:srgbClr val="00336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sz="4000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4C441C38-3488-305A-CB22-B506AAE73ED5}"/>
              </a:ext>
            </a:extLst>
          </p:cNvPr>
          <p:cNvSpPr/>
          <p:nvPr/>
        </p:nvSpPr>
        <p:spPr>
          <a:xfrm>
            <a:off x="10196621" y="1320807"/>
            <a:ext cx="923924" cy="923924"/>
          </a:xfrm>
          <a:prstGeom prst="ellipse">
            <a:avLst/>
          </a:prstGeom>
          <a:solidFill>
            <a:srgbClr val="E3E9EA"/>
          </a:solidFill>
          <a:ln>
            <a:solidFill>
              <a:srgbClr val="00336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sz="4000" b="1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13A1CB1A-0757-343B-CB29-E3F77957FADE}"/>
              </a:ext>
            </a:extLst>
          </p:cNvPr>
          <p:cNvSpPr txBox="1"/>
          <p:nvPr/>
        </p:nvSpPr>
        <p:spPr>
          <a:xfrm>
            <a:off x="3715226" y="2411399"/>
            <a:ext cx="211520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noProof="0" dirty="0"/>
              <a:t>Training &amp; Testing</a:t>
            </a:r>
            <a:r>
              <a:rPr lang="en-US" sz="1200" b="1" dirty="0"/>
              <a:t> EA with perturbations</a:t>
            </a:r>
            <a:endParaRPr lang="en-US" sz="1200" b="1" noProof="0" dirty="0"/>
          </a:p>
          <a:p>
            <a:r>
              <a:rPr lang="en-US" sz="1200" dirty="0"/>
              <a:t>Train variants w/ perturbed evolution and test performance and adaptability</a:t>
            </a:r>
            <a:endParaRPr lang="en-US" sz="1200" noProof="0" dirty="0"/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3C03B70E-AB10-8998-1F7A-B05E6C90849C}"/>
              </a:ext>
            </a:extLst>
          </p:cNvPr>
          <p:cNvSpPr txBox="1"/>
          <p:nvPr/>
        </p:nvSpPr>
        <p:spPr>
          <a:xfrm>
            <a:off x="6950457" y="2411399"/>
            <a:ext cx="194534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noProof="0" dirty="0"/>
              <a:t>Ablation</a:t>
            </a:r>
          </a:p>
          <a:p>
            <a:r>
              <a:rPr lang="en-US" sz="1200" dirty="0"/>
              <a:t>Ablate to necessary core and test adaptability on withheld scenarios</a:t>
            </a:r>
            <a:endParaRPr lang="en-US" sz="1200" noProof="0" dirty="0"/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D7BEC99A-E069-BD09-FFA4-859838BBD7B6}"/>
              </a:ext>
            </a:extLst>
          </p:cNvPr>
          <p:cNvSpPr txBox="1"/>
          <p:nvPr/>
        </p:nvSpPr>
        <p:spPr>
          <a:xfrm>
            <a:off x="9685910" y="2411399"/>
            <a:ext cx="194534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noProof="0" dirty="0"/>
              <a:t>Wiring analysis</a:t>
            </a:r>
          </a:p>
          <a:p>
            <a:r>
              <a:rPr lang="en-US" sz="1200" dirty="0"/>
              <a:t>Analyze common patterns in adaptors and compare with biological wiring patterns</a:t>
            </a:r>
            <a:endParaRPr lang="en-US" sz="1200" noProof="0" dirty="0"/>
          </a:p>
        </p:txBody>
      </p:sp>
    </p:spTree>
    <p:extLst>
      <p:ext uri="{BB962C8B-B14F-4D97-AF65-F5344CB8AC3E}">
        <p14:creationId xmlns:p14="http://schemas.microsoft.com/office/powerpoint/2010/main" val="27776326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ihandform: Form 1">
            <a:extLst>
              <a:ext uri="{FF2B5EF4-FFF2-40B4-BE49-F238E27FC236}">
                <a16:creationId xmlns:a16="http://schemas.microsoft.com/office/drawing/2014/main" id="{80F24036-86EB-92D8-75F6-99D5EE080D6F}"/>
              </a:ext>
            </a:extLst>
          </p:cNvPr>
          <p:cNvSpPr/>
          <p:nvPr/>
        </p:nvSpPr>
        <p:spPr>
          <a:xfrm flipH="1">
            <a:off x="8657661" y="-2955952"/>
            <a:ext cx="6300782" cy="3481390"/>
          </a:xfrm>
          <a:custGeom>
            <a:avLst/>
            <a:gdLst>
              <a:gd name="csX0" fmla="*/ 0 w 6300782"/>
              <a:gd name="csY0" fmla="*/ 0 h 3481390"/>
              <a:gd name="csX1" fmla="*/ 4560087 w 6300782"/>
              <a:gd name="csY1" fmla="*/ 0 h 3481390"/>
              <a:gd name="csX2" fmla="*/ 4562473 w 6300782"/>
              <a:gd name="csY2" fmla="*/ 0 h 3481390"/>
              <a:gd name="csX3" fmla="*/ 4562473 w 6300782"/>
              <a:gd name="csY3" fmla="*/ 121 h 3481390"/>
              <a:gd name="csX4" fmla="*/ 4738063 w 6300782"/>
              <a:gd name="csY4" fmla="*/ 8987 h 3481390"/>
              <a:gd name="csX5" fmla="*/ 6300782 w 6300782"/>
              <a:gd name="csY5" fmla="*/ 1740695 h 3481390"/>
              <a:gd name="csX6" fmla="*/ 4738063 w 6300782"/>
              <a:gd name="csY6" fmla="*/ 3472403 h 3481390"/>
              <a:gd name="csX7" fmla="*/ 4562473 w 6300782"/>
              <a:gd name="csY7" fmla="*/ 3481270 h 3481390"/>
              <a:gd name="csX8" fmla="*/ 4562473 w 6300782"/>
              <a:gd name="csY8" fmla="*/ 3481390 h 3481390"/>
              <a:gd name="csX9" fmla="*/ 4560087 w 6300782"/>
              <a:gd name="csY9" fmla="*/ 3481390 h 3481390"/>
              <a:gd name="csX10" fmla="*/ 0 w 6300782"/>
              <a:gd name="csY10" fmla="*/ 3481390 h 34813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6300782" h="3481390">
                <a:moveTo>
                  <a:pt x="0" y="0"/>
                </a:moveTo>
                <a:lnTo>
                  <a:pt x="4560087" y="0"/>
                </a:lnTo>
                <a:lnTo>
                  <a:pt x="4562473" y="0"/>
                </a:lnTo>
                <a:lnTo>
                  <a:pt x="4562473" y="121"/>
                </a:lnTo>
                <a:lnTo>
                  <a:pt x="4738063" y="8987"/>
                </a:lnTo>
                <a:cubicBezTo>
                  <a:pt x="5615819" y="98128"/>
                  <a:pt x="6300782" y="839421"/>
                  <a:pt x="6300782" y="1740695"/>
                </a:cubicBezTo>
                <a:cubicBezTo>
                  <a:pt x="6300782" y="2641969"/>
                  <a:pt x="5615819" y="3383262"/>
                  <a:pt x="4738063" y="3472403"/>
                </a:cubicBezTo>
                <a:lnTo>
                  <a:pt x="4562473" y="3481270"/>
                </a:lnTo>
                <a:lnTo>
                  <a:pt x="4562473" y="3481390"/>
                </a:lnTo>
                <a:lnTo>
                  <a:pt x="4560087" y="3481390"/>
                </a:lnTo>
                <a:lnTo>
                  <a:pt x="0" y="3481390"/>
                </a:lnTo>
                <a:close/>
              </a:path>
            </a:pathLst>
          </a:custGeom>
          <a:solidFill>
            <a:srgbClr val="E3E9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de-DE" sz="1600" b="1">
              <a:solidFill>
                <a:schemeClr val="tx1"/>
              </a:solidFill>
            </a:endParaRP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0A253A0D-1AD4-85BB-B175-E77C4442F053}"/>
              </a:ext>
            </a:extLst>
          </p:cNvPr>
          <p:cNvSpPr txBox="1"/>
          <p:nvPr/>
        </p:nvSpPr>
        <p:spPr>
          <a:xfrm>
            <a:off x="10287922" y="17905"/>
            <a:ext cx="19040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>
                <a:solidFill>
                  <a:srgbClr val="00336E"/>
                </a:solidFill>
                <a:ea typeface="Cormorant Garamond" pitchFamily="2" charset="0"/>
                <a:cs typeface="Cormorant Garamond" pitchFamily="2" charset="0"/>
              </a:rPr>
              <a:t>First </a:t>
            </a:r>
            <a:r>
              <a:rPr lang="de-DE" sz="2400" dirty="0" err="1">
                <a:solidFill>
                  <a:srgbClr val="00336E"/>
                </a:solidFill>
                <a:ea typeface="Cormorant Garamond" pitchFamily="2" charset="0"/>
                <a:cs typeface="Cormorant Garamond" pitchFamily="2" charset="0"/>
              </a:rPr>
              <a:t>results</a:t>
            </a:r>
            <a:endParaRPr lang="de-DE" sz="2400" b="1" dirty="0">
              <a:solidFill>
                <a:srgbClr val="00336E"/>
              </a:solidFill>
              <a:ea typeface="Cormorant Garamond" pitchFamily="2" charset="0"/>
              <a:cs typeface="Cormorant Garamond" pitchFamily="2" charset="0"/>
            </a:endParaRP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E1D48006-8B7F-A500-8300-9AA2D1B461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5536" y="745367"/>
            <a:ext cx="9100927" cy="4494284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1B6950D7-4A94-4227-75D2-A44BA0FB54EA}"/>
              </a:ext>
            </a:extLst>
          </p:cNvPr>
          <p:cNvSpPr txBox="1"/>
          <p:nvPr/>
        </p:nvSpPr>
        <p:spPr>
          <a:xfrm>
            <a:off x="3119757" y="5239651"/>
            <a:ext cx="8120204" cy="14703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800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EA evolved from random network initialization. Population size = 250, elite = 10</a:t>
            </a:r>
            <a:endParaRPr lang="en-US" dirty="0"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800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In generation 0:	mean = 19.5,		median = 19.2,	max = 29.7</a:t>
            </a:r>
            <a:br>
              <a:rPr lang="en-US" sz="1800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In generation 50:	mean = 69.0,	median = 74.22,	max = 131.59</a:t>
            </a:r>
            <a:endParaRPr lang="de-DE" sz="1800" dirty="0">
              <a:effectLst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544C170F-5CD0-79A4-C493-1392B7DA2501}"/>
              </a:ext>
            </a:extLst>
          </p:cNvPr>
          <p:cNvSpPr/>
          <p:nvPr/>
        </p:nvSpPr>
        <p:spPr>
          <a:xfrm>
            <a:off x="10012084" y="66307"/>
            <a:ext cx="340233" cy="340233"/>
          </a:xfrm>
          <a:prstGeom prst="ellipse">
            <a:avLst/>
          </a:prstGeom>
          <a:solidFill>
            <a:srgbClr val="E3E9EA"/>
          </a:solidFill>
          <a:ln>
            <a:solidFill>
              <a:srgbClr val="00336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b="1" dirty="0">
                <a:solidFill>
                  <a:schemeClr val="tx1"/>
                </a:solidFill>
              </a:rPr>
              <a:t>1</a:t>
            </a:r>
            <a:endParaRPr lang="de-DE" sz="9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79202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994726-CD7B-F7EB-CA98-E91B156BA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feld 6">
            <a:extLst>
              <a:ext uri="{FF2B5EF4-FFF2-40B4-BE49-F238E27FC236}">
                <a16:creationId xmlns:a16="http://schemas.microsoft.com/office/drawing/2014/main" id="{462CA17C-D3A2-BD63-7ACB-E8ABDA6D8657}"/>
              </a:ext>
            </a:extLst>
          </p:cNvPr>
          <p:cNvSpPr txBox="1"/>
          <p:nvPr/>
        </p:nvSpPr>
        <p:spPr>
          <a:xfrm>
            <a:off x="304129" y="957362"/>
            <a:ext cx="5674176" cy="28107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800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Optimal solution?</a:t>
            </a:r>
          </a:p>
          <a:p>
            <a:pPr>
              <a:lnSpc>
                <a:spcPct val="115000"/>
              </a:lnSpc>
              <a:spcAft>
                <a:spcPts val="1000"/>
              </a:spcAft>
              <a:buNone/>
            </a:pPr>
            <a:endParaRPr lang="en-US" dirty="0"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800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If on food → stay and eat</a:t>
            </a:r>
          </a:p>
          <a:p>
            <a:pPr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800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If sensing food in </a:t>
            </a:r>
            <a:r>
              <a:rPr lang="en-US" dirty="0">
                <a:ea typeface="MS Mincho" panose="02020609040205080304" pitchFamily="49" charset="-128"/>
                <a:cs typeface="Times New Roman" panose="02020603050405020304" pitchFamily="18" charset="0"/>
              </a:rPr>
              <a:t>one direction → move in that direction</a:t>
            </a:r>
          </a:p>
          <a:p>
            <a:pPr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dirty="0">
                <a:ea typeface="MS Mincho" panose="02020609040205080304" pitchFamily="49" charset="-128"/>
                <a:cs typeface="Times New Roman" panose="02020603050405020304" pitchFamily="18" charset="0"/>
              </a:rPr>
              <a:t>If not sensing any food → move away in random direction  </a:t>
            </a:r>
            <a:endParaRPr lang="de-DE" sz="1800" dirty="0">
              <a:effectLst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2CDF4BD9-04AD-868F-5E50-A05E5AF09D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8305" y="857873"/>
            <a:ext cx="5797649" cy="5289430"/>
          </a:xfrm>
          <a:prstGeom prst="rect">
            <a:avLst/>
          </a:prstGeom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3BE16239-1F16-68AE-0F57-A3946EFBB65B}"/>
              </a:ext>
            </a:extLst>
          </p:cNvPr>
          <p:cNvSpPr txBox="1"/>
          <p:nvPr/>
        </p:nvSpPr>
        <p:spPr>
          <a:xfrm>
            <a:off x="6096000" y="5105227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stay</a:t>
            </a:r>
            <a:endParaRPr lang="de-DE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75587D1E-BB4D-2FFE-382F-9A73D4BE4336}"/>
              </a:ext>
            </a:extLst>
          </p:cNvPr>
          <p:cNvSpPr txBox="1"/>
          <p:nvPr/>
        </p:nvSpPr>
        <p:spPr>
          <a:xfrm>
            <a:off x="7161042" y="5105227"/>
            <a:ext cx="10118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move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N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ADDA3C6D-4D64-984D-082E-A43517FF916D}"/>
              </a:ext>
            </a:extLst>
          </p:cNvPr>
          <p:cNvSpPr txBox="1"/>
          <p:nvPr/>
        </p:nvSpPr>
        <p:spPr>
          <a:xfrm>
            <a:off x="8381661" y="5105227"/>
            <a:ext cx="10118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move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E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97E61C76-8072-88C4-6EBC-CB651B477053}"/>
              </a:ext>
            </a:extLst>
          </p:cNvPr>
          <p:cNvSpPr txBox="1"/>
          <p:nvPr/>
        </p:nvSpPr>
        <p:spPr>
          <a:xfrm>
            <a:off x="9613021" y="5105227"/>
            <a:ext cx="10118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move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S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E12D5DC5-7A66-E0FC-B75F-AB1E87413F17}"/>
              </a:ext>
            </a:extLst>
          </p:cNvPr>
          <p:cNvSpPr txBox="1"/>
          <p:nvPr/>
        </p:nvSpPr>
        <p:spPr>
          <a:xfrm>
            <a:off x="10744365" y="5105227"/>
            <a:ext cx="10118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move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W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F1353E1B-0D72-EB8B-A6A2-A31D3D463054}"/>
              </a:ext>
            </a:extLst>
          </p:cNvPr>
          <p:cNvSpPr txBox="1"/>
          <p:nvPr/>
        </p:nvSpPr>
        <p:spPr>
          <a:xfrm>
            <a:off x="6025042" y="1356282"/>
            <a:ext cx="1149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on 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food</a:t>
            </a:r>
            <a:endParaRPr lang="de-DE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C330CB92-1783-94C1-A8C6-EFE912692C6F}"/>
              </a:ext>
            </a:extLst>
          </p:cNvPr>
          <p:cNvSpPr txBox="1"/>
          <p:nvPr/>
        </p:nvSpPr>
        <p:spPr>
          <a:xfrm>
            <a:off x="7281837" y="1356282"/>
            <a:ext cx="10118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food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N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942A1F51-9153-0948-FD60-C38605FA4317}"/>
              </a:ext>
            </a:extLst>
          </p:cNvPr>
          <p:cNvSpPr txBox="1"/>
          <p:nvPr/>
        </p:nvSpPr>
        <p:spPr>
          <a:xfrm>
            <a:off x="8455099" y="1356282"/>
            <a:ext cx="10118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food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E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0654D465-8DF4-5FFE-6158-6FAD28C5C9C3}"/>
              </a:ext>
            </a:extLst>
          </p:cNvPr>
          <p:cNvSpPr txBox="1"/>
          <p:nvPr/>
        </p:nvSpPr>
        <p:spPr>
          <a:xfrm>
            <a:off x="9597184" y="1356282"/>
            <a:ext cx="10118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food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S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BD475DCA-C9D5-BE70-081A-B8D088EFAD7F}"/>
              </a:ext>
            </a:extLst>
          </p:cNvPr>
          <p:cNvSpPr txBox="1"/>
          <p:nvPr/>
        </p:nvSpPr>
        <p:spPr>
          <a:xfrm>
            <a:off x="10686569" y="1356282"/>
            <a:ext cx="10118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food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W</a:t>
            </a:r>
          </a:p>
        </p:txBody>
      </p:sp>
      <p:sp>
        <p:nvSpPr>
          <p:cNvPr id="4" name="Freihandform: Form 3">
            <a:extLst>
              <a:ext uri="{FF2B5EF4-FFF2-40B4-BE49-F238E27FC236}">
                <a16:creationId xmlns:a16="http://schemas.microsoft.com/office/drawing/2014/main" id="{CCBDF0CD-8F81-C1B3-9B67-A3F0E4D9724B}"/>
              </a:ext>
            </a:extLst>
          </p:cNvPr>
          <p:cNvSpPr/>
          <p:nvPr/>
        </p:nvSpPr>
        <p:spPr>
          <a:xfrm flipH="1">
            <a:off x="8657661" y="-2955952"/>
            <a:ext cx="6300782" cy="3481390"/>
          </a:xfrm>
          <a:custGeom>
            <a:avLst/>
            <a:gdLst>
              <a:gd name="csX0" fmla="*/ 0 w 6300782"/>
              <a:gd name="csY0" fmla="*/ 0 h 3481390"/>
              <a:gd name="csX1" fmla="*/ 4560087 w 6300782"/>
              <a:gd name="csY1" fmla="*/ 0 h 3481390"/>
              <a:gd name="csX2" fmla="*/ 4562473 w 6300782"/>
              <a:gd name="csY2" fmla="*/ 0 h 3481390"/>
              <a:gd name="csX3" fmla="*/ 4562473 w 6300782"/>
              <a:gd name="csY3" fmla="*/ 121 h 3481390"/>
              <a:gd name="csX4" fmla="*/ 4738063 w 6300782"/>
              <a:gd name="csY4" fmla="*/ 8987 h 3481390"/>
              <a:gd name="csX5" fmla="*/ 6300782 w 6300782"/>
              <a:gd name="csY5" fmla="*/ 1740695 h 3481390"/>
              <a:gd name="csX6" fmla="*/ 4738063 w 6300782"/>
              <a:gd name="csY6" fmla="*/ 3472403 h 3481390"/>
              <a:gd name="csX7" fmla="*/ 4562473 w 6300782"/>
              <a:gd name="csY7" fmla="*/ 3481270 h 3481390"/>
              <a:gd name="csX8" fmla="*/ 4562473 w 6300782"/>
              <a:gd name="csY8" fmla="*/ 3481390 h 3481390"/>
              <a:gd name="csX9" fmla="*/ 4560087 w 6300782"/>
              <a:gd name="csY9" fmla="*/ 3481390 h 3481390"/>
              <a:gd name="csX10" fmla="*/ 0 w 6300782"/>
              <a:gd name="csY10" fmla="*/ 3481390 h 34813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6300782" h="3481390">
                <a:moveTo>
                  <a:pt x="0" y="0"/>
                </a:moveTo>
                <a:lnTo>
                  <a:pt x="4560087" y="0"/>
                </a:lnTo>
                <a:lnTo>
                  <a:pt x="4562473" y="0"/>
                </a:lnTo>
                <a:lnTo>
                  <a:pt x="4562473" y="121"/>
                </a:lnTo>
                <a:lnTo>
                  <a:pt x="4738063" y="8987"/>
                </a:lnTo>
                <a:cubicBezTo>
                  <a:pt x="5615819" y="98128"/>
                  <a:pt x="6300782" y="839421"/>
                  <a:pt x="6300782" y="1740695"/>
                </a:cubicBezTo>
                <a:cubicBezTo>
                  <a:pt x="6300782" y="2641969"/>
                  <a:pt x="5615819" y="3383262"/>
                  <a:pt x="4738063" y="3472403"/>
                </a:cubicBezTo>
                <a:lnTo>
                  <a:pt x="4562473" y="3481270"/>
                </a:lnTo>
                <a:lnTo>
                  <a:pt x="4562473" y="3481390"/>
                </a:lnTo>
                <a:lnTo>
                  <a:pt x="4560087" y="3481390"/>
                </a:lnTo>
                <a:lnTo>
                  <a:pt x="0" y="3481390"/>
                </a:lnTo>
                <a:close/>
              </a:path>
            </a:pathLst>
          </a:custGeom>
          <a:solidFill>
            <a:srgbClr val="E3E9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de-DE" sz="1600" b="1">
              <a:solidFill>
                <a:schemeClr val="tx1"/>
              </a:solidFill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E1086B25-A2F5-AF30-6D5C-2F5637DED068}"/>
              </a:ext>
            </a:extLst>
          </p:cNvPr>
          <p:cNvSpPr txBox="1"/>
          <p:nvPr/>
        </p:nvSpPr>
        <p:spPr>
          <a:xfrm>
            <a:off x="10287922" y="17905"/>
            <a:ext cx="19040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>
                <a:solidFill>
                  <a:srgbClr val="00336E"/>
                </a:solidFill>
                <a:ea typeface="Cormorant Garamond" pitchFamily="2" charset="0"/>
                <a:cs typeface="Cormorant Garamond" pitchFamily="2" charset="0"/>
              </a:rPr>
              <a:t>First </a:t>
            </a:r>
            <a:r>
              <a:rPr lang="de-DE" sz="2400" dirty="0" err="1">
                <a:solidFill>
                  <a:srgbClr val="00336E"/>
                </a:solidFill>
                <a:ea typeface="Cormorant Garamond" pitchFamily="2" charset="0"/>
                <a:cs typeface="Cormorant Garamond" pitchFamily="2" charset="0"/>
              </a:rPr>
              <a:t>results</a:t>
            </a:r>
            <a:endParaRPr lang="de-DE" sz="2400" b="1" dirty="0">
              <a:solidFill>
                <a:srgbClr val="00336E"/>
              </a:solidFill>
              <a:ea typeface="Cormorant Garamond" pitchFamily="2" charset="0"/>
              <a:cs typeface="Cormorant Garamond" pitchFamily="2" charset="0"/>
            </a:endParaRPr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15BE45F7-AB21-1773-773B-E7B2BB23EB30}"/>
              </a:ext>
            </a:extLst>
          </p:cNvPr>
          <p:cNvSpPr/>
          <p:nvPr/>
        </p:nvSpPr>
        <p:spPr>
          <a:xfrm>
            <a:off x="10012084" y="66307"/>
            <a:ext cx="340233" cy="340233"/>
          </a:xfrm>
          <a:prstGeom prst="ellipse">
            <a:avLst/>
          </a:prstGeom>
          <a:solidFill>
            <a:srgbClr val="E3E9EA"/>
          </a:solidFill>
          <a:ln>
            <a:solidFill>
              <a:srgbClr val="00336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b="1" dirty="0">
                <a:solidFill>
                  <a:schemeClr val="tx1"/>
                </a:solidFill>
              </a:rPr>
              <a:t>1</a:t>
            </a:r>
            <a:endParaRPr lang="de-DE" sz="9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77626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92ACF1-A625-E91A-426D-0FB1CB25D5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feld 6">
            <a:extLst>
              <a:ext uri="{FF2B5EF4-FFF2-40B4-BE49-F238E27FC236}">
                <a16:creationId xmlns:a16="http://schemas.microsoft.com/office/drawing/2014/main" id="{5375FF69-E05C-B6D4-58CC-B60D0A366EE3}"/>
              </a:ext>
            </a:extLst>
          </p:cNvPr>
          <p:cNvSpPr txBox="1"/>
          <p:nvPr/>
        </p:nvSpPr>
        <p:spPr>
          <a:xfrm>
            <a:off x="304129" y="957362"/>
            <a:ext cx="3280900" cy="1917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800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Optimal solution?</a:t>
            </a:r>
          </a:p>
          <a:p>
            <a:pPr>
              <a:lnSpc>
                <a:spcPct val="115000"/>
              </a:lnSpc>
              <a:spcAft>
                <a:spcPts val="1000"/>
              </a:spcAft>
              <a:buNone/>
            </a:pPr>
            <a:endParaRPr lang="en-US" dirty="0"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800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No! </a:t>
            </a:r>
            <a:br>
              <a:rPr lang="en-US" sz="1800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dirty="0">
                <a:ea typeface="MS Mincho" panose="02020609040205080304" pitchFamily="49" charset="-128"/>
                <a:cs typeface="Times New Roman" panose="02020603050405020304" pitchFamily="18" charset="0"/>
              </a:rPr>
              <a:t>Why not and what did the evolutionary algorithm find?</a:t>
            </a:r>
            <a:endParaRPr lang="de-DE" sz="1800" dirty="0">
              <a:effectLst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pic>
        <p:nvPicPr>
          <p:cNvPr id="6" name="random">
            <a:extLst>
              <a:ext uri="{FF2B5EF4-FFF2-40B4-BE49-F238E27FC236}">
                <a16:creationId xmlns:a16="http://schemas.microsoft.com/office/drawing/2014/main" id="{7F4154B1-C471-6402-3A60-240A98E45F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64673" y="961551"/>
            <a:ext cx="7500940" cy="4965529"/>
          </a:xfrm>
          <a:prstGeom prst="rect">
            <a:avLst/>
          </a:prstGeom>
        </p:spPr>
      </p:pic>
      <p:pic>
        <p:nvPicPr>
          <p:cNvPr id="9" name="hard-coded">
            <a:extLst>
              <a:ext uri="{FF2B5EF4-FFF2-40B4-BE49-F238E27FC236}">
                <a16:creationId xmlns:a16="http://schemas.microsoft.com/office/drawing/2014/main" id="{9306105C-C637-D9DA-7806-209FA26867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55948" y="957362"/>
            <a:ext cx="7513595" cy="4973908"/>
          </a:xfrm>
          <a:prstGeom prst="rect">
            <a:avLst/>
          </a:prstGeom>
        </p:spPr>
      </p:pic>
      <p:pic>
        <p:nvPicPr>
          <p:cNvPr id="11" name="400">
            <a:extLst>
              <a:ext uri="{FF2B5EF4-FFF2-40B4-BE49-F238E27FC236}">
                <a16:creationId xmlns:a16="http://schemas.microsoft.com/office/drawing/2014/main" id="{232D2439-4785-3558-472B-A602D1604DD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55948" y="957362"/>
            <a:ext cx="7513595" cy="4973908"/>
          </a:xfrm>
          <a:prstGeom prst="rect">
            <a:avLst/>
          </a:prstGeom>
        </p:spPr>
      </p:pic>
      <p:pic>
        <p:nvPicPr>
          <p:cNvPr id="13" name="600">
            <a:extLst>
              <a:ext uri="{FF2B5EF4-FFF2-40B4-BE49-F238E27FC236}">
                <a16:creationId xmlns:a16="http://schemas.microsoft.com/office/drawing/2014/main" id="{A26D3B41-1DA9-EEA2-5998-E5D7B93A0AB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55948" y="957362"/>
            <a:ext cx="7513595" cy="4973908"/>
          </a:xfrm>
          <a:prstGeom prst="rect">
            <a:avLst/>
          </a:prstGeom>
        </p:spPr>
      </p:pic>
      <p:pic>
        <p:nvPicPr>
          <p:cNvPr id="15" name="full">
            <a:extLst>
              <a:ext uri="{FF2B5EF4-FFF2-40B4-BE49-F238E27FC236}">
                <a16:creationId xmlns:a16="http://schemas.microsoft.com/office/drawing/2014/main" id="{7CDDE5EA-63F4-299F-164A-BBE45520360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55948" y="957362"/>
            <a:ext cx="7513595" cy="4973908"/>
          </a:xfrm>
          <a:prstGeom prst="rect">
            <a:avLst/>
          </a:prstGeom>
        </p:spPr>
      </p:pic>
      <p:sp>
        <p:nvSpPr>
          <p:cNvPr id="4" name="Freihandform: Form 3">
            <a:extLst>
              <a:ext uri="{FF2B5EF4-FFF2-40B4-BE49-F238E27FC236}">
                <a16:creationId xmlns:a16="http://schemas.microsoft.com/office/drawing/2014/main" id="{AD811A1B-DCE0-B7CA-7B4D-82C1BB374972}"/>
              </a:ext>
            </a:extLst>
          </p:cNvPr>
          <p:cNvSpPr/>
          <p:nvPr/>
        </p:nvSpPr>
        <p:spPr>
          <a:xfrm flipH="1">
            <a:off x="8657661" y="-2955952"/>
            <a:ext cx="6300782" cy="3481390"/>
          </a:xfrm>
          <a:custGeom>
            <a:avLst/>
            <a:gdLst>
              <a:gd name="csX0" fmla="*/ 0 w 6300782"/>
              <a:gd name="csY0" fmla="*/ 0 h 3481390"/>
              <a:gd name="csX1" fmla="*/ 4560087 w 6300782"/>
              <a:gd name="csY1" fmla="*/ 0 h 3481390"/>
              <a:gd name="csX2" fmla="*/ 4562473 w 6300782"/>
              <a:gd name="csY2" fmla="*/ 0 h 3481390"/>
              <a:gd name="csX3" fmla="*/ 4562473 w 6300782"/>
              <a:gd name="csY3" fmla="*/ 121 h 3481390"/>
              <a:gd name="csX4" fmla="*/ 4738063 w 6300782"/>
              <a:gd name="csY4" fmla="*/ 8987 h 3481390"/>
              <a:gd name="csX5" fmla="*/ 6300782 w 6300782"/>
              <a:gd name="csY5" fmla="*/ 1740695 h 3481390"/>
              <a:gd name="csX6" fmla="*/ 4738063 w 6300782"/>
              <a:gd name="csY6" fmla="*/ 3472403 h 3481390"/>
              <a:gd name="csX7" fmla="*/ 4562473 w 6300782"/>
              <a:gd name="csY7" fmla="*/ 3481270 h 3481390"/>
              <a:gd name="csX8" fmla="*/ 4562473 w 6300782"/>
              <a:gd name="csY8" fmla="*/ 3481390 h 3481390"/>
              <a:gd name="csX9" fmla="*/ 4560087 w 6300782"/>
              <a:gd name="csY9" fmla="*/ 3481390 h 3481390"/>
              <a:gd name="csX10" fmla="*/ 0 w 6300782"/>
              <a:gd name="csY10" fmla="*/ 3481390 h 34813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6300782" h="3481390">
                <a:moveTo>
                  <a:pt x="0" y="0"/>
                </a:moveTo>
                <a:lnTo>
                  <a:pt x="4560087" y="0"/>
                </a:lnTo>
                <a:lnTo>
                  <a:pt x="4562473" y="0"/>
                </a:lnTo>
                <a:lnTo>
                  <a:pt x="4562473" y="121"/>
                </a:lnTo>
                <a:lnTo>
                  <a:pt x="4738063" y="8987"/>
                </a:lnTo>
                <a:cubicBezTo>
                  <a:pt x="5615819" y="98128"/>
                  <a:pt x="6300782" y="839421"/>
                  <a:pt x="6300782" y="1740695"/>
                </a:cubicBezTo>
                <a:cubicBezTo>
                  <a:pt x="6300782" y="2641969"/>
                  <a:pt x="5615819" y="3383262"/>
                  <a:pt x="4738063" y="3472403"/>
                </a:cubicBezTo>
                <a:lnTo>
                  <a:pt x="4562473" y="3481270"/>
                </a:lnTo>
                <a:lnTo>
                  <a:pt x="4562473" y="3481390"/>
                </a:lnTo>
                <a:lnTo>
                  <a:pt x="4560087" y="3481390"/>
                </a:lnTo>
                <a:lnTo>
                  <a:pt x="0" y="3481390"/>
                </a:lnTo>
                <a:close/>
              </a:path>
            </a:pathLst>
          </a:custGeom>
          <a:solidFill>
            <a:srgbClr val="E3E9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de-DE" sz="1600" b="1">
              <a:solidFill>
                <a:schemeClr val="tx1"/>
              </a:solidFill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20C86878-4C54-5F44-0EA0-C60D0EA3D5BA}"/>
              </a:ext>
            </a:extLst>
          </p:cNvPr>
          <p:cNvSpPr txBox="1"/>
          <p:nvPr/>
        </p:nvSpPr>
        <p:spPr>
          <a:xfrm>
            <a:off x="10287922" y="17905"/>
            <a:ext cx="19040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>
                <a:solidFill>
                  <a:srgbClr val="00336E"/>
                </a:solidFill>
                <a:ea typeface="Cormorant Garamond" pitchFamily="2" charset="0"/>
                <a:cs typeface="Cormorant Garamond" pitchFamily="2" charset="0"/>
              </a:rPr>
              <a:t>First </a:t>
            </a:r>
            <a:r>
              <a:rPr lang="de-DE" sz="2400" dirty="0" err="1">
                <a:solidFill>
                  <a:srgbClr val="00336E"/>
                </a:solidFill>
                <a:ea typeface="Cormorant Garamond" pitchFamily="2" charset="0"/>
                <a:cs typeface="Cormorant Garamond" pitchFamily="2" charset="0"/>
              </a:rPr>
              <a:t>results</a:t>
            </a:r>
            <a:endParaRPr lang="de-DE" sz="2400" b="1" dirty="0">
              <a:solidFill>
                <a:srgbClr val="00336E"/>
              </a:solidFill>
              <a:ea typeface="Cormorant Garamond" pitchFamily="2" charset="0"/>
              <a:cs typeface="Cormorant Garamond" pitchFamily="2" charset="0"/>
            </a:endParaRPr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3ADB5D7D-FA7F-25BB-994A-D205EDF55B6A}"/>
              </a:ext>
            </a:extLst>
          </p:cNvPr>
          <p:cNvSpPr/>
          <p:nvPr/>
        </p:nvSpPr>
        <p:spPr>
          <a:xfrm>
            <a:off x="10012084" y="66307"/>
            <a:ext cx="340233" cy="340233"/>
          </a:xfrm>
          <a:prstGeom prst="ellipse">
            <a:avLst/>
          </a:prstGeom>
          <a:solidFill>
            <a:srgbClr val="E3E9EA"/>
          </a:solidFill>
          <a:ln>
            <a:solidFill>
              <a:srgbClr val="00336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b="1" dirty="0">
                <a:solidFill>
                  <a:schemeClr val="tx1"/>
                </a:solidFill>
              </a:rPr>
              <a:t>1</a:t>
            </a:r>
            <a:endParaRPr lang="de-DE" sz="9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6308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73E0B3-398C-C973-0901-374D18135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feld 22">
            <a:extLst>
              <a:ext uri="{FF2B5EF4-FFF2-40B4-BE49-F238E27FC236}">
                <a16:creationId xmlns:a16="http://schemas.microsoft.com/office/drawing/2014/main" id="{DB3BA8BE-34B8-36EC-A8C6-FE3DD1920D3A}"/>
              </a:ext>
            </a:extLst>
          </p:cNvPr>
          <p:cNvSpPr txBox="1"/>
          <p:nvPr/>
        </p:nvSpPr>
        <p:spPr>
          <a:xfrm>
            <a:off x="370804" y="1692847"/>
            <a:ext cx="3280900" cy="1023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800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The evolved variants found </a:t>
            </a:r>
            <a:r>
              <a:rPr lang="en-US" b="1" dirty="0">
                <a:ea typeface="MS Mincho" panose="02020609040205080304" pitchFamily="49" charset="-128"/>
                <a:cs typeface="Times New Roman" panose="02020603050405020304" pitchFamily="18" charset="0"/>
              </a:rPr>
              <a:t>15</a:t>
            </a:r>
            <a:r>
              <a:rPr lang="en-US" sz="1800" b="1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 times </a:t>
            </a:r>
            <a:r>
              <a:rPr lang="en-US" sz="1800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more food than the random variants!</a:t>
            </a:r>
            <a:endParaRPr lang="de-DE" sz="1800" dirty="0">
              <a:effectLst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39415EE7-D00F-C603-EEA2-139BA96482FE}"/>
              </a:ext>
            </a:extLst>
          </p:cNvPr>
          <p:cNvSpPr txBox="1"/>
          <p:nvPr/>
        </p:nvSpPr>
        <p:spPr>
          <a:xfrm>
            <a:off x="4195989" y="5605807"/>
            <a:ext cx="10203543" cy="1187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28800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800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Kruskal-Wallis: p &lt;&lt; 0.01; </a:t>
            </a:r>
            <a:r>
              <a:rPr lang="el-GR" sz="800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ε</a:t>
            </a:r>
            <a:r>
              <a:rPr lang="de-DE" sz="800" baseline="30000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2</a:t>
            </a:r>
            <a:r>
              <a:rPr lang="de-DE" sz="800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 = 0.4 (large </a:t>
            </a:r>
            <a:r>
              <a:rPr lang="de-DE" sz="800" dirty="0" err="1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effect</a:t>
            </a:r>
            <a:r>
              <a:rPr lang="de-DE" sz="800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de-DE" sz="800" dirty="0" err="1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size</a:t>
            </a:r>
            <a:r>
              <a:rPr lang="de-DE" sz="800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)</a:t>
            </a:r>
            <a:endParaRPr lang="en-US" sz="800" dirty="0">
              <a:effectLst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defTabSz="28800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800" dirty="0">
                <a:ea typeface="MS Mincho" panose="02020609040205080304" pitchFamily="49" charset="-128"/>
                <a:cs typeface="Times New Roman" panose="02020603050405020304" pitchFamily="18" charset="0"/>
              </a:rPr>
              <a:t>MWU + Holm-Bonferroni: </a:t>
            </a:r>
            <a:br>
              <a:rPr lang="en-US" sz="800" dirty="0"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800" dirty="0">
                <a:ea typeface="MS Mincho" panose="02020609040205080304" pitchFamily="49" charset="-128"/>
                <a:cs typeface="Times New Roman" panose="02020603050405020304" pitchFamily="18" charset="0"/>
              </a:rPr>
              <a:t>Hard-Coded vs Random:	p &lt;&lt; 0.01;	r = -0.87 (large effect size)</a:t>
            </a:r>
            <a:br>
              <a:rPr lang="en-US" sz="800" dirty="0"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800" dirty="0">
                <a:ea typeface="MS Mincho" panose="02020609040205080304" pitchFamily="49" charset="-128"/>
                <a:cs typeface="Times New Roman" panose="02020603050405020304" pitchFamily="18" charset="0"/>
              </a:rPr>
              <a:t>EA vs Random:		p &lt;&lt; 0.01; 	r = -0.97 (large effect size)</a:t>
            </a:r>
            <a:br>
              <a:rPr lang="en-US" sz="800" dirty="0"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800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EA vs Hard-Coded</a:t>
            </a:r>
            <a:r>
              <a:rPr lang="en-US" sz="800" dirty="0">
                <a:ea typeface="MS Mincho" panose="02020609040205080304" pitchFamily="49" charset="-128"/>
                <a:cs typeface="Times New Roman" panose="02020603050405020304" pitchFamily="18" charset="0"/>
              </a:rPr>
              <a:t>:		</a:t>
            </a:r>
            <a:r>
              <a:rPr lang="en-US" sz="800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p = 9*10</a:t>
            </a:r>
            <a:r>
              <a:rPr lang="en-US" sz="800" baseline="30000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-</a:t>
            </a:r>
            <a:r>
              <a:rPr lang="en-US" sz="800" baseline="30000" dirty="0">
                <a:ea typeface="MS Mincho" panose="02020609040205080304" pitchFamily="49" charset="-128"/>
                <a:cs typeface="Times New Roman" panose="02020603050405020304" pitchFamily="18" charset="0"/>
              </a:rPr>
              <a:t>90</a:t>
            </a:r>
            <a:r>
              <a:rPr lang="en-US" sz="800" dirty="0">
                <a:ea typeface="MS Mincho" panose="02020609040205080304" pitchFamily="49" charset="-128"/>
                <a:cs typeface="Times New Roman" panose="02020603050405020304" pitchFamily="18" charset="0"/>
              </a:rPr>
              <a:t>;	r = -0.7 (large effect size)</a:t>
            </a:r>
            <a:endParaRPr lang="en-US" sz="800" dirty="0">
              <a:effectLst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  <a:buNone/>
            </a:pPr>
            <a:endParaRPr lang="de-DE" sz="800" dirty="0">
              <a:effectLst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51F5124E-F9D2-D2B1-077A-EF7659D5F3A4}"/>
              </a:ext>
            </a:extLst>
          </p:cNvPr>
          <p:cNvGrpSpPr/>
          <p:nvPr/>
        </p:nvGrpSpPr>
        <p:grpSpPr>
          <a:xfrm>
            <a:off x="4195989" y="735357"/>
            <a:ext cx="6957785" cy="4870450"/>
            <a:chOff x="4195989" y="735357"/>
            <a:chExt cx="6957785" cy="4870450"/>
          </a:xfrm>
        </p:grpSpPr>
        <p:pic>
          <p:nvPicPr>
            <p:cNvPr id="25" name="Grafik 24">
              <a:extLst>
                <a:ext uri="{FF2B5EF4-FFF2-40B4-BE49-F238E27FC236}">
                  <a16:creationId xmlns:a16="http://schemas.microsoft.com/office/drawing/2014/main" id="{A16FEB82-BC73-606C-8212-BB85B7519BA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4195989" y="735357"/>
              <a:ext cx="6957785" cy="4870450"/>
            </a:xfrm>
            <a:prstGeom prst="rect">
              <a:avLst/>
            </a:prstGeom>
          </p:spPr>
        </p:pic>
        <p:grpSp>
          <p:nvGrpSpPr>
            <p:cNvPr id="40" name="Gruppieren 39">
              <a:extLst>
                <a:ext uri="{FF2B5EF4-FFF2-40B4-BE49-F238E27FC236}">
                  <a16:creationId xmlns:a16="http://schemas.microsoft.com/office/drawing/2014/main" id="{6F99784B-DEAC-D516-FD5C-D2F68B99A8D7}"/>
                </a:ext>
              </a:extLst>
            </p:cNvPr>
            <p:cNvGrpSpPr/>
            <p:nvPr/>
          </p:nvGrpSpPr>
          <p:grpSpPr>
            <a:xfrm>
              <a:off x="5795963" y="1196059"/>
              <a:ext cx="4205287" cy="429366"/>
              <a:chOff x="5795963" y="1196059"/>
              <a:chExt cx="4205287" cy="429366"/>
            </a:xfrm>
          </p:grpSpPr>
          <p:grpSp>
            <p:nvGrpSpPr>
              <p:cNvPr id="39" name="Gruppieren 38">
                <a:extLst>
                  <a:ext uri="{FF2B5EF4-FFF2-40B4-BE49-F238E27FC236}">
                    <a16:creationId xmlns:a16="http://schemas.microsoft.com/office/drawing/2014/main" id="{928CD72C-2642-FB87-37C5-11001206F7B3}"/>
                  </a:ext>
                </a:extLst>
              </p:cNvPr>
              <p:cNvGrpSpPr/>
              <p:nvPr/>
            </p:nvGrpSpPr>
            <p:grpSpPr>
              <a:xfrm>
                <a:off x="5795963" y="1196059"/>
                <a:ext cx="4205287" cy="153888"/>
                <a:chOff x="5795963" y="1196059"/>
                <a:chExt cx="4205287" cy="153888"/>
              </a:xfrm>
            </p:grpSpPr>
            <p:cxnSp>
              <p:nvCxnSpPr>
                <p:cNvPr id="28" name="Gerader Verbinder 27">
                  <a:extLst>
                    <a:ext uri="{FF2B5EF4-FFF2-40B4-BE49-F238E27FC236}">
                      <a16:creationId xmlns:a16="http://schemas.microsoft.com/office/drawing/2014/main" id="{33F3B53C-D96D-7C07-B258-EC028CF36C3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95963" y="1295998"/>
                  <a:ext cx="4205287" cy="0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  <a:headEnd type="diamond" w="sm" len="sm"/>
                  <a:tailEnd type="diamond" w="sm" len="sm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4" name="Textfeld 33">
                  <a:extLst>
                    <a:ext uri="{FF2B5EF4-FFF2-40B4-BE49-F238E27FC236}">
                      <a16:creationId xmlns:a16="http://schemas.microsoft.com/office/drawing/2014/main" id="{BFD885DD-9D36-4AE2-BE1F-226E80B6FF12}"/>
                    </a:ext>
                  </a:extLst>
                </p:cNvPr>
                <p:cNvSpPr txBox="1"/>
                <p:nvPr/>
              </p:nvSpPr>
              <p:spPr>
                <a:xfrm>
                  <a:off x="7770366" y="1196059"/>
                  <a:ext cx="256480" cy="1538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 anchor="b">
                  <a:spAutoFit/>
                </a:bodyPr>
                <a:lstStyle/>
                <a:p>
                  <a:r>
                    <a:rPr lang="de-DE" sz="1000" dirty="0">
                      <a:latin typeface="+mj-lt"/>
                      <a:ea typeface="Cormorant Garamond" pitchFamily="2" charset="0"/>
                      <a:cs typeface="Cormorant Garamond" pitchFamily="2" charset="0"/>
                    </a:rPr>
                    <a:t>****</a:t>
                  </a:r>
                </a:p>
              </p:txBody>
            </p:sp>
          </p:grpSp>
          <p:grpSp>
            <p:nvGrpSpPr>
              <p:cNvPr id="37" name="Gruppieren 36">
                <a:extLst>
                  <a:ext uri="{FF2B5EF4-FFF2-40B4-BE49-F238E27FC236}">
                    <a16:creationId xmlns:a16="http://schemas.microsoft.com/office/drawing/2014/main" id="{40A8EA23-B109-136D-9368-BB6AE23A6140}"/>
                  </a:ext>
                </a:extLst>
              </p:cNvPr>
              <p:cNvGrpSpPr/>
              <p:nvPr/>
            </p:nvGrpSpPr>
            <p:grpSpPr>
              <a:xfrm>
                <a:off x="5795963" y="1471537"/>
                <a:ext cx="2095500" cy="153888"/>
                <a:chOff x="5795963" y="1471537"/>
                <a:chExt cx="2095500" cy="153888"/>
              </a:xfrm>
            </p:grpSpPr>
            <p:cxnSp>
              <p:nvCxnSpPr>
                <p:cNvPr id="27" name="Gerader Verbinder 26">
                  <a:extLst>
                    <a:ext uri="{FF2B5EF4-FFF2-40B4-BE49-F238E27FC236}">
                      <a16:creationId xmlns:a16="http://schemas.microsoft.com/office/drawing/2014/main" id="{16B4C276-179F-43B7-247E-E4F362A8E68C}"/>
                    </a:ext>
                  </a:extLst>
                </p:cNvPr>
                <p:cNvCxnSpPr/>
                <p:nvPr/>
              </p:nvCxnSpPr>
              <p:spPr>
                <a:xfrm>
                  <a:off x="5795963" y="1567797"/>
                  <a:ext cx="2095500" cy="0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  <a:headEnd type="diamond" w="sm" len="sm"/>
                  <a:tailEnd type="diamond" w="sm" len="sm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5" name="Textfeld 34">
                  <a:extLst>
                    <a:ext uri="{FF2B5EF4-FFF2-40B4-BE49-F238E27FC236}">
                      <a16:creationId xmlns:a16="http://schemas.microsoft.com/office/drawing/2014/main" id="{C218FAF5-7FBA-89F4-D1BB-A0AA365621B1}"/>
                    </a:ext>
                  </a:extLst>
                </p:cNvPr>
                <p:cNvSpPr txBox="1"/>
                <p:nvPr/>
              </p:nvSpPr>
              <p:spPr>
                <a:xfrm>
                  <a:off x="6715473" y="1471537"/>
                  <a:ext cx="256480" cy="1538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r>
                    <a:rPr lang="de-DE" sz="1000" dirty="0">
                      <a:latin typeface="+mj-lt"/>
                      <a:ea typeface="Cormorant Garamond" pitchFamily="2" charset="0"/>
                      <a:cs typeface="Cormorant Garamond" pitchFamily="2" charset="0"/>
                    </a:rPr>
                    <a:t>****</a:t>
                  </a:r>
                </a:p>
              </p:txBody>
            </p:sp>
          </p:grpSp>
          <p:grpSp>
            <p:nvGrpSpPr>
              <p:cNvPr id="38" name="Gruppieren 37">
                <a:extLst>
                  <a:ext uri="{FF2B5EF4-FFF2-40B4-BE49-F238E27FC236}">
                    <a16:creationId xmlns:a16="http://schemas.microsoft.com/office/drawing/2014/main" id="{0C164916-B0E8-1C90-62B6-FEAD759E7EEF}"/>
                  </a:ext>
                </a:extLst>
              </p:cNvPr>
              <p:cNvGrpSpPr/>
              <p:nvPr/>
            </p:nvGrpSpPr>
            <p:grpSpPr>
              <a:xfrm>
                <a:off x="7891463" y="1327944"/>
                <a:ext cx="2109787" cy="153888"/>
                <a:chOff x="7891463" y="1327944"/>
                <a:chExt cx="2109787" cy="153888"/>
              </a:xfrm>
            </p:grpSpPr>
            <p:cxnSp>
              <p:nvCxnSpPr>
                <p:cNvPr id="31" name="Gerader Verbinder 30">
                  <a:extLst>
                    <a:ext uri="{FF2B5EF4-FFF2-40B4-BE49-F238E27FC236}">
                      <a16:creationId xmlns:a16="http://schemas.microsoft.com/office/drawing/2014/main" id="{A56BB575-0721-5FCE-8A49-83591402755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891463" y="1432903"/>
                  <a:ext cx="2109787" cy="0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  <a:headEnd type="diamond" w="sm" len="sm"/>
                  <a:tailEnd type="diamond" w="sm" len="sm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6" name="Textfeld 35">
                  <a:extLst>
                    <a:ext uri="{FF2B5EF4-FFF2-40B4-BE49-F238E27FC236}">
                      <a16:creationId xmlns:a16="http://schemas.microsoft.com/office/drawing/2014/main" id="{1C59633D-AE3D-345A-EA3E-8EFBA03EDB18}"/>
                    </a:ext>
                  </a:extLst>
                </p:cNvPr>
                <p:cNvSpPr txBox="1"/>
                <p:nvPr/>
              </p:nvSpPr>
              <p:spPr>
                <a:xfrm>
                  <a:off x="8818116" y="1327944"/>
                  <a:ext cx="256480" cy="1538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r>
                    <a:rPr lang="de-DE" sz="1000" dirty="0">
                      <a:latin typeface="+mj-lt"/>
                      <a:ea typeface="Cormorant Garamond" pitchFamily="2" charset="0"/>
                      <a:cs typeface="Cormorant Garamond" pitchFamily="2" charset="0"/>
                    </a:rPr>
                    <a:t>****</a:t>
                  </a:r>
                </a:p>
              </p:txBody>
            </p:sp>
          </p:grpSp>
        </p:grpSp>
      </p:grpSp>
      <p:sp>
        <p:nvSpPr>
          <p:cNvPr id="4" name="Freihandform: Form 3">
            <a:extLst>
              <a:ext uri="{FF2B5EF4-FFF2-40B4-BE49-F238E27FC236}">
                <a16:creationId xmlns:a16="http://schemas.microsoft.com/office/drawing/2014/main" id="{63959786-A60C-D090-9CD3-BC5BBB4873B4}"/>
              </a:ext>
            </a:extLst>
          </p:cNvPr>
          <p:cNvSpPr/>
          <p:nvPr/>
        </p:nvSpPr>
        <p:spPr>
          <a:xfrm flipH="1">
            <a:off x="8657661" y="-2955952"/>
            <a:ext cx="6300782" cy="3481390"/>
          </a:xfrm>
          <a:custGeom>
            <a:avLst/>
            <a:gdLst>
              <a:gd name="csX0" fmla="*/ 0 w 6300782"/>
              <a:gd name="csY0" fmla="*/ 0 h 3481390"/>
              <a:gd name="csX1" fmla="*/ 4560087 w 6300782"/>
              <a:gd name="csY1" fmla="*/ 0 h 3481390"/>
              <a:gd name="csX2" fmla="*/ 4562473 w 6300782"/>
              <a:gd name="csY2" fmla="*/ 0 h 3481390"/>
              <a:gd name="csX3" fmla="*/ 4562473 w 6300782"/>
              <a:gd name="csY3" fmla="*/ 121 h 3481390"/>
              <a:gd name="csX4" fmla="*/ 4738063 w 6300782"/>
              <a:gd name="csY4" fmla="*/ 8987 h 3481390"/>
              <a:gd name="csX5" fmla="*/ 6300782 w 6300782"/>
              <a:gd name="csY5" fmla="*/ 1740695 h 3481390"/>
              <a:gd name="csX6" fmla="*/ 4738063 w 6300782"/>
              <a:gd name="csY6" fmla="*/ 3472403 h 3481390"/>
              <a:gd name="csX7" fmla="*/ 4562473 w 6300782"/>
              <a:gd name="csY7" fmla="*/ 3481270 h 3481390"/>
              <a:gd name="csX8" fmla="*/ 4562473 w 6300782"/>
              <a:gd name="csY8" fmla="*/ 3481390 h 3481390"/>
              <a:gd name="csX9" fmla="*/ 4560087 w 6300782"/>
              <a:gd name="csY9" fmla="*/ 3481390 h 3481390"/>
              <a:gd name="csX10" fmla="*/ 0 w 6300782"/>
              <a:gd name="csY10" fmla="*/ 3481390 h 34813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6300782" h="3481390">
                <a:moveTo>
                  <a:pt x="0" y="0"/>
                </a:moveTo>
                <a:lnTo>
                  <a:pt x="4560087" y="0"/>
                </a:lnTo>
                <a:lnTo>
                  <a:pt x="4562473" y="0"/>
                </a:lnTo>
                <a:lnTo>
                  <a:pt x="4562473" y="121"/>
                </a:lnTo>
                <a:lnTo>
                  <a:pt x="4738063" y="8987"/>
                </a:lnTo>
                <a:cubicBezTo>
                  <a:pt x="5615819" y="98128"/>
                  <a:pt x="6300782" y="839421"/>
                  <a:pt x="6300782" y="1740695"/>
                </a:cubicBezTo>
                <a:cubicBezTo>
                  <a:pt x="6300782" y="2641969"/>
                  <a:pt x="5615819" y="3383262"/>
                  <a:pt x="4738063" y="3472403"/>
                </a:cubicBezTo>
                <a:lnTo>
                  <a:pt x="4562473" y="3481270"/>
                </a:lnTo>
                <a:lnTo>
                  <a:pt x="4562473" y="3481390"/>
                </a:lnTo>
                <a:lnTo>
                  <a:pt x="4560087" y="3481390"/>
                </a:lnTo>
                <a:lnTo>
                  <a:pt x="0" y="3481390"/>
                </a:lnTo>
                <a:close/>
              </a:path>
            </a:pathLst>
          </a:custGeom>
          <a:solidFill>
            <a:srgbClr val="E3E9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de-DE" sz="1600" b="1">
              <a:solidFill>
                <a:schemeClr val="tx1"/>
              </a:solidFill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9463FABB-C411-9F70-E3B3-E5E3CEEC0D68}"/>
              </a:ext>
            </a:extLst>
          </p:cNvPr>
          <p:cNvSpPr txBox="1"/>
          <p:nvPr/>
        </p:nvSpPr>
        <p:spPr>
          <a:xfrm>
            <a:off x="10287922" y="17905"/>
            <a:ext cx="19040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>
                <a:solidFill>
                  <a:srgbClr val="00336E"/>
                </a:solidFill>
                <a:ea typeface="Cormorant Garamond" pitchFamily="2" charset="0"/>
                <a:cs typeface="Cormorant Garamond" pitchFamily="2" charset="0"/>
              </a:rPr>
              <a:t>First </a:t>
            </a:r>
            <a:r>
              <a:rPr lang="de-DE" sz="2400" dirty="0" err="1">
                <a:solidFill>
                  <a:srgbClr val="00336E"/>
                </a:solidFill>
                <a:ea typeface="Cormorant Garamond" pitchFamily="2" charset="0"/>
                <a:cs typeface="Cormorant Garamond" pitchFamily="2" charset="0"/>
              </a:rPr>
              <a:t>results</a:t>
            </a:r>
            <a:endParaRPr lang="de-DE" sz="2400" b="1" dirty="0">
              <a:solidFill>
                <a:srgbClr val="00336E"/>
              </a:solidFill>
              <a:ea typeface="Cormorant Garamond" pitchFamily="2" charset="0"/>
              <a:cs typeface="Cormorant Garamond" pitchFamily="2" charset="0"/>
            </a:endParaRPr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EC01C0AD-4883-6901-BC52-5F3B93D98D2F}"/>
              </a:ext>
            </a:extLst>
          </p:cNvPr>
          <p:cNvSpPr/>
          <p:nvPr/>
        </p:nvSpPr>
        <p:spPr>
          <a:xfrm>
            <a:off x="10012084" y="66307"/>
            <a:ext cx="340233" cy="340233"/>
          </a:xfrm>
          <a:prstGeom prst="ellipse">
            <a:avLst/>
          </a:prstGeom>
          <a:solidFill>
            <a:srgbClr val="E3E9EA"/>
          </a:solidFill>
          <a:ln>
            <a:solidFill>
              <a:srgbClr val="00336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b="1" dirty="0">
                <a:solidFill>
                  <a:schemeClr val="tx1"/>
                </a:solidFill>
              </a:rPr>
              <a:t>1</a:t>
            </a:r>
            <a:endParaRPr lang="de-DE" sz="9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3988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EDDD56-5017-5E3B-A022-E3626EF24A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feld 22">
            <a:extLst>
              <a:ext uri="{FF2B5EF4-FFF2-40B4-BE49-F238E27FC236}">
                <a16:creationId xmlns:a16="http://schemas.microsoft.com/office/drawing/2014/main" id="{C497F9BB-5826-9B4D-46D9-7FA08DB98963}"/>
              </a:ext>
            </a:extLst>
          </p:cNvPr>
          <p:cNvSpPr txBox="1"/>
          <p:nvPr/>
        </p:nvSpPr>
        <p:spPr>
          <a:xfrm>
            <a:off x="370804" y="1692847"/>
            <a:ext cx="3280900" cy="14703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800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In this scenario food once consumed does not regrow.</a:t>
            </a:r>
          </a:p>
          <a:p>
            <a:pPr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b="1" dirty="0">
                <a:ea typeface="MS Mincho" panose="02020609040205080304" pitchFamily="49" charset="-128"/>
                <a:cs typeface="Times New Roman" panose="02020603050405020304" pitchFamily="18" charset="0"/>
              </a:rPr>
              <a:t>Randomly moving variants deplete their local supply.</a:t>
            </a:r>
            <a:endParaRPr lang="de-DE" sz="1800" b="1" dirty="0">
              <a:effectLst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8EE3B172-5283-F1E4-D279-BA23764544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108"/>
          <a:stretch>
            <a:fillRect/>
          </a:stretch>
        </p:blipFill>
        <p:spPr>
          <a:xfrm>
            <a:off x="3541691" y="1388321"/>
            <a:ext cx="5238320" cy="3147134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2169F886-1023-3CB3-32B5-1788DA0CEF4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6514"/>
          <a:stretch>
            <a:fillRect/>
          </a:stretch>
        </p:blipFill>
        <p:spPr>
          <a:xfrm>
            <a:off x="9326644" y="1388321"/>
            <a:ext cx="2624254" cy="3149516"/>
          </a:xfrm>
          <a:prstGeom prst="rect">
            <a:avLst/>
          </a:prstGeom>
        </p:spPr>
      </p:pic>
      <p:sp>
        <p:nvSpPr>
          <p:cNvPr id="4" name="Freihandform: Form 3">
            <a:extLst>
              <a:ext uri="{FF2B5EF4-FFF2-40B4-BE49-F238E27FC236}">
                <a16:creationId xmlns:a16="http://schemas.microsoft.com/office/drawing/2014/main" id="{93E78693-B4AC-BE5F-A959-732D7FD42E59}"/>
              </a:ext>
            </a:extLst>
          </p:cNvPr>
          <p:cNvSpPr/>
          <p:nvPr/>
        </p:nvSpPr>
        <p:spPr>
          <a:xfrm flipH="1">
            <a:off x="8657661" y="-2955952"/>
            <a:ext cx="6300782" cy="3481390"/>
          </a:xfrm>
          <a:custGeom>
            <a:avLst/>
            <a:gdLst>
              <a:gd name="csX0" fmla="*/ 0 w 6300782"/>
              <a:gd name="csY0" fmla="*/ 0 h 3481390"/>
              <a:gd name="csX1" fmla="*/ 4560087 w 6300782"/>
              <a:gd name="csY1" fmla="*/ 0 h 3481390"/>
              <a:gd name="csX2" fmla="*/ 4562473 w 6300782"/>
              <a:gd name="csY2" fmla="*/ 0 h 3481390"/>
              <a:gd name="csX3" fmla="*/ 4562473 w 6300782"/>
              <a:gd name="csY3" fmla="*/ 121 h 3481390"/>
              <a:gd name="csX4" fmla="*/ 4738063 w 6300782"/>
              <a:gd name="csY4" fmla="*/ 8987 h 3481390"/>
              <a:gd name="csX5" fmla="*/ 6300782 w 6300782"/>
              <a:gd name="csY5" fmla="*/ 1740695 h 3481390"/>
              <a:gd name="csX6" fmla="*/ 4738063 w 6300782"/>
              <a:gd name="csY6" fmla="*/ 3472403 h 3481390"/>
              <a:gd name="csX7" fmla="*/ 4562473 w 6300782"/>
              <a:gd name="csY7" fmla="*/ 3481270 h 3481390"/>
              <a:gd name="csX8" fmla="*/ 4562473 w 6300782"/>
              <a:gd name="csY8" fmla="*/ 3481390 h 3481390"/>
              <a:gd name="csX9" fmla="*/ 4560087 w 6300782"/>
              <a:gd name="csY9" fmla="*/ 3481390 h 3481390"/>
              <a:gd name="csX10" fmla="*/ 0 w 6300782"/>
              <a:gd name="csY10" fmla="*/ 3481390 h 34813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6300782" h="3481390">
                <a:moveTo>
                  <a:pt x="0" y="0"/>
                </a:moveTo>
                <a:lnTo>
                  <a:pt x="4560087" y="0"/>
                </a:lnTo>
                <a:lnTo>
                  <a:pt x="4562473" y="0"/>
                </a:lnTo>
                <a:lnTo>
                  <a:pt x="4562473" y="121"/>
                </a:lnTo>
                <a:lnTo>
                  <a:pt x="4738063" y="8987"/>
                </a:lnTo>
                <a:cubicBezTo>
                  <a:pt x="5615819" y="98128"/>
                  <a:pt x="6300782" y="839421"/>
                  <a:pt x="6300782" y="1740695"/>
                </a:cubicBezTo>
                <a:cubicBezTo>
                  <a:pt x="6300782" y="2641969"/>
                  <a:pt x="5615819" y="3383262"/>
                  <a:pt x="4738063" y="3472403"/>
                </a:cubicBezTo>
                <a:lnTo>
                  <a:pt x="4562473" y="3481270"/>
                </a:lnTo>
                <a:lnTo>
                  <a:pt x="4562473" y="3481390"/>
                </a:lnTo>
                <a:lnTo>
                  <a:pt x="4560087" y="3481390"/>
                </a:lnTo>
                <a:lnTo>
                  <a:pt x="0" y="3481390"/>
                </a:lnTo>
                <a:close/>
              </a:path>
            </a:pathLst>
          </a:custGeom>
          <a:solidFill>
            <a:srgbClr val="E3E9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de-DE" sz="1600" b="1">
              <a:solidFill>
                <a:schemeClr val="tx1"/>
              </a:solidFill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FF6DD5DD-4B6B-9C4B-A1F2-DA5B55564AB6}"/>
              </a:ext>
            </a:extLst>
          </p:cNvPr>
          <p:cNvSpPr txBox="1"/>
          <p:nvPr/>
        </p:nvSpPr>
        <p:spPr>
          <a:xfrm>
            <a:off x="10287922" y="17905"/>
            <a:ext cx="19040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>
                <a:solidFill>
                  <a:srgbClr val="00336E"/>
                </a:solidFill>
                <a:ea typeface="Cormorant Garamond" pitchFamily="2" charset="0"/>
                <a:cs typeface="Cormorant Garamond" pitchFamily="2" charset="0"/>
              </a:rPr>
              <a:t>First </a:t>
            </a:r>
            <a:r>
              <a:rPr lang="de-DE" sz="2400" dirty="0" err="1">
                <a:solidFill>
                  <a:srgbClr val="00336E"/>
                </a:solidFill>
                <a:ea typeface="Cormorant Garamond" pitchFamily="2" charset="0"/>
                <a:cs typeface="Cormorant Garamond" pitchFamily="2" charset="0"/>
              </a:rPr>
              <a:t>results</a:t>
            </a:r>
            <a:endParaRPr lang="de-DE" sz="2400" b="1" dirty="0">
              <a:solidFill>
                <a:srgbClr val="00336E"/>
              </a:solidFill>
              <a:ea typeface="Cormorant Garamond" pitchFamily="2" charset="0"/>
              <a:cs typeface="Cormorant Garamond" pitchFamily="2" charset="0"/>
            </a:endParaRP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82E019AC-83E9-B93B-AD8C-25062873A54B}"/>
              </a:ext>
            </a:extLst>
          </p:cNvPr>
          <p:cNvSpPr/>
          <p:nvPr/>
        </p:nvSpPr>
        <p:spPr>
          <a:xfrm>
            <a:off x="10012084" y="66307"/>
            <a:ext cx="340233" cy="340233"/>
          </a:xfrm>
          <a:prstGeom prst="ellipse">
            <a:avLst/>
          </a:prstGeom>
          <a:solidFill>
            <a:srgbClr val="E3E9EA"/>
          </a:solidFill>
          <a:ln>
            <a:solidFill>
              <a:srgbClr val="00336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b="1" dirty="0">
                <a:solidFill>
                  <a:schemeClr val="tx1"/>
                </a:solidFill>
              </a:rPr>
              <a:t>1</a:t>
            </a:r>
            <a:endParaRPr lang="de-DE" sz="9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16260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37512E-97DE-ED28-79D6-F68A3ACFF2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feld 22">
            <a:extLst>
              <a:ext uri="{FF2B5EF4-FFF2-40B4-BE49-F238E27FC236}">
                <a16:creationId xmlns:a16="http://schemas.microsoft.com/office/drawing/2014/main" id="{8BBCDE86-0CC2-BF35-FD6C-5BF859FC1B4B}"/>
              </a:ext>
            </a:extLst>
          </p:cNvPr>
          <p:cNvSpPr txBox="1"/>
          <p:nvPr/>
        </p:nvSpPr>
        <p:spPr>
          <a:xfrm>
            <a:off x="370804" y="1692847"/>
            <a:ext cx="3280900" cy="705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800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Evolved variants developed a </a:t>
            </a:r>
            <a:r>
              <a:rPr lang="en-US" sz="1800" b="1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directional preference</a:t>
            </a:r>
            <a:r>
              <a:rPr lang="en-US" sz="1800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  <a:endParaRPr lang="de-DE" sz="1800" b="1" dirty="0">
              <a:effectLst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8F681BF1-707A-CCEC-0584-1C21289352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1691" y="1388321"/>
            <a:ext cx="7838940" cy="3150340"/>
          </a:xfrm>
          <a:prstGeom prst="rect">
            <a:avLst/>
          </a:prstGeom>
        </p:spPr>
      </p:pic>
      <p:sp>
        <p:nvSpPr>
          <p:cNvPr id="4" name="Freihandform: Form 3">
            <a:extLst>
              <a:ext uri="{FF2B5EF4-FFF2-40B4-BE49-F238E27FC236}">
                <a16:creationId xmlns:a16="http://schemas.microsoft.com/office/drawing/2014/main" id="{DE7294F9-7BF2-73B6-CC2F-E6812D29F904}"/>
              </a:ext>
            </a:extLst>
          </p:cNvPr>
          <p:cNvSpPr/>
          <p:nvPr/>
        </p:nvSpPr>
        <p:spPr>
          <a:xfrm flipH="1">
            <a:off x="8657661" y="-2955952"/>
            <a:ext cx="6300782" cy="3481390"/>
          </a:xfrm>
          <a:custGeom>
            <a:avLst/>
            <a:gdLst>
              <a:gd name="csX0" fmla="*/ 0 w 6300782"/>
              <a:gd name="csY0" fmla="*/ 0 h 3481390"/>
              <a:gd name="csX1" fmla="*/ 4560087 w 6300782"/>
              <a:gd name="csY1" fmla="*/ 0 h 3481390"/>
              <a:gd name="csX2" fmla="*/ 4562473 w 6300782"/>
              <a:gd name="csY2" fmla="*/ 0 h 3481390"/>
              <a:gd name="csX3" fmla="*/ 4562473 w 6300782"/>
              <a:gd name="csY3" fmla="*/ 121 h 3481390"/>
              <a:gd name="csX4" fmla="*/ 4738063 w 6300782"/>
              <a:gd name="csY4" fmla="*/ 8987 h 3481390"/>
              <a:gd name="csX5" fmla="*/ 6300782 w 6300782"/>
              <a:gd name="csY5" fmla="*/ 1740695 h 3481390"/>
              <a:gd name="csX6" fmla="*/ 4738063 w 6300782"/>
              <a:gd name="csY6" fmla="*/ 3472403 h 3481390"/>
              <a:gd name="csX7" fmla="*/ 4562473 w 6300782"/>
              <a:gd name="csY7" fmla="*/ 3481270 h 3481390"/>
              <a:gd name="csX8" fmla="*/ 4562473 w 6300782"/>
              <a:gd name="csY8" fmla="*/ 3481390 h 3481390"/>
              <a:gd name="csX9" fmla="*/ 4560087 w 6300782"/>
              <a:gd name="csY9" fmla="*/ 3481390 h 3481390"/>
              <a:gd name="csX10" fmla="*/ 0 w 6300782"/>
              <a:gd name="csY10" fmla="*/ 3481390 h 34813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6300782" h="3481390">
                <a:moveTo>
                  <a:pt x="0" y="0"/>
                </a:moveTo>
                <a:lnTo>
                  <a:pt x="4560087" y="0"/>
                </a:lnTo>
                <a:lnTo>
                  <a:pt x="4562473" y="0"/>
                </a:lnTo>
                <a:lnTo>
                  <a:pt x="4562473" y="121"/>
                </a:lnTo>
                <a:lnTo>
                  <a:pt x="4738063" y="8987"/>
                </a:lnTo>
                <a:cubicBezTo>
                  <a:pt x="5615819" y="98128"/>
                  <a:pt x="6300782" y="839421"/>
                  <a:pt x="6300782" y="1740695"/>
                </a:cubicBezTo>
                <a:cubicBezTo>
                  <a:pt x="6300782" y="2641969"/>
                  <a:pt x="5615819" y="3383262"/>
                  <a:pt x="4738063" y="3472403"/>
                </a:cubicBezTo>
                <a:lnTo>
                  <a:pt x="4562473" y="3481270"/>
                </a:lnTo>
                <a:lnTo>
                  <a:pt x="4562473" y="3481390"/>
                </a:lnTo>
                <a:lnTo>
                  <a:pt x="4560087" y="3481390"/>
                </a:lnTo>
                <a:lnTo>
                  <a:pt x="0" y="3481390"/>
                </a:lnTo>
                <a:close/>
              </a:path>
            </a:pathLst>
          </a:custGeom>
          <a:solidFill>
            <a:srgbClr val="E3E9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de-DE" sz="1600" b="1">
              <a:solidFill>
                <a:schemeClr val="tx1"/>
              </a:solidFill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60A42DF9-6726-4F05-3740-B83811791921}"/>
              </a:ext>
            </a:extLst>
          </p:cNvPr>
          <p:cNvSpPr txBox="1"/>
          <p:nvPr/>
        </p:nvSpPr>
        <p:spPr>
          <a:xfrm>
            <a:off x="10287922" y="17905"/>
            <a:ext cx="19040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>
                <a:solidFill>
                  <a:srgbClr val="00336E"/>
                </a:solidFill>
                <a:ea typeface="Cormorant Garamond" pitchFamily="2" charset="0"/>
                <a:cs typeface="Cormorant Garamond" pitchFamily="2" charset="0"/>
              </a:rPr>
              <a:t>First </a:t>
            </a:r>
            <a:r>
              <a:rPr lang="de-DE" sz="2400" dirty="0" err="1">
                <a:solidFill>
                  <a:srgbClr val="00336E"/>
                </a:solidFill>
                <a:ea typeface="Cormorant Garamond" pitchFamily="2" charset="0"/>
                <a:cs typeface="Cormorant Garamond" pitchFamily="2" charset="0"/>
              </a:rPr>
              <a:t>results</a:t>
            </a:r>
            <a:endParaRPr lang="de-DE" sz="2400" b="1" dirty="0">
              <a:solidFill>
                <a:srgbClr val="00336E"/>
              </a:solidFill>
              <a:ea typeface="Cormorant Garamond" pitchFamily="2" charset="0"/>
              <a:cs typeface="Cormorant Garamond" pitchFamily="2" charset="0"/>
            </a:endParaRP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D3DB673-3D4B-0DA5-D27B-A5F78EE5F0E8}"/>
              </a:ext>
            </a:extLst>
          </p:cNvPr>
          <p:cNvSpPr/>
          <p:nvPr/>
        </p:nvSpPr>
        <p:spPr>
          <a:xfrm>
            <a:off x="10012084" y="66307"/>
            <a:ext cx="340233" cy="340233"/>
          </a:xfrm>
          <a:prstGeom prst="ellipse">
            <a:avLst/>
          </a:prstGeom>
          <a:solidFill>
            <a:srgbClr val="E3E9EA"/>
          </a:solidFill>
          <a:ln>
            <a:solidFill>
              <a:srgbClr val="00336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b="1" dirty="0">
                <a:solidFill>
                  <a:schemeClr val="tx1"/>
                </a:solidFill>
              </a:rPr>
              <a:t>1</a:t>
            </a:r>
            <a:endParaRPr lang="de-DE" sz="9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75233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1CDDE9-4B99-B313-FC64-23DE76F48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feld 22">
            <a:extLst>
              <a:ext uri="{FF2B5EF4-FFF2-40B4-BE49-F238E27FC236}">
                <a16:creationId xmlns:a16="http://schemas.microsoft.com/office/drawing/2014/main" id="{6200D9CE-6000-CFDA-BF4A-4F8DB82EEE12}"/>
              </a:ext>
            </a:extLst>
          </p:cNvPr>
          <p:cNvSpPr txBox="1"/>
          <p:nvPr/>
        </p:nvSpPr>
        <p:spPr>
          <a:xfrm>
            <a:off x="370804" y="1692847"/>
            <a:ext cx="3280900" cy="1029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800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The evolved variants </a:t>
            </a:r>
            <a:r>
              <a:rPr lang="en-US" sz="1800" b="1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travel further from the origin </a:t>
            </a:r>
            <a:r>
              <a:rPr lang="en-US" sz="1800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than the random variants!</a:t>
            </a:r>
            <a:endParaRPr lang="de-DE" sz="1800" dirty="0">
              <a:effectLst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05CB08CA-8F6C-C492-05D5-9BED14918A41}"/>
              </a:ext>
            </a:extLst>
          </p:cNvPr>
          <p:cNvSpPr txBox="1"/>
          <p:nvPr/>
        </p:nvSpPr>
        <p:spPr>
          <a:xfrm>
            <a:off x="4195989" y="5605807"/>
            <a:ext cx="10203543" cy="1187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28800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800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Kruskal-Wallis: p </a:t>
            </a:r>
            <a:r>
              <a:rPr lang="en-US" sz="800" dirty="0"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≈ 0.000</a:t>
            </a:r>
            <a:r>
              <a:rPr lang="en-US" sz="800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; </a:t>
            </a:r>
            <a:r>
              <a:rPr lang="el-GR" sz="800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ε</a:t>
            </a:r>
            <a:r>
              <a:rPr lang="de-DE" sz="800" baseline="30000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2</a:t>
            </a:r>
            <a:r>
              <a:rPr lang="de-DE" sz="800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 = 0.1075 (medium </a:t>
            </a:r>
            <a:r>
              <a:rPr lang="de-DE" sz="800" dirty="0" err="1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effect</a:t>
            </a:r>
            <a:r>
              <a:rPr lang="de-DE" sz="800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de-DE" sz="800" dirty="0" err="1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size</a:t>
            </a:r>
            <a:r>
              <a:rPr lang="de-DE" sz="800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)</a:t>
            </a:r>
            <a:endParaRPr lang="en-US" sz="800" dirty="0">
              <a:effectLst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defTabSz="28800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800" dirty="0">
                <a:ea typeface="MS Mincho" panose="02020609040205080304" pitchFamily="49" charset="-128"/>
                <a:cs typeface="Times New Roman" panose="02020603050405020304" pitchFamily="18" charset="0"/>
              </a:rPr>
              <a:t>MWU + Holm-Bonferroni: </a:t>
            </a:r>
            <a:br>
              <a:rPr lang="en-US" sz="800" dirty="0"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800" dirty="0">
                <a:ea typeface="MS Mincho" panose="02020609040205080304" pitchFamily="49" charset="-128"/>
                <a:cs typeface="Times New Roman" panose="02020603050405020304" pitchFamily="18" charset="0"/>
              </a:rPr>
              <a:t>Hard-Coded vs Random:	p = 1*10</a:t>
            </a:r>
            <a:r>
              <a:rPr lang="en-US" sz="800" baseline="30000" dirty="0">
                <a:ea typeface="MS Mincho" panose="02020609040205080304" pitchFamily="49" charset="-128"/>
                <a:cs typeface="Times New Roman" panose="02020603050405020304" pitchFamily="18" charset="0"/>
              </a:rPr>
              <a:t>-50</a:t>
            </a:r>
            <a:r>
              <a:rPr lang="en-US" sz="800" dirty="0">
                <a:ea typeface="MS Mincho" panose="02020609040205080304" pitchFamily="49" charset="-128"/>
                <a:cs typeface="Times New Roman" panose="02020603050405020304" pitchFamily="18" charset="0"/>
              </a:rPr>
              <a:t>;	r = 0.499 (large effect size)</a:t>
            </a:r>
            <a:br>
              <a:rPr lang="en-US" sz="800" dirty="0"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800" dirty="0">
                <a:ea typeface="MS Mincho" panose="02020609040205080304" pitchFamily="49" charset="-128"/>
                <a:cs typeface="Times New Roman" panose="02020603050405020304" pitchFamily="18" charset="0"/>
              </a:rPr>
              <a:t>EA vs Random:		p </a:t>
            </a:r>
            <a:r>
              <a:rPr lang="en-US" sz="800" dirty="0"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≈ 0.000</a:t>
            </a:r>
            <a:r>
              <a:rPr lang="en-US" sz="800" dirty="0">
                <a:ea typeface="MS Mincho" panose="02020609040205080304" pitchFamily="49" charset="-128"/>
                <a:cs typeface="Times New Roman" panose="02020603050405020304" pitchFamily="18" charset="0"/>
              </a:rPr>
              <a:t>; 	r = 0.992 (large effect size)</a:t>
            </a:r>
            <a:br>
              <a:rPr lang="en-US" sz="800" dirty="0"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800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EA vs Hard-Coded</a:t>
            </a:r>
            <a:r>
              <a:rPr lang="en-US" sz="800" dirty="0">
                <a:ea typeface="MS Mincho" panose="02020609040205080304" pitchFamily="49" charset="-128"/>
                <a:cs typeface="Times New Roman" panose="02020603050405020304" pitchFamily="18" charset="0"/>
              </a:rPr>
              <a:t>:		</a:t>
            </a:r>
            <a:r>
              <a:rPr lang="en-US" sz="800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p = 1*10</a:t>
            </a:r>
            <a:r>
              <a:rPr lang="en-US" sz="800" baseline="30000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-159</a:t>
            </a:r>
            <a:r>
              <a:rPr lang="en-US" sz="800" dirty="0">
                <a:ea typeface="MS Mincho" panose="02020609040205080304" pitchFamily="49" charset="-128"/>
                <a:cs typeface="Times New Roman" panose="02020603050405020304" pitchFamily="18" charset="0"/>
              </a:rPr>
              <a:t>;	r = 0.943 (large effect size)</a:t>
            </a:r>
            <a:endParaRPr lang="en-US" sz="800" dirty="0">
              <a:effectLst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  <a:buNone/>
            </a:pPr>
            <a:endParaRPr lang="de-DE" sz="800" dirty="0">
              <a:effectLst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grpSp>
        <p:nvGrpSpPr>
          <p:cNvPr id="40" name="Gruppieren 39">
            <a:extLst>
              <a:ext uri="{FF2B5EF4-FFF2-40B4-BE49-F238E27FC236}">
                <a16:creationId xmlns:a16="http://schemas.microsoft.com/office/drawing/2014/main" id="{A477CB56-F876-0545-12BF-C3EB299DA9CE}"/>
              </a:ext>
            </a:extLst>
          </p:cNvPr>
          <p:cNvGrpSpPr/>
          <p:nvPr/>
        </p:nvGrpSpPr>
        <p:grpSpPr>
          <a:xfrm>
            <a:off x="5795963" y="1196059"/>
            <a:ext cx="4205287" cy="429366"/>
            <a:chOff x="5795963" y="1196059"/>
            <a:chExt cx="4205287" cy="429366"/>
          </a:xfrm>
        </p:grpSpPr>
        <p:grpSp>
          <p:nvGrpSpPr>
            <p:cNvPr id="39" name="Gruppieren 38">
              <a:extLst>
                <a:ext uri="{FF2B5EF4-FFF2-40B4-BE49-F238E27FC236}">
                  <a16:creationId xmlns:a16="http://schemas.microsoft.com/office/drawing/2014/main" id="{E4BE1CCE-897F-9F8E-E917-C9269294C9D7}"/>
                </a:ext>
              </a:extLst>
            </p:cNvPr>
            <p:cNvGrpSpPr/>
            <p:nvPr/>
          </p:nvGrpSpPr>
          <p:grpSpPr>
            <a:xfrm>
              <a:off x="5795963" y="1196059"/>
              <a:ext cx="4205287" cy="153888"/>
              <a:chOff x="5795963" y="1196059"/>
              <a:chExt cx="4205287" cy="153888"/>
            </a:xfrm>
          </p:grpSpPr>
          <p:cxnSp>
            <p:nvCxnSpPr>
              <p:cNvPr id="28" name="Gerader Verbinder 27">
                <a:extLst>
                  <a:ext uri="{FF2B5EF4-FFF2-40B4-BE49-F238E27FC236}">
                    <a16:creationId xmlns:a16="http://schemas.microsoft.com/office/drawing/2014/main" id="{BC5A095B-8B30-F80A-7F7A-A4D11CFC3CD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95963" y="1295998"/>
                <a:ext cx="4205287" cy="0"/>
              </a:xfrm>
              <a:prstGeom prst="line">
                <a:avLst/>
              </a:prstGeom>
              <a:ln w="9525">
                <a:solidFill>
                  <a:schemeClr val="tx1"/>
                </a:solidFill>
                <a:headEnd type="diamond" w="sm" len="sm"/>
                <a:tailEnd type="diamond" w="sm" len="sm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4" name="Textfeld 33">
                <a:extLst>
                  <a:ext uri="{FF2B5EF4-FFF2-40B4-BE49-F238E27FC236}">
                    <a16:creationId xmlns:a16="http://schemas.microsoft.com/office/drawing/2014/main" id="{869EB45C-1DA3-11ED-0FE0-EDD24F306C44}"/>
                  </a:ext>
                </a:extLst>
              </p:cNvPr>
              <p:cNvSpPr txBox="1"/>
              <p:nvPr/>
            </p:nvSpPr>
            <p:spPr>
              <a:xfrm>
                <a:off x="7770366" y="1196059"/>
                <a:ext cx="256480" cy="1538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 anchor="b">
                <a:spAutoFit/>
              </a:bodyPr>
              <a:lstStyle/>
              <a:p>
                <a:r>
                  <a:rPr lang="de-DE" sz="1000" dirty="0">
                    <a:latin typeface="+mj-lt"/>
                    <a:ea typeface="Cormorant Garamond" pitchFamily="2" charset="0"/>
                    <a:cs typeface="Cormorant Garamond" pitchFamily="2" charset="0"/>
                  </a:rPr>
                  <a:t>****</a:t>
                </a:r>
              </a:p>
            </p:txBody>
          </p:sp>
        </p:grpSp>
        <p:grpSp>
          <p:nvGrpSpPr>
            <p:cNvPr id="37" name="Gruppieren 36">
              <a:extLst>
                <a:ext uri="{FF2B5EF4-FFF2-40B4-BE49-F238E27FC236}">
                  <a16:creationId xmlns:a16="http://schemas.microsoft.com/office/drawing/2014/main" id="{B609BFDC-BCB1-F376-28A3-83498040E050}"/>
                </a:ext>
              </a:extLst>
            </p:cNvPr>
            <p:cNvGrpSpPr/>
            <p:nvPr/>
          </p:nvGrpSpPr>
          <p:grpSpPr>
            <a:xfrm>
              <a:off x="5795963" y="1471537"/>
              <a:ext cx="2095500" cy="153888"/>
              <a:chOff x="5795963" y="1471537"/>
              <a:chExt cx="2095500" cy="153888"/>
            </a:xfrm>
          </p:grpSpPr>
          <p:cxnSp>
            <p:nvCxnSpPr>
              <p:cNvPr id="27" name="Gerader Verbinder 26">
                <a:extLst>
                  <a:ext uri="{FF2B5EF4-FFF2-40B4-BE49-F238E27FC236}">
                    <a16:creationId xmlns:a16="http://schemas.microsoft.com/office/drawing/2014/main" id="{852F184A-8625-3426-FA3A-BA0072A3586C}"/>
                  </a:ext>
                </a:extLst>
              </p:cNvPr>
              <p:cNvCxnSpPr/>
              <p:nvPr/>
            </p:nvCxnSpPr>
            <p:spPr>
              <a:xfrm>
                <a:off x="5795963" y="1567797"/>
                <a:ext cx="2095500" cy="0"/>
              </a:xfrm>
              <a:prstGeom prst="line">
                <a:avLst/>
              </a:prstGeom>
              <a:ln w="9525">
                <a:solidFill>
                  <a:schemeClr val="tx1"/>
                </a:solidFill>
                <a:headEnd type="diamond" w="sm" len="sm"/>
                <a:tailEnd type="diamond" w="sm" len="sm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" name="Textfeld 34">
                <a:extLst>
                  <a:ext uri="{FF2B5EF4-FFF2-40B4-BE49-F238E27FC236}">
                    <a16:creationId xmlns:a16="http://schemas.microsoft.com/office/drawing/2014/main" id="{18924662-55AE-0F0B-D309-D486C80692E4}"/>
                  </a:ext>
                </a:extLst>
              </p:cNvPr>
              <p:cNvSpPr txBox="1"/>
              <p:nvPr/>
            </p:nvSpPr>
            <p:spPr>
              <a:xfrm>
                <a:off x="6715473" y="1471537"/>
                <a:ext cx="256480" cy="1538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de-DE" sz="1000" dirty="0">
                    <a:latin typeface="+mj-lt"/>
                    <a:ea typeface="Cormorant Garamond" pitchFamily="2" charset="0"/>
                    <a:cs typeface="Cormorant Garamond" pitchFamily="2" charset="0"/>
                  </a:rPr>
                  <a:t>****</a:t>
                </a:r>
              </a:p>
            </p:txBody>
          </p:sp>
        </p:grpSp>
        <p:grpSp>
          <p:nvGrpSpPr>
            <p:cNvPr id="38" name="Gruppieren 37">
              <a:extLst>
                <a:ext uri="{FF2B5EF4-FFF2-40B4-BE49-F238E27FC236}">
                  <a16:creationId xmlns:a16="http://schemas.microsoft.com/office/drawing/2014/main" id="{92FB62A0-7A3F-3792-8026-B2E6E49A6D30}"/>
                </a:ext>
              </a:extLst>
            </p:cNvPr>
            <p:cNvGrpSpPr/>
            <p:nvPr/>
          </p:nvGrpSpPr>
          <p:grpSpPr>
            <a:xfrm>
              <a:off x="7891463" y="1327944"/>
              <a:ext cx="2109787" cy="153888"/>
              <a:chOff x="7891463" y="1327944"/>
              <a:chExt cx="2109787" cy="153888"/>
            </a:xfrm>
          </p:grpSpPr>
          <p:cxnSp>
            <p:nvCxnSpPr>
              <p:cNvPr id="31" name="Gerader Verbinder 30">
                <a:extLst>
                  <a:ext uri="{FF2B5EF4-FFF2-40B4-BE49-F238E27FC236}">
                    <a16:creationId xmlns:a16="http://schemas.microsoft.com/office/drawing/2014/main" id="{47DC06A6-9C2D-B35D-A5A8-80776AED787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891463" y="1432903"/>
                <a:ext cx="2109787" cy="0"/>
              </a:xfrm>
              <a:prstGeom prst="line">
                <a:avLst/>
              </a:prstGeom>
              <a:ln w="9525">
                <a:solidFill>
                  <a:schemeClr val="tx1"/>
                </a:solidFill>
                <a:headEnd type="diamond" w="sm" len="sm"/>
                <a:tailEnd type="diamond" w="sm" len="sm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" name="Textfeld 35">
                <a:extLst>
                  <a:ext uri="{FF2B5EF4-FFF2-40B4-BE49-F238E27FC236}">
                    <a16:creationId xmlns:a16="http://schemas.microsoft.com/office/drawing/2014/main" id="{D8696E3F-4D8D-F539-ED2B-918175E00FF1}"/>
                  </a:ext>
                </a:extLst>
              </p:cNvPr>
              <p:cNvSpPr txBox="1"/>
              <p:nvPr/>
            </p:nvSpPr>
            <p:spPr>
              <a:xfrm>
                <a:off x="8818116" y="1327944"/>
                <a:ext cx="256480" cy="1538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de-DE" sz="1000" dirty="0">
                    <a:latin typeface="+mj-lt"/>
                    <a:ea typeface="Cormorant Garamond" pitchFamily="2" charset="0"/>
                    <a:cs typeface="Cormorant Garamond" pitchFamily="2" charset="0"/>
                  </a:rPr>
                  <a:t>****</a:t>
                </a:r>
              </a:p>
            </p:txBody>
          </p:sp>
        </p:grpSp>
      </p:grpSp>
      <p:sp>
        <p:nvSpPr>
          <p:cNvPr id="4" name="Freihandform: Form 3">
            <a:extLst>
              <a:ext uri="{FF2B5EF4-FFF2-40B4-BE49-F238E27FC236}">
                <a16:creationId xmlns:a16="http://schemas.microsoft.com/office/drawing/2014/main" id="{54C2E03E-FEB7-0F06-9969-2FB8F92CE332}"/>
              </a:ext>
            </a:extLst>
          </p:cNvPr>
          <p:cNvSpPr/>
          <p:nvPr/>
        </p:nvSpPr>
        <p:spPr>
          <a:xfrm flipH="1">
            <a:off x="8657661" y="-2955952"/>
            <a:ext cx="6300782" cy="3481390"/>
          </a:xfrm>
          <a:custGeom>
            <a:avLst/>
            <a:gdLst>
              <a:gd name="csX0" fmla="*/ 0 w 6300782"/>
              <a:gd name="csY0" fmla="*/ 0 h 3481390"/>
              <a:gd name="csX1" fmla="*/ 4560087 w 6300782"/>
              <a:gd name="csY1" fmla="*/ 0 h 3481390"/>
              <a:gd name="csX2" fmla="*/ 4562473 w 6300782"/>
              <a:gd name="csY2" fmla="*/ 0 h 3481390"/>
              <a:gd name="csX3" fmla="*/ 4562473 w 6300782"/>
              <a:gd name="csY3" fmla="*/ 121 h 3481390"/>
              <a:gd name="csX4" fmla="*/ 4738063 w 6300782"/>
              <a:gd name="csY4" fmla="*/ 8987 h 3481390"/>
              <a:gd name="csX5" fmla="*/ 6300782 w 6300782"/>
              <a:gd name="csY5" fmla="*/ 1740695 h 3481390"/>
              <a:gd name="csX6" fmla="*/ 4738063 w 6300782"/>
              <a:gd name="csY6" fmla="*/ 3472403 h 3481390"/>
              <a:gd name="csX7" fmla="*/ 4562473 w 6300782"/>
              <a:gd name="csY7" fmla="*/ 3481270 h 3481390"/>
              <a:gd name="csX8" fmla="*/ 4562473 w 6300782"/>
              <a:gd name="csY8" fmla="*/ 3481390 h 3481390"/>
              <a:gd name="csX9" fmla="*/ 4560087 w 6300782"/>
              <a:gd name="csY9" fmla="*/ 3481390 h 3481390"/>
              <a:gd name="csX10" fmla="*/ 0 w 6300782"/>
              <a:gd name="csY10" fmla="*/ 3481390 h 34813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6300782" h="3481390">
                <a:moveTo>
                  <a:pt x="0" y="0"/>
                </a:moveTo>
                <a:lnTo>
                  <a:pt x="4560087" y="0"/>
                </a:lnTo>
                <a:lnTo>
                  <a:pt x="4562473" y="0"/>
                </a:lnTo>
                <a:lnTo>
                  <a:pt x="4562473" y="121"/>
                </a:lnTo>
                <a:lnTo>
                  <a:pt x="4738063" y="8987"/>
                </a:lnTo>
                <a:cubicBezTo>
                  <a:pt x="5615819" y="98128"/>
                  <a:pt x="6300782" y="839421"/>
                  <a:pt x="6300782" y="1740695"/>
                </a:cubicBezTo>
                <a:cubicBezTo>
                  <a:pt x="6300782" y="2641969"/>
                  <a:pt x="5615819" y="3383262"/>
                  <a:pt x="4738063" y="3472403"/>
                </a:cubicBezTo>
                <a:lnTo>
                  <a:pt x="4562473" y="3481270"/>
                </a:lnTo>
                <a:lnTo>
                  <a:pt x="4562473" y="3481390"/>
                </a:lnTo>
                <a:lnTo>
                  <a:pt x="4560087" y="3481390"/>
                </a:lnTo>
                <a:lnTo>
                  <a:pt x="0" y="3481390"/>
                </a:lnTo>
                <a:close/>
              </a:path>
            </a:pathLst>
          </a:custGeom>
          <a:solidFill>
            <a:srgbClr val="E3E9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de-DE" sz="1600" b="1">
              <a:solidFill>
                <a:schemeClr val="tx1"/>
              </a:solidFill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4E8822DB-C0EF-8413-826D-1B40100BA012}"/>
              </a:ext>
            </a:extLst>
          </p:cNvPr>
          <p:cNvSpPr txBox="1"/>
          <p:nvPr/>
        </p:nvSpPr>
        <p:spPr>
          <a:xfrm>
            <a:off x="10287922" y="17905"/>
            <a:ext cx="19040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>
                <a:solidFill>
                  <a:srgbClr val="00336E"/>
                </a:solidFill>
                <a:ea typeface="Cormorant Garamond" pitchFamily="2" charset="0"/>
                <a:cs typeface="Cormorant Garamond" pitchFamily="2" charset="0"/>
              </a:rPr>
              <a:t>First </a:t>
            </a:r>
            <a:r>
              <a:rPr lang="de-DE" sz="2400" dirty="0" err="1">
                <a:solidFill>
                  <a:srgbClr val="00336E"/>
                </a:solidFill>
                <a:ea typeface="Cormorant Garamond" pitchFamily="2" charset="0"/>
                <a:cs typeface="Cormorant Garamond" pitchFamily="2" charset="0"/>
              </a:rPr>
              <a:t>results</a:t>
            </a:r>
            <a:endParaRPr lang="de-DE" sz="2400" b="1" dirty="0">
              <a:solidFill>
                <a:srgbClr val="00336E"/>
              </a:solidFill>
              <a:ea typeface="Cormorant Garamond" pitchFamily="2" charset="0"/>
              <a:cs typeface="Cormorant Garamond" pitchFamily="2" charset="0"/>
            </a:endParaRPr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2CB7B7B1-DA3E-3A98-B08D-E5AEFA9FFFEB}"/>
              </a:ext>
            </a:extLst>
          </p:cNvPr>
          <p:cNvSpPr/>
          <p:nvPr/>
        </p:nvSpPr>
        <p:spPr>
          <a:xfrm>
            <a:off x="10012084" y="66307"/>
            <a:ext cx="340233" cy="340233"/>
          </a:xfrm>
          <a:prstGeom prst="ellipse">
            <a:avLst/>
          </a:prstGeom>
          <a:solidFill>
            <a:srgbClr val="E3E9EA"/>
          </a:solidFill>
          <a:ln>
            <a:solidFill>
              <a:srgbClr val="00336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b="1" dirty="0">
                <a:solidFill>
                  <a:schemeClr val="tx1"/>
                </a:solidFill>
              </a:rPr>
              <a:t>1</a:t>
            </a:r>
            <a:endParaRPr lang="de-DE" sz="900" b="1" dirty="0">
              <a:solidFill>
                <a:schemeClr val="tx1"/>
              </a:solidFill>
            </a:endParaRPr>
          </a:p>
        </p:txBody>
      </p:sp>
      <p:pic>
        <p:nvPicPr>
          <p:cNvPr id="7" name="Picture 37">
            <a:extLst>
              <a:ext uri="{FF2B5EF4-FFF2-40B4-BE49-F238E27FC236}">
                <a16:creationId xmlns:a16="http://schemas.microsoft.com/office/drawing/2014/main" id="{39D5D0A0-7C48-5A77-66E9-36500D2220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3774" y="740807"/>
            <a:ext cx="6950000" cy="486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242200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DAA14D-B68F-246E-21BC-CB876542F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feld 22">
            <a:extLst>
              <a:ext uri="{FF2B5EF4-FFF2-40B4-BE49-F238E27FC236}">
                <a16:creationId xmlns:a16="http://schemas.microsoft.com/office/drawing/2014/main" id="{3354E721-6CC4-95C8-D234-F2A1B95ED766}"/>
              </a:ext>
            </a:extLst>
          </p:cNvPr>
          <p:cNvSpPr txBox="1"/>
          <p:nvPr/>
        </p:nvSpPr>
        <p:spPr>
          <a:xfrm>
            <a:off x="370804" y="1692847"/>
            <a:ext cx="3280900" cy="705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dirty="0">
                <a:ea typeface="MS Mincho" panose="02020609040205080304" pitchFamily="49" charset="-128"/>
                <a:cs typeface="Times New Roman" panose="02020603050405020304" pitchFamily="18" charset="0"/>
              </a:rPr>
              <a:t>Evolved variants developed a </a:t>
            </a:r>
            <a:r>
              <a:rPr lang="en-US" b="1" dirty="0">
                <a:ea typeface="MS Mincho" panose="02020609040205080304" pitchFamily="49" charset="-128"/>
                <a:cs typeface="Times New Roman" panose="02020603050405020304" pitchFamily="18" charset="0"/>
              </a:rPr>
              <a:t>directional preference</a:t>
            </a:r>
            <a:r>
              <a:rPr lang="en-US" dirty="0"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  <a:endParaRPr lang="de-DE" b="1" dirty="0"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pic>
        <p:nvPicPr>
          <p:cNvPr id="25" name="Grafik 24">
            <a:extLst>
              <a:ext uri="{FF2B5EF4-FFF2-40B4-BE49-F238E27FC236}">
                <a16:creationId xmlns:a16="http://schemas.microsoft.com/office/drawing/2014/main" id="{B1AA7B24-544A-E253-63A0-5B315A1A36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95989" y="1141228"/>
            <a:ext cx="6957785" cy="4058708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7F2EAC8A-C7FA-8B1C-EDBB-7E9BA740CBF1}"/>
              </a:ext>
            </a:extLst>
          </p:cNvPr>
          <p:cNvSpPr txBox="1"/>
          <p:nvPr/>
        </p:nvSpPr>
        <p:spPr>
          <a:xfrm>
            <a:off x="4906662" y="5234289"/>
            <a:ext cx="2378676" cy="148386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defTabSz="288000">
              <a:lnSpc>
                <a:spcPct val="115000"/>
              </a:lnSpc>
              <a:spcAft>
                <a:spcPts val="1000"/>
              </a:spcAft>
              <a:buNone/>
              <a:defRPr sz="800">
                <a:effectLst/>
                <a:ea typeface="MS Mincho" panose="02020609040205080304" pitchFamily="49" charset="-128"/>
                <a:cs typeface="Times New Roman" panose="02020603050405020304" pitchFamily="18" charset="0"/>
              </a:defRPr>
            </a:lvl1pPr>
          </a:lstStyle>
          <a:p>
            <a:pPr defTabSz="216000"/>
            <a:r>
              <a:rPr lang="en-US" b="1" dirty="0"/>
              <a:t>Random:</a:t>
            </a:r>
            <a:br>
              <a:rPr lang="en-US" dirty="0"/>
            </a:br>
            <a:r>
              <a:rPr lang="en-US" dirty="0"/>
              <a:t>Kruskal-Wallis p = 10-40; </a:t>
            </a:r>
            <a:r>
              <a:rPr lang="el-GR" dirty="0"/>
              <a:t>ε</a:t>
            </a:r>
            <a:r>
              <a:rPr lang="de-DE" dirty="0"/>
              <a:t>2 &lt; 0.01 (</a:t>
            </a:r>
            <a:r>
              <a:rPr lang="de-DE" dirty="0" err="1"/>
              <a:t>n.s</a:t>
            </a:r>
            <a:r>
              <a:rPr lang="de-DE" dirty="0"/>
              <a:t>. ES)</a:t>
            </a:r>
            <a:endParaRPr lang="en-US" dirty="0"/>
          </a:p>
          <a:p>
            <a:pPr defTabSz="216000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MWU + Holm-Bonferroni: </a:t>
            </a:r>
            <a:b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N vs. E</a:t>
            </a:r>
            <a:r>
              <a:rPr lang="de-DE" dirty="0">
                <a:solidFill>
                  <a:schemeClr val="tx1">
                    <a:lumMod val="50000"/>
                    <a:lumOff val="50000"/>
                  </a:schemeClr>
                </a:solidFill>
              </a:rPr>
              <a:t>:	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 ~ 0.1;		r &lt; -0.01 (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n.s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 ES)</a:t>
            </a:r>
            <a:b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N vs. S:	p ~ 0.6;		r &lt; -0.01 (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n.s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 ES)</a:t>
            </a:r>
            <a:b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US" dirty="0"/>
              <a:t>N vs. W:	p ~ 4*10-29;	r ~ -0.05 (</a:t>
            </a:r>
            <a:r>
              <a:rPr lang="en-US" dirty="0" err="1"/>
              <a:t>n.s</a:t>
            </a:r>
            <a:r>
              <a:rPr lang="en-US" dirty="0"/>
              <a:t>. ES)</a:t>
            </a:r>
            <a:b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US" dirty="0"/>
              <a:t>E vs. S:	p ~ 0.003;	r ~ -0.01 (</a:t>
            </a:r>
            <a:r>
              <a:rPr lang="en-US" dirty="0" err="1"/>
              <a:t>n.s</a:t>
            </a:r>
            <a:r>
              <a:rPr lang="en-US" dirty="0"/>
              <a:t>. ES)</a:t>
            </a:r>
            <a:b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US" dirty="0"/>
              <a:t>E vs. W:	p ~ 2*10-20;	r ~ -0.04 (</a:t>
            </a:r>
            <a:r>
              <a:rPr lang="en-US" dirty="0" err="1"/>
              <a:t>n.s</a:t>
            </a:r>
            <a:r>
              <a:rPr lang="en-US" dirty="0"/>
              <a:t>. ES)</a:t>
            </a:r>
            <a:br>
              <a:rPr lang="en-US" dirty="0"/>
            </a:br>
            <a:r>
              <a:rPr lang="en-US" dirty="0"/>
              <a:t>S vs. W:	p ~ 3*10-32;	r ~ -0.06 (</a:t>
            </a:r>
            <a:r>
              <a:rPr lang="en-US" dirty="0" err="1"/>
              <a:t>n.s</a:t>
            </a:r>
            <a:r>
              <a:rPr lang="en-US" dirty="0"/>
              <a:t>. ES)</a:t>
            </a:r>
            <a:endParaRPr lang="de-DE" dirty="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E4534F96-7150-EC65-EA28-EFFE3F21833B}"/>
              </a:ext>
            </a:extLst>
          </p:cNvPr>
          <p:cNvSpPr txBox="1"/>
          <p:nvPr/>
        </p:nvSpPr>
        <p:spPr>
          <a:xfrm>
            <a:off x="7171344" y="5234289"/>
            <a:ext cx="2378676" cy="36458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defTabSz="216000">
              <a:lnSpc>
                <a:spcPct val="115000"/>
              </a:lnSpc>
              <a:spcAft>
                <a:spcPts val="1000"/>
              </a:spcAft>
              <a:buNone/>
              <a:defRPr sz="800" b="1">
                <a:effectLst/>
                <a:ea typeface="MS Mincho" panose="02020609040205080304" pitchFamily="49" charset="-128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Hard-Coded:</a:t>
            </a:r>
            <a:br>
              <a:rPr lang="en-US" dirty="0"/>
            </a:br>
            <a:r>
              <a:rPr lang="en-US" b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Kruskal-Wallis p = 0.65; </a:t>
            </a:r>
            <a:r>
              <a:rPr lang="el-GR" b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ε</a:t>
            </a:r>
            <a:r>
              <a:rPr lang="de-DE" b="0" baseline="30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2</a:t>
            </a:r>
            <a:r>
              <a:rPr lang="de-DE" b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&lt; 0.01 (</a:t>
            </a:r>
            <a:r>
              <a:rPr lang="de-DE" b="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n.s</a:t>
            </a:r>
            <a:r>
              <a:rPr lang="de-DE" b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 ES)</a:t>
            </a:r>
            <a:endParaRPr lang="en-US" b="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21F9AC27-E80F-7675-0413-B98670459D8C}"/>
              </a:ext>
            </a:extLst>
          </p:cNvPr>
          <p:cNvSpPr txBox="1"/>
          <p:nvPr/>
        </p:nvSpPr>
        <p:spPr>
          <a:xfrm>
            <a:off x="9469880" y="5234289"/>
            <a:ext cx="2378676" cy="148386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defTabSz="216000">
              <a:lnSpc>
                <a:spcPct val="115000"/>
              </a:lnSpc>
              <a:spcAft>
                <a:spcPts val="1000"/>
              </a:spcAft>
              <a:buNone/>
              <a:defRPr sz="800" b="1">
                <a:effectLst/>
                <a:ea typeface="MS Mincho" panose="02020609040205080304" pitchFamily="49" charset="-128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EA from Random:</a:t>
            </a:r>
            <a:br>
              <a:rPr lang="en-US" dirty="0"/>
            </a:br>
            <a:r>
              <a:rPr lang="en-US" b="0" dirty="0"/>
              <a:t>Kruskal-Wallis p&lt;&lt; 0.001; </a:t>
            </a:r>
            <a:r>
              <a:rPr lang="el-GR" b="0" dirty="0"/>
              <a:t>ε</a:t>
            </a:r>
            <a:r>
              <a:rPr lang="de-DE" b="0" baseline="30000" dirty="0"/>
              <a:t>2</a:t>
            </a:r>
            <a:r>
              <a:rPr lang="de-DE" b="0" dirty="0"/>
              <a:t> = 0.6 (large ES)</a:t>
            </a:r>
            <a:endParaRPr lang="en-US" b="0" dirty="0"/>
          </a:p>
          <a:p>
            <a:r>
              <a:rPr lang="en-US" b="0" dirty="0"/>
              <a:t>MWU + Holm-Bonferroni: </a:t>
            </a:r>
            <a:br>
              <a:rPr lang="en-US" b="0" dirty="0"/>
            </a:br>
            <a:r>
              <a:rPr lang="en-US" b="0" dirty="0"/>
              <a:t>N vs. E:	p&lt;&lt; 0.001;	r = -0.7(large ES)</a:t>
            </a:r>
            <a:br>
              <a:rPr lang="en-US" b="0" dirty="0"/>
            </a:br>
            <a:r>
              <a:rPr lang="en-US" b="0" dirty="0"/>
              <a:t>N vs. S:	p&lt;&lt; 0.001;	r = -0.99 (large ES)</a:t>
            </a:r>
            <a:br>
              <a:rPr lang="en-US" b="0" dirty="0"/>
            </a:br>
            <a:r>
              <a:rPr lang="en-US" b="0" dirty="0"/>
              <a:t>N vs. W:	p&lt;&lt; 0.001;	r = -0.92 (large ES)</a:t>
            </a:r>
            <a:br>
              <a:rPr lang="en-US" b="0" dirty="0"/>
            </a:br>
            <a:r>
              <a:rPr lang="en-US" b="0" dirty="0"/>
              <a:t>E vs. S:	p&lt;&lt; 0.001;	r = -0.7 (large ES)</a:t>
            </a:r>
            <a:br>
              <a:rPr lang="en-US" b="0" dirty="0"/>
            </a:br>
            <a:r>
              <a:rPr lang="en-US" b="0" dirty="0"/>
              <a:t>E vs. W:	p ~ 6*10</a:t>
            </a:r>
            <a:r>
              <a:rPr lang="en-US" b="0" baseline="30000" dirty="0"/>
              <a:t>-142</a:t>
            </a:r>
            <a:r>
              <a:rPr lang="en-US" b="0" dirty="0"/>
              <a:t>;	r = - 0.4 (medium ES)</a:t>
            </a:r>
            <a:br>
              <a:rPr lang="en-US" b="0" dirty="0"/>
            </a:br>
            <a:r>
              <a:rPr lang="en-US" b="0" dirty="0"/>
              <a:t>S vs. W:	p&lt;&lt; 0.001;	r = 0.6 (large ES)</a:t>
            </a:r>
            <a:endParaRPr lang="de-DE" b="0" dirty="0"/>
          </a:p>
        </p:txBody>
      </p:sp>
      <p:sp>
        <p:nvSpPr>
          <p:cNvPr id="6" name="Freihandform: Form 5">
            <a:extLst>
              <a:ext uri="{FF2B5EF4-FFF2-40B4-BE49-F238E27FC236}">
                <a16:creationId xmlns:a16="http://schemas.microsoft.com/office/drawing/2014/main" id="{7F494A5F-1E9A-5445-6CB6-951071E79CB0}"/>
              </a:ext>
            </a:extLst>
          </p:cNvPr>
          <p:cNvSpPr/>
          <p:nvPr/>
        </p:nvSpPr>
        <p:spPr>
          <a:xfrm flipH="1">
            <a:off x="8657661" y="-2955952"/>
            <a:ext cx="6300782" cy="3481390"/>
          </a:xfrm>
          <a:custGeom>
            <a:avLst/>
            <a:gdLst>
              <a:gd name="csX0" fmla="*/ 0 w 6300782"/>
              <a:gd name="csY0" fmla="*/ 0 h 3481390"/>
              <a:gd name="csX1" fmla="*/ 4560087 w 6300782"/>
              <a:gd name="csY1" fmla="*/ 0 h 3481390"/>
              <a:gd name="csX2" fmla="*/ 4562473 w 6300782"/>
              <a:gd name="csY2" fmla="*/ 0 h 3481390"/>
              <a:gd name="csX3" fmla="*/ 4562473 w 6300782"/>
              <a:gd name="csY3" fmla="*/ 121 h 3481390"/>
              <a:gd name="csX4" fmla="*/ 4738063 w 6300782"/>
              <a:gd name="csY4" fmla="*/ 8987 h 3481390"/>
              <a:gd name="csX5" fmla="*/ 6300782 w 6300782"/>
              <a:gd name="csY5" fmla="*/ 1740695 h 3481390"/>
              <a:gd name="csX6" fmla="*/ 4738063 w 6300782"/>
              <a:gd name="csY6" fmla="*/ 3472403 h 3481390"/>
              <a:gd name="csX7" fmla="*/ 4562473 w 6300782"/>
              <a:gd name="csY7" fmla="*/ 3481270 h 3481390"/>
              <a:gd name="csX8" fmla="*/ 4562473 w 6300782"/>
              <a:gd name="csY8" fmla="*/ 3481390 h 3481390"/>
              <a:gd name="csX9" fmla="*/ 4560087 w 6300782"/>
              <a:gd name="csY9" fmla="*/ 3481390 h 3481390"/>
              <a:gd name="csX10" fmla="*/ 0 w 6300782"/>
              <a:gd name="csY10" fmla="*/ 3481390 h 34813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6300782" h="3481390">
                <a:moveTo>
                  <a:pt x="0" y="0"/>
                </a:moveTo>
                <a:lnTo>
                  <a:pt x="4560087" y="0"/>
                </a:lnTo>
                <a:lnTo>
                  <a:pt x="4562473" y="0"/>
                </a:lnTo>
                <a:lnTo>
                  <a:pt x="4562473" y="121"/>
                </a:lnTo>
                <a:lnTo>
                  <a:pt x="4738063" y="8987"/>
                </a:lnTo>
                <a:cubicBezTo>
                  <a:pt x="5615819" y="98128"/>
                  <a:pt x="6300782" y="839421"/>
                  <a:pt x="6300782" y="1740695"/>
                </a:cubicBezTo>
                <a:cubicBezTo>
                  <a:pt x="6300782" y="2641969"/>
                  <a:pt x="5615819" y="3383262"/>
                  <a:pt x="4738063" y="3472403"/>
                </a:cubicBezTo>
                <a:lnTo>
                  <a:pt x="4562473" y="3481270"/>
                </a:lnTo>
                <a:lnTo>
                  <a:pt x="4562473" y="3481390"/>
                </a:lnTo>
                <a:lnTo>
                  <a:pt x="4560087" y="3481390"/>
                </a:lnTo>
                <a:lnTo>
                  <a:pt x="0" y="3481390"/>
                </a:lnTo>
                <a:close/>
              </a:path>
            </a:pathLst>
          </a:custGeom>
          <a:solidFill>
            <a:srgbClr val="E3E9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de-DE" sz="1600" b="1">
              <a:solidFill>
                <a:schemeClr val="tx1"/>
              </a:solidFill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9F60FC65-39EB-21FA-6A94-54DBC626EA69}"/>
              </a:ext>
            </a:extLst>
          </p:cNvPr>
          <p:cNvSpPr txBox="1"/>
          <p:nvPr/>
        </p:nvSpPr>
        <p:spPr>
          <a:xfrm>
            <a:off x="10287922" y="17905"/>
            <a:ext cx="19040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>
                <a:solidFill>
                  <a:srgbClr val="00336E"/>
                </a:solidFill>
                <a:ea typeface="Cormorant Garamond" pitchFamily="2" charset="0"/>
                <a:cs typeface="Cormorant Garamond" pitchFamily="2" charset="0"/>
              </a:rPr>
              <a:t>First </a:t>
            </a:r>
            <a:r>
              <a:rPr lang="de-DE" sz="2400" dirty="0" err="1">
                <a:solidFill>
                  <a:srgbClr val="00336E"/>
                </a:solidFill>
                <a:ea typeface="Cormorant Garamond" pitchFamily="2" charset="0"/>
                <a:cs typeface="Cormorant Garamond" pitchFamily="2" charset="0"/>
              </a:rPr>
              <a:t>results</a:t>
            </a:r>
            <a:endParaRPr lang="de-DE" sz="2400" b="1" dirty="0">
              <a:solidFill>
                <a:srgbClr val="00336E"/>
              </a:solidFill>
              <a:ea typeface="Cormorant Garamond" pitchFamily="2" charset="0"/>
              <a:cs typeface="Cormorant Garamond" pitchFamily="2" charset="0"/>
            </a:endParaRP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127D3BBA-15AB-5B9B-BB3C-97F3AABA41AF}"/>
              </a:ext>
            </a:extLst>
          </p:cNvPr>
          <p:cNvSpPr/>
          <p:nvPr/>
        </p:nvSpPr>
        <p:spPr>
          <a:xfrm>
            <a:off x="10012084" y="66307"/>
            <a:ext cx="340233" cy="340233"/>
          </a:xfrm>
          <a:prstGeom prst="ellipse">
            <a:avLst/>
          </a:prstGeom>
          <a:solidFill>
            <a:srgbClr val="E3E9EA"/>
          </a:solidFill>
          <a:ln>
            <a:solidFill>
              <a:srgbClr val="00336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b="1" dirty="0">
                <a:solidFill>
                  <a:schemeClr val="tx1"/>
                </a:solidFill>
              </a:rPr>
              <a:t>1</a:t>
            </a:r>
            <a:endParaRPr lang="de-DE" sz="9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88821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06C8DC-15EF-F850-DEF6-A9A3F6948B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ihandform: Form 5">
            <a:extLst>
              <a:ext uri="{FF2B5EF4-FFF2-40B4-BE49-F238E27FC236}">
                <a16:creationId xmlns:a16="http://schemas.microsoft.com/office/drawing/2014/main" id="{ABEBB741-0364-004B-2D02-E82F306C82FD}"/>
              </a:ext>
            </a:extLst>
          </p:cNvPr>
          <p:cNvSpPr/>
          <p:nvPr/>
        </p:nvSpPr>
        <p:spPr>
          <a:xfrm flipH="1">
            <a:off x="8657661" y="-2955952"/>
            <a:ext cx="6300782" cy="3481390"/>
          </a:xfrm>
          <a:custGeom>
            <a:avLst/>
            <a:gdLst>
              <a:gd name="csX0" fmla="*/ 0 w 6300782"/>
              <a:gd name="csY0" fmla="*/ 0 h 3481390"/>
              <a:gd name="csX1" fmla="*/ 4560087 w 6300782"/>
              <a:gd name="csY1" fmla="*/ 0 h 3481390"/>
              <a:gd name="csX2" fmla="*/ 4562473 w 6300782"/>
              <a:gd name="csY2" fmla="*/ 0 h 3481390"/>
              <a:gd name="csX3" fmla="*/ 4562473 w 6300782"/>
              <a:gd name="csY3" fmla="*/ 121 h 3481390"/>
              <a:gd name="csX4" fmla="*/ 4738063 w 6300782"/>
              <a:gd name="csY4" fmla="*/ 8987 h 3481390"/>
              <a:gd name="csX5" fmla="*/ 6300782 w 6300782"/>
              <a:gd name="csY5" fmla="*/ 1740695 h 3481390"/>
              <a:gd name="csX6" fmla="*/ 4738063 w 6300782"/>
              <a:gd name="csY6" fmla="*/ 3472403 h 3481390"/>
              <a:gd name="csX7" fmla="*/ 4562473 w 6300782"/>
              <a:gd name="csY7" fmla="*/ 3481270 h 3481390"/>
              <a:gd name="csX8" fmla="*/ 4562473 w 6300782"/>
              <a:gd name="csY8" fmla="*/ 3481390 h 3481390"/>
              <a:gd name="csX9" fmla="*/ 4560087 w 6300782"/>
              <a:gd name="csY9" fmla="*/ 3481390 h 3481390"/>
              <a:gd name="csX10" fmla="*/ 0 w 6300782"/>
              <a:gd name="csY10" fmla="*/ 3481390 h 34813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6300782" h="3481390">
                <a:moveTo>
                  <a:pt x="0" y="0"/>
                </a:moveTo>
                <a:lnTo>
                  <a:pt x="4560087" y="0"/>
                </a:lnTo>
                <a:lnTo>
                  <a:pt x="4562473" y="0"/>
                </a:lnTo>
                <a:lnTo>
                  <a:pt x="4562473" y="121"/>
                </a:lnTo>
                <a:lnTo>
                  <a:pt x="4738063" y="8987"/>
                </a:lnTo>
                <a:cubicBezTo>
                  <a:pt x="5615819" y="98128"/>
                  <a:pt x="6300782" y="839421"/>
                  <a:pt x="6300782" y="1740695"/>
                </a:cubicBezTo>
                <a:cubicBezTo>
                  <a:pt x="6300782" y="2641969"/>
                  <a:pt x="5615819" y="3383262"/>
                  <a:pt x="4738063" y="3472403"/>
                </a:cubicBezTo>
                <a:lnTo>
                  <a:pt x="4562473" y="3481270"/>
                </a:lnTo>
                <a:lnTo>
                  <a:pt x="4562473" y="3481390"/>
                </a:lnTo>
                <a:lnTo>
                  <a:pt x="4560087" y="3481390"/>
                </a:lnTo>
                <a:lnTo>
                  <a:pt x="0" y="3481390"/>
                </a:lnTo>
                <a:close/>
              </a:path>
            </a:pathLst>
          </a:custGeom>
          <a:solidFill>
            <a:srgbClr val="E3E9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de-DE" sz="1600" b="1">
              <a:solidFill>
                <a:schemeClr val="tx1"/>
              </a:solidFill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8853670F-8444-2F05-CBDB-F72F6F8198A6}"/>
              </a:ext>
            </a:extLst>
          </p:cNvPr>
          <p:cNvSpPr txBox="1"/>
          <p:nvPr/>
        </p:nvSpPr>
        <p:spPr>
          <a:xfrm>
            <a:off x="10287922" y="17905"/>
            <a:ext cx="19040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>
                <a:solidFill>
                  <a:srgbClr val="00336E"/>
                </a:solidFill>
                <a:ea typeface="Cormorant Garamond" pitchFamily="2" charset="0"/>
                <a:cs typeface="Cormorant Garamond" pitchFamily="2" charset="0"/>
              </a:rPr>
              <a:t>First </a:t>
            </a:r>
            <a:r>
              <a:rPr lang="de-DE" sz="2400" dirty="0" err="1">
                <a:solidFill>
                  <a:srgbClr val="00336E"/>
                </a:solidFill>
                <a:ea typeface="Cormorant Garamond" pitchFamily="2" charset="0"/>
                <a:cs typeface="Cormorant Garamond" pitchFamily="2" charset="0"/>
              </a:rPr>
              <a:t>results</a:t>
            </a:r>
            <a:endParaRPr lang="de-DE" sz="2400" b="1" dirty="0">
              <a:solidFill>
                <a:srgbClr val="00336E"/>
              </a:solidFill>
              <a:ea typeface="Cormorant Garamond" pitchFamily="2" charset="0"/>
              <a:cs typeface="Cormorant Garamond" pitchFamily="2" charset="0"/>
            </a:endParaRP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0C73F85F-C108-F261-F028-8C58D068EDEA}"/>
              </a:ext>
            </a:extLst>
          </p:cNvPr>
          <p:cNvSpPr/>
          <p:nvPr/>
        </p:nvSpPr>
        <p:spPr>
          <a:xfrm>
            <a:off x="10012084" y="66307"/>
            <a:ext cx="340233" cy="340233"/>
          </a:xfrm>
          <a:prstGeom prst="ellipse">
            <a:avLst/>
          </a:prstGeom>
          <a:solidFill>
            <a:srgbClr val="E3E9EA"/>
          </a:solidFill>
          <a:ln>
            <a:solidFill>
              <a:srgbClr val="00336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b="1" dirty="0">
                <a:solidFill>
                  <a:schemeClr val="tx1"/>
                </a:solidFill>
              </a:rPr>
              <a:t>1</a:t>
            </a:r>
            <a:endParaRPr lang="de-DE" sz="900" b="1" dirty="0">
              <a:solidFill>
                <a:schemeClr val="tx1"/>
              </a:solidFill>
            </a:endParaRP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39C1E9E8-8660-D120-53F2-7E4406178B30}"/>
              </a:ext>
            </a:extLst>
          </p:cNvPr>
          <p:cNvSpPr txBox="1"/>
          <p:nvPr/>
        </p:nvSpPr>
        <p:spPr>
          <a:xfrm>
            <a:off x="2665712" y="1539240"/>
            <a:ext cx="6860576" cy="10454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2800" dirty="0">
                <a:ea typeface="MS Mincho" panose="02020609040205080304" pitchFamily="49" charset="-128"/>
                <a:cs typeface="Times New Roman" panose="02020603050405020304" pitchFamily="18" charset="0"/>
              </a:rPr>
              <a:t>Evolutionary algorithm finds successful solutions to </a:t>
            </a:r>
            <a:r>
              <a:rPr lang="en-US" sz="2800" b="1" dirty="0">
                <a:ea typeface="MS Mincho" panose="02020609040205080304" pitchFamily="49" charset="-128"/>
                <a:cs typeface="Times New Roman" panose="02020603050405020304" pitchFamily="18" charset="0"/>
              </a:rPr>
              <a:t>static</a:t>
            </a:r>
            <a:r>
              <a:rPr lang="en-US" sz="2800" dirty="0">
                <a:ea typeface="MS Mincho" panose="02020609040205080304" pitchFamily="49" charset="-128"/>
                <a:cs typeface="Times New Roman" panose="02020603050405020304" pitchFamily="18" charset="0"/>
              </a:rPr>
              <a:t> tasks. </a:t>
            </a:r>
            <a:endParaRPr lang="de-DE" sz="2800" b="1" dirty="0"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18E4584B-AF6A-6670-98FC-917F66E7D7D7}"/>
              </a:ext>
            </a:extLst>
          </p:cNvPr>
          <p:cNvSpPr txBox="1"/>
          <p:nvPr/>
        </p:nvSpPr>
        <p:spPr>
          <a:xfrm>
            <a:off x="2367459" y="3154053"/>
            <a:ext cx="7457082" cy="5498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2800" dirty="0">
                <a:ea typeface="MS Mincho" panose="02020609040205080304" pitchFamily="49" charset="-128"/>
                <a:cs typeface="Times New Roman" panose="02020603050405020304" pitchFamily="18" charset="0"/>
              </a:rPr>
              <a:t>Can these adapt to run-time rule changes?</a:t>
            </a:r>
            <a:endParaRPr lang="de-DE" sz="2800" b="1" dirty="0"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3160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94B522-44B8-0315-D237-CB503C92D6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ihandform: Form 5">
            <a:extLst>
              <a:ext uri="{FF2B5EF4-FFF2-40B4-BE49-F238E27FC236}">
                <a16:creationId xmlns:a16="http://schemas.microsoft.com/office/drawing/2014/main" id="{E96BFBCA-8679-4F98-42A4-01AE8F99A3EC}"/>
              </a:ext>
            </a:extLst>
          </p:cNvPr>
          <p:cNvSpPr/>
          <p:nvPr/>
        </p:nvSpPr>
        <p:spPr>
          <a:xfrm flipH="1">
            <a:off x="8657661" y="-2955952"/>
            <a:ext cx="6300782" cy="3481390"/>
          </a:xfrm>
          <a:custGeom>
            <a:avLst/>
            <a:gdLst>
              <a:gd name="csX0" fmla="*/ 0 w 6300782"/>
              <a:gd name="csY0" fmla="*/ 0 h 3481390"/>
              <a:gd name="csX1" fmla="*/ 4560087 w 6300782"/>
              <a:gd name="csY1" fmla="*/ 0 h 3481390"/>
              <a:gd name="csX2" fmla="*/ 4562473 w 6300782"/>
              <a:gd name="csY2" fmla="*/ 0 h 3481390"/>
              <a:gd name="csX3" fmla="*/ 4562473 w 6300782"/>
              <a:gd name="csY3" fmla="*/ 121 h 3481390"/>
              <a:gd name="csX4" fmla="*/ 4738063 w 6300782"/>
              <a:gd name="csY4" fmla="*/ 8987 h 3481390"/>
              <a:gd name="csX5" fmla="*/ 6300782 w 6300782"/>
              <a:gd name="csY5" fmla="*/ 1740695 h 3481390"/>
              <a:gd name="csX6" fmla="*/ 4738063 w 6300782"/>
              <a:gd name="csY6" fmla="*/ 3472403 h 3481390"/>
              <a:gd name="csX7" fmla="*/ 4562473 w 6300782"/>
              <a:gd name="csY7" fmla="*/ 3481270 h 3481390"/>
              <a:gd name="csX8" fmla="*/ 4562473 w 6300782"/>
              <a:gd name="csY8" fmla="*/ 3481390 h 3481390"/>
              <a:gd name="csX9" fmla="*/ 4560087 w 6300782"/>
              <a:gd name="csY9" fmla="*/ 3481390 h 3481390"/>
              <a:gd name="csX10" fmla="*/ 0 w 6300782"/>
              <a:gd name="csY10" fmla="*/ 3481390 h 34813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6300782" h="3481390">
                <a:moveTo>
                  <a:pt x="0" y="0"/>
                </a:moveTo>
                <a:lnTo>
                  <a:pt x="4560087" y="0"/>
                </a:lnTo>
                <a:lnTo>
                  <a:pt x="4562473" y="0"/>
                </a:lnTo>
                <a:lnTo>
                  <a:pt x="4562473" y="121"/>
                </a:lnTo>
                <a:lnTo>
                  <a:pt x="4738063" y="8987"/>
                </a:lnTo>
                <a:cubicBezTo>
                  <a:pt x="5615819" y="98128"/>
                  <a:pt x="6300782" y="839421"/>
                  <a:pt x="6300782" y="1740695"/>
                </a:cubicBezTo>
                <a:cubicBezTo>
                  <a:pt x="6300782" y="2641969"/>
                  <a:pt x="5615819" y="3383262"/>
                  <a:pt x="4738063" y="3472403"/>
                </a:cubicBezTo>
                <a:lnTo>
                  <a:pt x="4562473" y="3481270"/>
                </a:lnTo>
                <a:lnTo>
                  <a:pt x="4562473" y="3481390"/>
                </a:lnTo>
                <a:lnTo>
                  <a:pt x="4560087" y="3481390"/>
                </a:lnTo>
                <a:lnTo>
                  <a:pt x="0" y="3481390"/>
                </a:lnTo>
                <a:close/>
              </a:path>
            </a:pathLst>
          </a:custGeom>
          <a:solidFill>
            <a:srgbClr val="E3E9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de-DE" sz="1600" b="1">
              <a:solidFill>
                <a:schemeClr val="tx1"/>
              </a:solidFill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3B1CDF33-35D9-D66E-9EE9-100D39F303C9}"/>
              </a:ext>
            </a:extLst>
          </p:cNvPr>
          <p:cNvSpPr txBox="1"/>
          <p:nvPr/>
        </p:nvSpPr>
        <p:spPr>
          <a:xfrm>
            <a:off x="10287922" y="17905"/>
            <a:ext cx="19040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>
                <a:solidFill>
                  <a:srgbClr val="00336E"/>
                </a:solidFill>
                <a:ea typeface="Cormorant Garamond" pitchFamily="2" charset="0"/>
                <a:cs typeface="Cormorant Garamond" pitchFamily="2" charset="0"/>
              </a:rPr>
              <a:t>First </a:t>
            </a:r>
            <a:r>
              <a:rPr lang="de-DE" sz="2400" dirty="0" err="1">
                <a:solidFill>
                  <a:srgbClr val="00336E"/>
                </a:solidFill>
                <a:ea typeface="Cormorant Garamond" pitchFamily="2" charset="0"/>
                <a:cs typeface="Cormorant Garamond" pitchFamily="2" charset="0"/>
              </a:rPr>
              <a:t>results</a:t>
            </a:r>
            <a:endParaRPr lang="de-DE" sz="2400" b="1" dirty="0">
              <a:solidFill>
                <a:srgbClr val="00336E"/>
              </a:solidFill>
              <a:ea typeface="Cormorant Garamond" pitchFamily="2" charset="0"/>
              <a:cs typeface="Cormorant Garamond" pitchFamily="2" charset="0"/>
            </a:endParaRP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B0918FDC-92A0-1693-9512-6E0C6C1289B2}"/>
              </a:ext>
            </a:extLst>
          </p:cNvPr>
          <p:cNvSpPr/>
          <p:nvPr/>
        </p:nvSpPr>
        <p:spPr>
          <a:xfrm>
            <a:off x="10012084" y="66307"/>
            <a:ext cx="340233" cy="340233"/>
          </a:xfrm>
          <a:prstGeom prst="ellipse">
            <a:avLst/>
          </a:prstGeom>
          <a:solidFill>
            <a:srgbClr val="E3E9EA"/>
          </a:solidFill>
          <a:ln>
            <a:solidFill>
              <a:srgbClr val="00336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b="1" dirty="0">
                <a:solidFill>
                  <a:schemeClr val="tx1"/>
                </a:solidFill>
              </a:rPr>
              <a:t>1</a:t>
            </a:r>
            <a:endParaRPr lang="de-DE" sz="900" b="1" dirty="0">
              <a:solidFill>
                <a:schemeClr val="tx1"/>
              </a:solidFill>
            </a:endParaRP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0DD60698-261F-156F-027A-8538EC3025DB}"/>
              </a:ext>
            </a:extLst>
          </p:cNvPr>
          <p:cNvSpPr txBox="1"/>
          <p:nvPr/>
        </p:nvSpPr>
        <p:spPr>
          <a:xfrm>
            <a:off x="2367459" y="739140"/>
            <a:ext cx="7457082" cy="5498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2800" dirty="0">
                <a:ea typeface="MS Mincho" panose="02020609040205080304" pitchFamily="49" charset="-128"/>
                <a:cs typeface="Times New Roman" panose="02020603050405020304" pitchFamily="18" charset="0"/>
              </a:rPr>
              <a:t>Can these adapt to run-time rule changes?</a:t>
            </a:r>
            <a:endParaRPr lang="de-DE" sz="2800" b="1" dirty="0"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8C418A79-6477-C3E0-D218-D0E4B8C3250A}"/>
              </a:ext>
            </a:extLst>
          </p:cNvPr>
          <p:cNvSpPr txBox="1"/>
          <p:nvPr/>
        </p:nvSpPr>
        <p:spPr>
          <a:xfrm>
            <a:off x="5019675" y="1502736"/>
            <a:ext cx="2152650" cy="23170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2000" b="1" dirty="0">
                <a:ea typeface="MS Mincho" panose="02020609040205080304" pitchFamily="49" charset="-128"/>
                <a:cs typeface="Times New Roman" panose="02020603050405020304" pitchFamily="18" charset="0"/>
              </a:rPr>
              <a:t>Initially: </a:t>
            </a:r>
            <a:br>
              <a:rPr lang="en-US" sz="2000" dirty="0"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2000" dirty="0">
                <a:ea typeface="MS Mincho" panose="02020609040205080304" pitchFamily="49" charset="-128"/>
                <a:cs typeface="Times New Roman" panose="02020603050405020304" pitchFamily="18" charset="0"/>
              </a:rPr>
              <a:t>dense targets, no regrow</a:t>
            </a:r>
          </a:p>
          <a:p>
            <a:pPr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2000" b="1" dirty="0">
                <a:ea typeface="MS Mincho" panose="02020609040205080304" pitchFamily="49" charset="-128"/>
                <a:cs typeface="Times New Roman" panose="02020603050405020304" pitchFamily="18" charset="0"/>
              </a:rPr>
              <a:t>Tick 100:</a:t>
            </a:r>
            <a:br>
              <a:rPr lang="en-US" sz="2000" dirty="0"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2000" dirty="0">
                <a:ea typeface="MS Mincho" panose="02020609040205080304" pitchFamily="49" charset="-128"/>
                <a:cs typeface="Times New Roman" panose="02020603050405020304" pitchFamily="18" charset="0"/>
              </a:rPr>
              <a:t>sparse targets, fast regrow</a:t>
            </a:r>
            <a:endParaRPr lang="de-DE" sz="2000" dirty="0"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pic>
        <p:nvPicPr>
          <p:cNvPr id="8" name="flex_task_unsuccessful">
            <a:hlinkClick r:id="" action="ppaction://media"/>
            <a:extLst>
              <a:ext uri="{FF2B5EF4-FFF2-40B4-BE49-F238E27FC236}">
                <a16:creationId xmlns:a16="http://schemas.microsoft.com/office/drawing/2014/main" id="{E39877F6-A866-6866-5F21-28A514CD591E}"/>
              </a:ext>
            </a:extLst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 end="200"/>
                </p14:media>
              </p:ext>
            </p:extLst>
          </p:nvPr>
        </p:nvPicPr>
        <p:blipFill>
          <a:blip r:embed="rId7"/>
          <a:srcRect l="1431"/>
          <a:stretch>
            <a:fillRect/>
          </a:stretch>
        </p:blipFill>
        <p:spPr>
          <a:xfrm>
            <a:off x="387945" y="1502736"/>
            <a:ext cx="3959028" cy="4324540"/>
          </a:xfrm>
          <a:prstGeom prst="rect">
            <a:avLst/>
          </a:prstGeom>
        </p:spPr>
      </p:pic>
      <p:pic>
        <p:nvPicPr>
          <p:cNvPr id="10" name="flex_task_successful">
            <a:hlinkClick r:id="" action="ppaction://media"/>
            <a:extLst>
              <a:ext uri="{FF2B5EF4-FFF2-40B4-BE49-F238E27FC236}">
                <a16:creationId xmlns:a16="http://schemas.microsoft.com/office/drawing/2014/main" id="{7BF23F2F-2C69-8053-411F-05BBAC757D31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rcRect l="1129" b="1540"/>
          <a:stretch>
            <a:fillRect/>
          </a:stretch>
        </p:blipFill>
        <p:spPr>
          <a:xfrm>
            <a:off x="7845027" y="1496576"/>
            <a:ext cx="3959028" cy="433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91534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3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  <p:video>
              <p:cMediaNode vol="80000">
                <p:cTn id="14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</p:childTnLst>
        </p:cTn>
      </p:par>
    </p:tnLst>
    <p:bldLst>
      <p:bldP spid="5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33739F-C52D-5ACD-EE25-00B606AD1F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2075424F-F55C-1AA8-5BA8-9E4DDDBC8C6B}"/>
              </a:ext>
            </a:extLst>
          </p:cNvPr>
          <p:cNvCxnSpPr>
            <a:cxnSpLocks/>
          </p:cNvCxnSpPr>
          <p:nvPr/>
        </p:nvCxnSpPr>
        <p:spPr>
          <a:xfrm>
            <a:off x="-275771" y="1782769"/>
            <a:ext cx="12729028" cy="0"/>
          </a:xfrm>
          <a:prstGeom prst="line">
            <a:avLst/>
          </a:prstGeom>
          <a:ln w="101600">
            <a:solidFill>
              <a:srgbClr val="0033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feld 11">
            <a:extLst>
              <a:ext uri="{FF2B5EF4-FFF2-40B4-BE49-F238E27FC236}">
                <a16:creationId xmlns:a16="http://schemas.microsoft.com/office/drawing/2014/main" id="{9CFC06C4-05F9-6B35-4BB1-9F1BEB5DFCD5}"/>
              </a:ext>
            </a:extLst>
          </p:cNvPr>
          <p:cNvSpPr txBox="1"/>
          <p:nvPr/>
        </p:nvSpPr>
        <p:spPr>
          <a:xfrm>
            <a:off x="673504" y="2411400"/>
            <a:ext cx="17198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noProof="0" dirty="0"/>
              <a:t>Static Task Phase</a:t>
            </a:r>
          </a:p>
          <a:p>
            <a:r>
              <a:rPr lang="en-US" sz="1200" dirty="0"/>
              <a:t>Train on static task w/ traditional evolution and define adaptability gap</a:t>
            </a:r>
            <a:endParaRPr lang="en-US" sz="1200" noProof="0" dirty="0"/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860562A7-C725-331F-5259-54373967DA4E}"/>
              </a:ext>
            </a:extLst>
          </p:cNvPr>
          <p:cNvSpPr/>
          <p:nvPr/>
        </p:nvSpPr>
        <p:spPr>
          <a:xfrm>
            <a:off x="1071455" y="1320807"/>
            <a:ext cx="923924" cy="923924"/>
          </a:xfrm>
          <a:prstGeom prst="ellipse">
            <a:avLst/>
          </a:prstGeom>
          <a:solidFill>
            <a:srgbClr val="E3E9EA"/>
          </a:solidFill>
          <a:ln>
            <a:solidFill>
              <a:srgbClr val="00336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sz="4000" b="1" dirty="0">
                <a:solidFill>
                  <a:schemeClr val="tx1"/>
                </a:solidFill>
              </a:rPr>
              <a:t>1</a:t>
            </a:r>
            <a:endParaRPr lang="de-DE" sz="1600" b="1" dirty="0">
              <a:solidFill>
                <a:schemeClr val="tx1"/>
              </a:solidFill>
            </a:endParaRPr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2B628473-282C-D638-84C8-A382E255A767}"/>
              </a:ext>
            </a:extLst>
          </p:cNvPr>
          <p:cNvSpPr/>
          <p:nvPr/>
        </p:nvSpPr>
        <p:spPr>
          <a:xfrm>
            <a:off x="4113177" y="1320807"/>
            <a:ext cx="923924" cy="923924"/>
          </a:xfrm>
          <a:prstGeom prst="ellipse">
            <a:avLst/>
          </a:prstGeom>
          <a:solidFill>
            <a:srgbClr val="E3E9EA"/>
          </a:solidFill>
          <a:ln>
            <a:solidFill>
              <a:srgbClr val="00336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sz="4000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DD7D01B1-C841-1040-DB12-3A63127B1C2E}"/>
              </a:ext>
            </a:extLst>
          </p:cNvPr>
          <p:cNvSpPr/>
          <p:nvPr/>
        </p:nvSpPr>
        <p:spPr>
          <a:xfrm>
            <a:off x="7154899" y="1320807"/>
            <a:ext cx="923924" cy="923924"/>
          </a:xfrm>
          <a:prstGeom prst="ellipse">
            <a:avLst/>
          </a:prstGeom>
          <a:solidFill>
            <a:srgbClr val="E3E9EA"/>
          </a:solidFill>
          <a:ln>
            <a:solidFill>
              <a:srgbClr val="00336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sz="4000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1DAFA02B-2DCE-53E3-56E6-5D258DA9DED8}"/>
              </a:ext>
            </a:extLst>
          </p:cNvPr>
          <p:cNvSpPr/>
          <p:nvPr/>
        </p:nvSpPr>
        <p:spPr>
          <a:xfrm>
            <a:off x="10196621" y="1320807"/>
            <a:ext cx="923924" cy="923924"/>
          </a:xfrm>
          <a:prstGeom prst="ellipse">
            <a:avLst/>
          </a:prstGeom>
          <a:solidFill>
            <a:srgbClr val="E3E9EA"/>
          </a:solidFill>
          <a:ln>
            <a:solidFill>
              <a:srgbClr val="00336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sz="4000" b="1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4BFEC1CA-FEEF-2C94-1AE7-F4A0CBBCD4E0}"/>
              </a:ext>
            </a:extLst>
          </p:cNvPr>
          <p:cNvSpPr txBox="1"/>
          <p:nvPr/>
        </p:nvSpPr>
        <p:spPr>
          <a:xfrm>
            <a:off x="3715226" y="2411399"/>
            <a:ext cx="211520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noProof="0" dirty="0"/>
              <a:t>Training &amp; Testing</a:t>
            </a:r>
            <a:r>
              <a:rPr lang="en-US" sz="1200" b="1" dirty="0"/>
              <a:t> EA with perturbations</a:t>
            </a:r>
            <a:endParaRPr lang="en-US" sz="1200" b="1" noProof="0" dirty="0"/>
          </a:p>
          <a:p>
            <a:r>
              <a:rPr lang="en-US" sz="1200" dirty="0"/>
              <a:t>Train variants w/ perturbed evolution and test performance and adaptability</a:t>
            </a:r>
            <a:endParaRPr lang="en-US" sz="1200" noProof="0" dirty="0"/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FDB08A17-6CA7-E3CA-4485-4675E4FED6A5}"/>
              </a:ext>
            </a:extLst>
          </p:cNvPr>
          <p:cNvSpPr txBox="1"/>
          <p:nvPr/>
        </p:nvSpPr>
        <p:spPr>
          <a:xfrm>
            <a:off x="6950457" y="2411399"/>
            <a:ext cx="194534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noProof="0" dirty="0"/>
              <a:t>Ablation</a:t>
            </a:r>
          </a:p>
          <a:p>
            <a:r>
              <a:rPr lang="en-US" sz="1200" dirty="0"/>
              <a:t>Ablate to necessary core and test adaptability on withheld scenarios</a:t>
            </a:r>
            <a:endParaRPr lang="en-US" sz="1200" noProof="0" dirty="0"/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78CB49FE-6B81-DE8D-373B-25A41B8DD0C0}"/>
              </a:ext>
            </a:extLst>
          </p:cNvPr>
          <p:cNvSpPr txBox="1"/>
          <p:nvPr/>
        </p:nvSpPr>
        <p:spPr>
          <a:xfrm>
            <a:off x="9685910" y="2411399"/>
            <a:ext cx="194534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noProof="0" dirty="0"/>
              <a:t>Wiring analysis</a:t>
            </a:r>
          </a:p>
          <a:p>
            <a:r>
              <a:rPr lang="en-US" sz="1200" dirty="0"/>
              <a:t>Analyze common patterns in adaptors and compare with biological wiring patterns</a:t>
            </a:r>
            <a:endParaRPr lang="en-US" sz="1200" noProof="0" dirty="0"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FE24603B-5EAC-7C3B-5177-39DD39FB1034}"/>
              </a:ext>
            </a:extLst>
          </p:cNvPr>
          <p:cNvSpPr/>
          <p:nvPr/>
        </p:nvSpPr>
        <p:spPr>
          <a:xfrm>
            <a:off x="673504" y="2919230"/>
            <a:ext cx="1585323" cy="332715"/>
          </a:xfrm>
          <a:prstGeom prst="rect">
            <a:avLst/>
          </a:prstGeom>
          <a:noFill/>
          <a:ln w="76200">
            <a:solidFill>
              <a:srgbClr val="00336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de-DE" sz="4000" b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0789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B7C9A2-F6FA-74D1-F0FA-15D106FE66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ihandform: Form 1">
            <a:extLst>
              <a:ext uri="{FF2B5EF4-FFF2-40B4-BE49-F238E27FC236}">
                <a16:creationId xmlns:a16="http://schemas.microsoft.com/office/drawing/2014/main" id="{D7D3C3F9-6B25-1623-5BA4-19E8E162796B}"/>
              </a:ext>
            </a:extLst>
          </p:cNvPr>
          <p:cNvSpPr/>
          <p:nvPr/>
        </p:nvSpPr>
        <p:spPr>
          <a:xfrm>
            <a:off x="-3057524" y="1494429"/>
            <a:ext cx="6300782" cy="3481390"/>
          </a:xfrm>
          <a:custGeom>
            <a:avLst/>
            <a:gdLst>
              <a:gd name="csX0" fmla="*/ 0 w 6300782"/>
              <a:gd name="csY0" fmla="*/ 0 h 3481390"/>
              <a:gd name="csX1" fmla="*/ 4560087 w 6300782"/>
              <a:gd name="csY1" fmla="*/ 0 h 3481390"/>
              <a:gd name="csX2" fmla="*/ 4562473 w 6300782"/>
              <a:gd name="csY2" fmla="*/ 0 h 3481390"/>
              <a:gd name="csX3" fmla="*/ 4562473 w 6300782"/>
              <a:gd name="csY3" fmla="*/ 121 h 3481390"/>
              <a:gd name="csX4" fmla="*/ 4738063 w 6300782"/>
              <a:gd name="csY4" fmla="*/ 8987 h 3481390"/>
              <a:gd name="csX5" fmla="*/ 6300782 w 6300782"/>
              <a:gd name="csY5" fmla="*/ 1740695 h 3481390"/>
              <a:gd name="csX6" fmla="*/ 4738063 w 6300782"/>
              <a:gd name="csY6" fmla="*/ 3472403 h 3481390"/>
              <a:gd name="csX7" fmla="*/ 4562473 w 6300782"/>
              <a:gd name="csY7" fmla="*/ 3481270 h 3481390"/>
              <a:gd name="csX8" fmla="*/ 4562473 w 6300782"/>
              <a:gd name="csY8" fmla="*/ 3481390 h 3481390"/>
              <a:gd name="csX9" fmla="*/ 4560087 w 6300782"/>
              <a:gd name="csY9" fmla="*/ 3481390 h 3481390"/>
              <a:gd name="csX10" fmla="*/ 0 w 6300782"/>
              <a:gd name="csY10" fmla="*/ 3481390 h 34813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6300782" h="3481390">
                <a:moveTo>
                  <a:pt x="0" y="0"/>
                </a:moveTo>
                <a:lnTo>
                  <a:pt x="4560087" y="0"/>
                </a:lnTo>
                <a:lnTo>
                  <a:pt x="4562473" y="0"/>
                </a:lnTo>
                <a:lnTo>
                  <a:pt x="4562473" y="121"/>
                </a:lnTo>
                <a:lnTo>
                  <a:pt x="4738063" y="8987"/>
                </a:lnTo>
                <a:cubicBezTo>
                  <a:pt x="5615819" y="98128"/>
                  <a:pt x="6300782" y="839421"/>
                  <a:pt x="6300782" y="1740695"/>
                </a:cubicBezTo>
                <a:cubicBezTo>
                  <a:pt x="6300782" y="2641969"/>
                  <a:pt x="5615819" y="3383262"/>
                  <a:pt x="4738063" y="3472403"/>
                </a:cubicBezTo>
                <a:lnTo>
                  <a:pt x="4562473" y="3481270"/>
                </a:lnTo>
                <a:lnTo>
                  <a:pt x="4562473" y="3481390"/>
                </a:lnTo>
                <a:lnTo>
                  <a:pt x="4560087" y="3481390"/>
                </a:lnTo>
                <a:lnTo>
                  <a:pt x="0" y="3481390"/>
                </a:lnTo>
                <a:close/>
              </a:path>
            </a:pathLst>
          </a:custGeom>
          <a:solidFill>
            <a:srgbClr val="E3E9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de-DE" sz="1600" b="1">
              <a:solidFill>
                <a:schemeClr val="tx1"/>
              </a:solidFill>
            </a:endParaRP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BE7655D9-6825-AB05-867F-FE594998082B}"/>
              </a:ext>
            </a:extLst>
          </p:cNvPr>
          <p:cNvSpPr txBox="1"/>
          <p:nvPr/>
        </p:nvSpPr>
        <p:spPr>
          <a:xfrm>
            <a:off x="-11904" y="3004291"/>
            <a:ext cx="28479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b="1" dirty="0">
                <a:solidFill>
                  <a:srgbClr val="00336E"/>
                </a:solidFill>
                <a:ea typeface="Cormorant Garamond" pitchFamily="2" charset="0"/>
                <a:cs typeface="Cormorant Garamond" pitchFamily="2" charset="0"/>
              </a:rPr>
              <a:t>Outlook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63A5C072-1042-18D6-3173-F6EE082134D1}"/>
              </a:ext>
            </a:extLst>
          </p:cNvPr>
          <p:cNvSpPr txBox="1"/>
          <p:nvPr/>
        </p:nvSpPr>
        <p:spPr>
          <a:xfrm>
            <a:off x="3578226" y="1573130"/>
            <a:ext cx="744059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 err="1"/>
              <a:t>Build</a:t>
            </a:r>
            <a:r>
              <a:rPr lang="de-DE" sz="2400" dirty="0"/>
              <a:t> minimal </a:t>
            </a:r>
            <a:r>
              <a:rPr lang="de-DE" sz="2400" dirty="0" err="1"/>
              <a:t>networks</a:t>
            </a:r>
            <a:r>
              <a:rPr lang="de-DE" sz="2400" dirty="0"/>
              <a:t> </a:t>
            </a:r>
            <a:r>
              <a:rPr lang="de-DE" sz="2400" dirty="0" err="1"/>
              <a:t>that</a:t>
            </a:r>
            <a:r>
              <a:rPr lang="de-DE" sz="2400" dirty="0"/>
              <a:t> </a:t>
            </a:r>
            <a:r>
              <a:rPr lang="de-DE" sz="2400" dirty="0" err="1"/>
              <a:t>can</a:t>
            </a:r>
            <a:r>
              <a:rPr lang="de-DE" sz="2400" dirty="0"/>
              <a:t> </a:t>
            </a:r>
            <a:r>
              <a:rPr lang="de-DE" sz="2400" dirty="0" err="1"/>
              <a:t>adapt</a:t>
            </a:r>
            <a:r>
              <a:rPr lang="de-DE" sz="2400" dirty="0"/>
              <a:t> </a:t>
            </a:r>
            <a:r>
              <a:rPr lang="de-DE" sz="2400" dirty="0" err="1"/>
              <a:t>to</a:t>
            </a:r>
            <a:r>
              <a:rPr lang="de-DE" sz="2400" dirty="0"/>
              <a:t> </a:t>
            </a:r>
            <a:r>
              <a:rPr lang="de-DE" sz="2400" dirty="0" err="1"/>
              <a:t>tasks</a:t>
            </a:r>
            <a:r>
              <a:rPr lang="de-DE" sz="2400" dirty="0"/>
              <a:t> </a:t>
            </a:r>
            <a:r>
              <a:rPr lang="de-DE" sz="2400" dirty="0" err="1"/>
              <a:t>they</a:t>
            </a:r>
            <a:r>
              <a:rPr lang="de-DE" sz="2400" dirty="0"/>
              <a:t> </a:t>
            </a:r>
            <a:r>
              <a:rPr lang="de-DE" sz="2400" dirty="0" err="1"/>
              <a:t>were</a:t>
            </a:r>
            <a:r>
              <a:rPr lang="de-DE" sz="2400" dirty="0"/>
              <a:t> </a:t>
            </a:r>
            <a:r>
              <a:rPr lang="de-DE" sz="2400" dirty="0" err="1"/>
              <a:t>never</a:t>
            </a:r>
            <a:r>
              <a:rPr lang="de-DE" sz="2400" dirty="0"/>
              <a:t> </a:t>
            </a:r>
            <a:r>
              <a:rPr lang="de-DE" sz="2400" dirty="0" err="1"/>
              <a:t>explicitly</a:t>
            </a:r>
            <a:r>
              <a:rPr lang="de-DE" sz="2400" dirty="0"/>
              <a:t> </a:t>
            </a:r>
            <a:r>
              <a:rPr lang="de-DE" sz="2400" dirty="0" err="1"/>
              <a:t>trained</a:t>
            </a:r>
            <a:r>
              <a:rPr lang="de-DE" sz="2400" dirty="0"/>
              <a:t> on, </a:t>
            </a:r>
            <a:br>
              <a:rPr lang="de-DE" sz="2400" dirty="0"/>
            </a:br>
            <a:r>
              <a:rPr lang="de-DE" sz="2400" dirty="0"/>
              <a:t>and </a:t>
            </a:r>
            <a:r>
              <a:rPr lang="de-DE" sz="2400" dirty="0" err="1"/>
              <a:t>characterize</a:t>
            </a:r>
            <a:r>
              <a:rPr lang="de-DE" sz="2400" dirty="0"/>
              <a:t> </a:t>
            </a:r>
            <a:r>
              <a:rPr lang="de-DE" sz="2400" dirty="0" err="1"/>
              <a:t>what</a:t>
            </a:r>
            <a:r>
              <a:rPr lang="de-DE" sz="2400" dirty="0"/>
              <a:t> </a:t>
            </a:r>
            <a:r>
              <a:rPr lang="de-DE" sz="2400" dirty="0" err="1"/>
              <a:t>structural</a:t>
            </a:r>
            <a:r>
              <a:rPr lang="de-DE" sz="2400" dirty="0"/>
              <a:t> </a:t>
            </a:r>
            <a:r>
              <a:rPr lang="de-DE" sz="2400" dirty="0" err="1"/>
              <a:t>properties</a:t>
            </a:r>
            <a:r>
              <a:rPr lang="de-DE" sz="2400" dirty="0"/>
              <a:t> </a:t>
            </a:r>
            <a:r>
              <a:rPr lang="de-DE" sz="2400" dirty="0" err="1"/>
              <a:t>make</a:t>
            </a:r>
            <a:r>
              <a:rPr lang="de-DE" sz="2400" dirty="0"/>
              <a:t> </a:t>
            </a:r>
            <a:r>
              <a:rPr lang="de-DE" sz="2400" dirty="0" err="1"/>
              <a:t>that</a:t>
            </a:r>
            <a:r>
              <a:rPr lang="de-DE" sz="2400" dirty="0"/>
              <a:t> possible.</a:t>
            </a:r>
          </a:p>
          <a:p>
            <a:endParaRPr lang="de-DE" sz="2400" dirty="0"/>
          </a:p>
          <a:p>
            <a:endParaRPr lang="de-DE" sz="2400" dirty="0"/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de-DE" sz="2400" dirty="0" err="1">
                <a:sym typeface="Wingdings" panose="05000000000000000000" pitchFamily="2" charset="2"/>
              </a:rPr>
              <a:t>Candidate</a:t>
            </a:r>
            <a:r>
              <a:rPr lang="de-DE" sz="2400" dirty="0">
                <a:sym typeface="Wingdings" panose="05000000000000000000" pitchFamily="2" charset="2"/>
              </a:rPr>
              <a:t> </a:t>
            </a:r>
            <a:r>
              <a:rPr lang="de-DE" sz="2400" dirty="0" err="1">
                <a:sym typeface="Wingdings" panose="05000000000000000000" pitchFamily="2" charset="2"/>
              </a:rPr>
              <a:t>wiring</a:t>
            </a:r>
            <a:r>
              <a:rPr lang="de-DE" sz="2400" dirty="0">
                <a:sym typeface="Wingdings" panose="05000000000000000000" pitchFamily="2" charset="2"/>
              </a:rPr>
              <a:t> </a:t>
            </a:r>
            <a:r>
              <a:rPr lang="de-DE" sz="2400" dirty="0" err="1">
                <a:sym typeface="Wingdings" panose="05000000000000000000" pitchFamily="2" charset="2"/>
              </a:rPr>
              <a:t>motifs</a:t>
            </a:r>
            <a:r>
              <a:rPr lang="de-DE" sz="2400" dirty="0">
                <a:sym typeface="Wingdings" panose="05000000000000000000" pitchFamily="2" charset="2"/>
              </a:rPr>
              <a:t> </a:t>
            </a:r>
            <a:r>
              <a:rPr lang="de-DE" sz="2400" dirty="0" err="1">
                <a:sym typeface="Wingdings" panose="05000000000000000000" pitchFamily="2" charset="2"/>
              </a:rPr>
              <a:t>for</a:t>
            </a:r>
            <a:r>
              <a:rPr lang="de-DE" sz="2400" dirty="0">
                <a:sym typeface="Wingdings" panose="05000000000000000000" pitchFamily="2" charset="2"/>
              </a:rPr>
              <a:t> </a:t>
            </a:r>
            <a:r>
              <a:rPr lang="de-DE" sz="2400" dirty="0" err="1">
                <a:sym typeface="Wingdings" panose="05000000000000000000" pitchFamily="2" charset="2"/>
              </a:rPr>
              <a:t>targeted</a:t>
            </a:r>
            <a:r>
              <a:rPr lang="de-DE" sz="2400" dirty="0">
                <a:sym typeface="Wingdings" panose="05000000000000000000" pitchFamily="2" charset="2"/>
              </a:rPr>
              <a:t> </a:t>
            </a:r>
            <a:r>
              <a:rPr lang="de-DE" sz="2400" dirty="0" err="1">
                <a:sym typeface="Wingdings" panose="05000000000000000000" pitchFamily="2" charset="2"/>
              </a:rPr>
              <a:t>investigation</a:t>
            </a:r>
            <a:r>
              <a:rPr lang="de-DE" sz="2400" dirty="0">
                <a:sym typeface="Wingdings" panose="05000000000000000000" pitchFamily="2" charset="2"/>
              </a:rPr>
              <a:t> in </a:t>
            </a:r>
            <a:r>
              <a:rPr lang="de-DE" sz="2400" dirty="0" err="1">
                <a:sym typeface="Wingdings" panose="05000000000000000000" pitchFamily="2" charset="2"/>
              </a:rPr>
              <a:t>biological</a:t>
            </a:r>
            <a:r>
              <a:rPr lang="de-DE" sz="2400" dirty="0">
                <a:sym typeface="Wingdings" panose="05000000000000000000" pitchFamily="2" charset="2"/>
              </a:rPr>
              <a:t> </a:t>
            </a:r>
            <a:r>
              <a:rPr lang="de-DE" sz="2400" dirty="0" err="1">
                <a:sym typeface="Wingdings" panose="05000000000000000000" pitchFamily="2" charset="2"/>
              </a:rPr>
              <a:t>circuits</a:t>
            </a:r>
            <a:r>
              <a:rPr lang="de-DE" sz="2400" dirty="0">
                <a:sym typeface="Wingdings" panose="05000000000000000000" pitchFamily="2" charset="2"/>
              </a:rPr>
              <a:t> / </a:t>
            </a:r>
            <a:r>
              <a:rPr lang="de-DE" sz="2400" dirty="0" err="1">
                <a:sym typeface="Wingdings" panose="05000000000000000000" pitchFamily="2" charset="2"/>
              </a:rPr>
              <a:t>networks</a:t>
            </a:r>
            <a:endParaRPr lang="de-DE" sz="2400" dirty="0">
              <a:sym typeface="Wingdings" panose="05000000000000000000" pitchFamily="2" charset="2"/>
            </a:endParaRPr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de-DE" sz="2400" dirty="0">
                <a:sym typeface="Wingdings" panose="05000000000000000000" pitchFamily="2" charset="2"/>
              </a:rPr>
              <a:t>Model </a:t>
            </a:r>
            <a:r>
              <a:rPr lang="de-DE" sz="2400" dirty="0" err="1">
                <a:sym typeface="Wingdings" panose="05000000000000000000" pitchFamily="2" charset="2"/>
              </a:rPr>
              <a:t>for</a:t>
            </a:r>
            <a:r>
              <a:rPr lang="de-DE" sz="2400" dirty="0">
                <a:sym typeface="Wingdings" panose="05000000000000000000" pitchFamily="2" charset="2"/>
              </a:rPr>
              <a:t> </a:t>
            </a:r>
            <a:r>
              <a:rPr lang="de-DE" sz="2400" dirty="0" err="1">
                <a:sym typeface="Wingdings" panose="05000000000000000000" pitchFamily="2" charset="2"/>
              </a:rPr>
              <a:t>interpretation</a:t>
            </a:r>
            <a:r>
              <a:rPr lang="de-DE" sz="2400" dirty="0">
                <a:sym typeface="Wingdings" panose="05000000000000000000" pitchFamily="2" charset="2"/>
              </a:rPr>
              <a:t> </a:t>
            </a:r>
            <a:r>
              <a:rPr lang="de-DE" sz="2400" dirty="0" err="1">
                <a:sym typeface="Wingdings" panose="05000000000000000000" pitchFamily="2" charset="2"/>
              </a:rPr>
              <a:t>of</a:t>
            </a:r>
            <a:r>
              <a:rPr lang="de-DE" sz="2400" dirty="0">
                <a:sym typeface="Wingdings" panose="05000000000000000000" pitchFamily="2" charset="2"/>
              </a:rPr>
              <a:t> </a:t>
            </a:r>
            <a:r>
              <a:rPr lang="de-DE" sz="2400" dirty="0" err="1">
                <a:sym typeface="Wingdings" panose="05000000000000000000" pitchFamily="2" charset="2"/>
              </a:rPr>
              <a:t>data</a:t>
            </a:r>
            <a:r>
              <a:rPr lang="de-DE" sz="2400" dirty="0">
                <a:sym typeface="Wingdings" panose="05000000000000000000" pitchFamily="2" charset="2"/>
              </a:rPr>
              <a:t> </a:t>
            </a:r>
            <a:r>
              <a:rPr lang="de-DE" sz="2400" dirty="0" err="1">
                <a:sym typeface="Wingdings" panose="05000000000000000000" pitchFamily="2" charset="2"/>
              </a:rPr>
              <a:t>from</a:t>
            </a:r>
            <a:r>
              <a:rPr lang="de-DE" sz="2400" dirty="0">
                <a:sym typeface="Wingdings" panose="05000000000000000000" pitchFamily="2" charset="2"/>
              </a:rPr>
              <a:t> </a:t>
            </a:r>
            <a:r>
              <a:rPr lang="de-DE" sz="2400" dirty="0" err="1">
                <a:sym typeface="Wingdings" panose="05000000000000000000" pitchFamily="2" charset="2"/>
              </a:rPr>
              <a:t>complex</a:t>
            </a:r>
            <a:r>
              <a:rPr lang="de-DE" sz="2400" dirty="0">
                <a:sym typeface="Wingdings" panose="05000000000000000000" pitchFamily="2" charset="2"/>
              </a:rPr>
              <a:t> </a:t>
            </a:r>
            <a:r>
              <a:rPr lang="de-DE" sz="2400" dirty="0" err="1">
                <a:sym typeface="Wingdings" panose="05000000000000000000" pitchFamily="2" charset="2"/>
              </a:rPr>
              <a:t>circuits</a:t>
            </a:r>
            <a:r>
              <a:rPr lang="de-DE" sz="2400" dirty="0">
                <a:sym typeface="Wingdings" panose="05000000000000000000" pitchFamily="2" charset="2"/>
              </a:rPr>
              <a:t> and </a:t>
            </a:r>
            <a:r>
              <a:rPr lang="de-DE" sz="2400" dirty="0" err="1">
                <a:sym typeface="Wingdings" panose="05000000000000000000" pitchFamily="2" charset="2"/>
              </a:rPr>
              <a:t>brains</a:t>
            </a:r>
            <a:endParaRPr lang="de-DE" sz="2400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3600781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Benutzerdefiniert 1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1995</Words>
  <Application>Microsoft Office PowerPoint</Application>
  <PresentationFormat>Breitbild</PresentationFormat>
  <Paragraphs>184</Paragraphs>
  <Slides>32</Slides>
  <Notes>8</Notes>
  <HiddenSlides>0</HiddenSlides>
  <MMClips>2</MMClips>
  <ScaleCrop>false</ScaleCrop>
  <HeadingPairs>
    <vt:vector size="6" baseType="variant">
      <vt:variant>
        <vt:lpstr>Verwendete Schriftarten</vt:lpstr>
      </vt:variant>
      <vt:variant>
        <vt:i4>10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32</vt:i4>
      </vt:variant>
    </vt:vector>
  </HeadingPairs>
  <TitlesOfParts>
    <vt:vector size="43" baseType="lpstr">
      <vt:lpstr>MS Mincho</vt:lpstr>
      <vt:lpstr>Aptos</vt:lpstr>
      <vt:lpstr>Arial</vt:lpstr>
      <vt:lpstr>Bell MT</vt:lpstr>
      <vt:lpstr>Calibri</vt:lpstr>
      <vt:lpstr>Cambria Math</vt:lpstr>
      <vt:lpstr>Cormorant Garamond</vt:lpstr>
      <vt:lpstr>Courier New</vt:lpstr>
      <vt:lpstr>Inter</vt:lpstr>
      <vt:lpstr>Wingdings</vt:lpstr>
      <vt:lpstr>Office</vt:lpstr>
      <vt:lpstr>The Minimum Viable Brain Selection and investigation of unsupervised adaptive learners with minimal neuronal architecture   Dr. Jana Katharina Dahlmanns</vt:lpstr>
      <vt:lpstr>1 - Who here knows how to work a coffee maker?</vt:lpstr>
      <vt:lpstr>2 – Complete this sentence:</vt:lpstr>
      <vt:lpstr>3 – Find the shortest path through this maze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Dahlmanns, Jana</dc:creator>
  <cp:lastModifiedBy>Dahlmanns, Jana</cp:lastModifiedBy>
  <cp:revision>93</cp:revision>
  <dcterms:created xsi:type="dcterms:W3CDTF">2026-05-06T11:26:19Z</dcterms:created>
  <dcterms:modified xsi:type="dcterms:W3CDTF">2026-06-24T10:33:06Z</dcterms:modified>
</cp:coreProperties>
</file>