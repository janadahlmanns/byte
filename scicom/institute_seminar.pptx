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35"/>
  </p:notesMasterIdLst>
  <p:sldIdLst>
    <p:sldId id="256" r:id="rId2"/>
    <p:sldId id="269" r:id="rId3"/>
    <p:sldId id="270" r:id="rId4"/>
    <p:sldId id="271" r:id="rId5"/>
    <p:sldId id="272" r:id="rId6"/>
    <p:sldId id="305" r:id="rId7"/>
    <p:sldId id="291" r:id="rId8"/>
    <p:sldId id="301" r:id="rId9"/>
    <p:sldId id="300" r:id="rId10"/>
    <p:sldId id="303" r:id="rId11"/>
    <p:sldId id="299" r:id="rId12"/>
    <p:sldId id="292" r:id="rId13"/>
    <p:sldId id="293" r:id="rId14"/>
    <p:sldId id="294" r:id="rId15"/>
    <p:sldId id="295" r:id="rId16"/>
    <p:sldId id="296" r:id="rId17"/>
    <p:sldId id="298" r:id="rId18"/>
    <p:sldId id="297" r:id="rId19"/>
    <p:sldId id="307" r:id="rId20"/>
    <p:sldId id="278" r:id="rId21"/>
    <p:sldId id="274" r:id="rId22"/>
    <p:sldId id="275" r:id="rId23"/>
    <p:sldId id="276" r:id="rId24"/>
    <p:sldId id="280" r:id="rId25"/>
    <p:sldId id="281" r:id="rId26"/>
    <p:sldId id="282" r:id="rId27"/>
    <p:sldId id="309" r:id="rId28"/>
    <p:sldId id="284" r:id="rId29"/>
    <p:sldId id="286" r:id="rId30"/>
    <p:sldId id="288" r:id="rId31"/>
    <p:sldId id="310" r:id="rId32"/>
    <p:sldId id="290" r:id="rId33"/>
    <p:sldId id="311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117"/>
    <a:srgbClr val="00336E"/>
    <a:srgbClr val="19BDFD"/>
    <a:srgbClr val="969696"/>
    <a:srgbClr val="F8FAFA"/>
    <a:srgbClr val="E3E9EA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 varScale="1">
        <p:scale>
          <a:sx n="150" d="100"/>
          <a:sy n="150" d="100"/>
        </p:scale>
        <p:origin x="1200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29.06.2026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9770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E8A76-9B3F-B19E-CD37-8E462A260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9EABE0-4D9E-C7E3-FF58-D7E85E7C1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73BF1BE-8EE1-E3DF-E495-63E82683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CFD7684-7906-360A-8C4E-9CA4E954D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120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microsoft.com/office/2007/relationships/media" Target="../media/media2.mp4"/><Relationship Id="rId7" Type="http://schemas.openxmlformats.org/officeDocument/2006/relationships/image" Target="../media/image32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2966861" y="2127191"/>
            <a:ext cx="625827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4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4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4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4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4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4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A013F-0D7E-C5E7-5052-FF5FD5A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74F2FF5-0A71-36FE-0A4A-AA422F25F90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FE27381-EA4B-BBF7-3F60-7DD1BC52CC55}"/>
              </a:ext>
            </a:extLst>
          </p:cNvPr>
          <p:cNvSpPr txBox="1"/>
          <p:nvPr/>
        </p:nvSpPr>
        <p:spPr>
          <a:xfrm>
            <a:off x="5936343" y="5671949"/>
            <a:ext cx="43347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Rohlfs (2025) </a:t>
            </a:r>
            <a:r>
              <a:rPr lang="de-DE" sz="1000" i="1" dirty="0" err="1"/>
              <a:t>Generalization</a:t>
            </a:r>
            <a:r>
              <a:rPr lang="de-DE" sz="1000" i="1" dirty="0"/>
              <a:t> in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: A </a:t>
            </a:r>
            <a:r>
              <a:rPr lang="de-DE" sz="1000" i="1" dirty="0" err="1"/>
              <a:t>broad</a:t>
            </a:r>
            <a:r>
              <a:rPr lang="de-DE" sz="1000" i="1" dirty="0"/>
              <a:t> </a:t>
            </a:r>
            <a:r>
              <a:rPr lang="de-DE" sz="1000" i="1" dirty="0" err="1"/>
              <a:t>survey</a:t>
            </a:r>
            <a:r>
              <a:rPr lang="de-DE" sz="1000" i="1" dirty="0"/>
              <a:t>. </a:t>
            </a:r>
            <a:r>
              <a:rPr lang="de-DE" sz="1000" dirty="0" err="1"/>
              <a:t>Neurocomp</a:t>
            </a:r>
            <a:endParaRPr lang="de-DE" sz="1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6A704A-2B85-8ED9-8612-8915383276EE}"/>
              </a:ext>
            </a:extLst>
          </p:cNvPr>
          <p:cNvSpPr txBox="1"/>
          <p:nvPr/>
        </p:nvSpPr>
        <p:spPr>
          <a:xfrm>
            <a:off x="13867366" y="1875235"/>
            <a:ext cx="64103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CHAUDHURY, Subhajit; YAMASAKI, Toshihiko. </a:t>
            </a:r>
            <a:r>
              <a:rPr lang="de-DE" dirty="0" err="1"/>
              <a:t>Investigating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r>
              <a:rPr lang="de-DE" dirty="0"/>
              <a:t> in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optimally</a:t>
            </a:r>
            <a:r>
              <a:rPr lang="de-DE" dirty="0"/>
              <a:t> </a:t>
            </a:r>
            <a:r>
              <a:rPr lang="de-DE" dirty="0" err="1"/>
              <a:t>evolved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perturbations</a:t>
            </a:r>
            <a:r>
              <a:rPr lang="de-DE" dirty="0"/>
              <a:t>. In: </a:t>
            </a:r>
            <a:r>
              <a:rPr lang="de-DE" i="1" dirty="0"/>
              <a:t>ICASSP 2020-2020 IEEE International Conference on Acoustics, Speech and Signal Processing (ICASSP)</a:t>
            </a:r>
            <a:r>
              <a:rPr lang="de-DE" dirty="0"/>
              <a:t>. IEEE, 2020. S. 3617-3612.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B674A6F-906B-616F-C8B2-D744350D178F}"/>
              </a:ext>
            </a:extLst>
          </p:cNvPr>
          <p:cNvSpPr txBox="1"/>
          <p:nvPr/>
        </p:nvSpPr>
        <p:spPr>
          <a:xfrm>
            <a:off x="13867366" y="3942732"/>
            <a:ext cx="6410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JACOBSEN, Jörn-Henrik, et al. </a:t>
            </a:r>
            <a:r>
              <a:rPr lang="de-DE" dirty="0" err="1"/>
              <a:t>Excessive</a:t>
            </a:r>
            <a:r>
              <a:rPr lang="de-DE" dirty="0"/>
              <a:t> </a:t>
            </a:r>
            <a:r>
              <a:rPr lang="de-DE" dirty="0" err="1"/>
              <a:t>invariance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</a:t>
            </a:r>
            <a:r>
              <a:rPr lang="de-DE" dirty="0" err="1"/>
              <a:t>adversarial</a:t>
            </a:r>
            <a:r>
              <a:rPr lang="de-DE" dirty="0"/>
              <a:t> </a:t>
            </a:r>
            <a:r>
              <a:rPr lang="de-DE" dirty="0" err="1"/>
              <a:t>vulnerability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arXiv:1811.00401</a:t>
            </a:r>
            <a:r>
              <a:rPr lang="de-DE" dirty="0"/>
              <a:t>, 2018.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578F153-B42E-0E54-CA5C-EED2FE88D1A8}"/>
              </a:ext>
            </a:extLst>
          </p:cNvPr>
          <p:cNvSpPr txBox="1"/>
          <p:nvPr/>
        </p:nvSpPr>
        <p:spPr>
          <a:xfrm>
            <a:off x="13615569" y="5179232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https://proceedings.mlr.press/v97/arora19a.html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5013D52-B2AD-8004-0DC2-D198FDA38BAF}"/>
              </a:ext>
            </a:extLst>
          </p:cNvPr>
          <p:cNvSpPr txBox="1"/>
          <p:nvPr/>
        </p:nvSpPr>
        <p:spPr>
          <a:xfrm>
            <a:off x="14054138" y="6014777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https://arxiv.org/pdf/1802.08760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F3E00D8-417B-AC65-7CC4-572BE7889297}"/>
              </a:ext>
            </a:extLst>
          </p:cNvPr>
          <p:cNvSpPr txBox="1"/>
          <p:nvPr/>
        </p:nvSpPr>
        <p:spPr>
          <a:xfrm>
            <a:off x="13867366" y="814040"/>
            <a:ext cx="29533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https://www.sciencedirect.com/science/article/pii/S0925231224014723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0C76DEA-4739-EFC8-0948-9A42A2814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73" y="1033177"/>
            <a:ext cx="7799254" cy="463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87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1FFDC38-9DF5-AB6D-9336-E345595430C5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Computational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Neuroethology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EB735F9-87D9-154C-23A9-88E7B3ACCAAE}"/>
              </a:ext>
            </a:extLst>
          </p:cNvPr>
          <p:cNvSpPr txBox="1"/>
          <p:nvPr/>
        </p:nvSpPr>
        <p:spPr>
          <a:xfrm>
            <a:off x="5857962" y="6219478"/>
            <a:ext cx="5457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Hillel </a:t>
            </a:r>
            <a:r>
              <a:rPr lang="de-DE" sz="1000" dirty="0" err="1"/>
              <a:t>Chiel</a:t>
            </a:r>
            <a:r>
              <a:rPr lang="de-DE" sz="1000" dirty="0"/>
              <a:t> &amp; Randall Beer (1997)</a:t>
            </a:r>
            <a:r>
              <a:rPr lang="en-US" sz="1000" dirty="0"/>
              <a:t> </a:t>
            </a:r>
            <a:r>
              <a:rPr lang="en-US" sz="1000" i="1" dirty="0"/>
              <a:t>The brain has a body: adaptive behavior </a:t>
            </a:r>
          </a:p>
          <a:p>
            <a:r>
              <a:rPr lang="en-US" sz="1000" i="1" dirty="0"/>
              <a:t>emerges from interactions of nervous system, body and environment</a:t>
            </a:r>
            <a:r>
              <a:rPr lang="de-DE" sz="1000" i="1" dirty="0"/>
              <a:t>. </a:t>
            </a:r>
            <a:r>
              <a:rPr lang="de-DE" sz="1000" dirty="0"/>
              <a:t>Trends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72F086E-DF5C-9FC2-E337-4FCE41F1C92C}"/>
              </a:ext>
            </a:extLst>
          </p:cNvPr>
          <p:cNvSpPr txBox="1"/>
          <p:nvPr/>
        </p:nvSpPr>
        <p:spPr>
          <a:xfrm>
            <a:off x="1998980" y="1263023"/>
            <a:ext cx="7609840" cy="4613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de-DE" i="1" dirty="0">
                <a:effectLst/>
              </a:rPr>
              <a:t>Studies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mechanisms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generally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focus</a:t>
            </a:r>
            <a:r>
              <a:rPr lang="de-DE" i="1" dirty="0">
                <a:effectLst/>
              </a:rPr>
              <a:t> on </a:t>
            </a:r>
            <a:r>
              <a:rPr lang="de-DE" i="1" dirty="0" err="1">
                <a:effectLst/>
              </a:rPr>
              <a:t>neurons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circuits</a:t>
            </a:r>
            <a:r>
              <a:rPr lang="de-DE" i="1" dirty="0">
                <a:effectLst/>
              </a:rPr>
              <a:t>. </a:t>
            </a:r>
            <a:br>
              <a:rPr lang="de-DE" i="1" dirty="0">
                <a:effectLst/>
              </a:rPr>
            </a:br>
            <a:r>
              <a:rPr lang="de-DE" i="1" dirty="0">
                <a:effectLst/>
              </a:rPr>
              <a:t>But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b="1" i="1" dirty="0">
                <a:effectLst/>
              </a:rPr>
              <a:t>also </a:t>
            </a:r>
            <a:r>
              <a:rPr lang="de-DE" b="1" i="1" dirty="0" err="1">
                <a:effectLst/>
              </a:rPr>
              <a:t>depends</a:t>
            </a:r>
            <a:r>
              <a:rPr lang="de-DE" b="1" i="1" dirty="0">
                <a:effectLst/>
              </a:rPr>
              <a:t> on </a:t>
            </a:r>
            <a:r>
              <a:rPr lang="de-DE" b="1" i="1" dirty="0" err="1">
                <a:effectLst/>
              </a:rPr>
              <a:t>interactions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among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the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i="1" dirty="0">
                <a:effectLst/>
              </a:rPr>
              <a:t>: </a:t>
            </a:r>
            <a:br>
              <a:rPr lang="de-DE" i="1" dirty="0">
                <a:effectLst/>
              </a:rPr>
            </a:br>
            <a:r>
              <a:rPr lang="de-DE" i="1" dirty="0" err="1">
                <a:effectLst/>
              </a:rPr>
              <a:t>sensory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preprocessing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motor</a:t>
            </a:r>
            <a:r>
              <a:rPr lang="de-DE" i="1" dirty="0">
                <a:effectLst/>
              </a:rPr>
              <a:t> post-</a:t>
            </a:r>
            <a:r>
              <a:rPr lang="de-DE" i="1" dirty="0" err="1">
                <a:effectLst/>
              </a:rPr>
              <a:t>processing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filter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inputs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to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outputs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from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the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nervous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system</a:t>
            </a:r>
            <a:r>
              <a:rPr lang="de-DE" i="1" dirty="0"/>
              <a:t> […] </a:t>
            </a:r>
            <a:r>
              <a:rPr lang="de-DE" i="1" dirty="0">
                <a:effectLst/>
              </a:rPr>
              <a:t>and </a:t>
            </a:r>
            <a:r>
              <a:rPr lang="de-DE" b="1" i="1" dirty="0" err="1">
                <a:effectLst/>
              </a:rPr>
              <a:t>continuous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feedback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between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are</a:t>
            </a:r>
            <a:r>
              <a:rPr lang="de-DE" b="1" i="1" dirty="0">
                <a:effectLst/>
              </a:rPr>
              <a:t> essential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normal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r>
              <a:rPr lang="de-DE" i="1" dirty="0"/>
              <a:t>[…] </a:t>
            </a:r>
            <a:br>
              <a:rPr lang="de-DE" b="1" i="1" dirty="0"/>
            </a:br>
            <a:r>
              <a:rPr lang="de-DE" b="1" i="1" dirty="0">
                <a:effectLst/>
              </a:rPr>
              <a:t>Computational </a:t>
            </a:r>
            <a:r>
              <a:rPr lang="de-DE" b="1" i="1" dirty="0" err="1">
                <a:effectLst/>
              </a:rPr>
              <a:t>neuroethology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which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jointly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models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neural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control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periphery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of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animals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is</a:t>
            </a:r>
            <a:r>
              <a:rPr lang="de-DE" b="1" i="1" dirty="0">
                <a:effectLst/>
              </a:rPr>
              <a:t> a promising </a:t>
            </a:r>
            <a:r>
              <a:rPr lang="de-DE" b="1" i="1" dirty="0" err="1">
                <a:effectLst/>
              </a:rPr>
              <a:t>methodology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understanding</a:t>
            </a:r>
            <a:r>
              <a:rPr lang="de-DE" b="1" i="1" dirty="0">
                <a:effectLst/>
              </a:rPr>
              <a:t> adaptive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endParaRPr lang="de-DE" i="1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2608F7A-583B-6643-EF69-25DFA3540695}"/>
              </a:ext>
            </a:extLst>
          </p:cNvPr>
          <p:cNvSpPr txBox="1"/>
          <p:nvPr/>
        </p:nvSpPr>
        <p:spPr>
          <a:xfrm>
            <a:off x="330200" y="-1024957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0613E2B-0CDB-45CA-183E-DA31CBD4D1D2}"/>
              </a:ext>
            </a:extLst>
          </p:cNvPr>
          <p:cNvSpPr txBox="1"/>
          <p:nvPr/>
        </p:nvSpPr>
        <p:spPr>
          <a:xfrm>
            <a:off x="9446895" y="2649270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</p:spTree>
    <p:extLst>
      <p:ext uri="{BB962C8B-B14F-4D97-AF65-F5344CB8AC3E}">
        <p14:creationId xmlns:p14="http://schemas.microsoft.com/office/powerpoint/2010/main" val="746378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6" grpId="0"/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553E-9D3F-F008-5388-CE7842BF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ACB6C97-6C8B-DB52-3A1F-224D4922D997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A18254-BE04-EC4F-FC2D-F332E22A4143}"/>
              </a:ext>
            </a:extLst>
          </p:cNvPr>
          <p:cNvSpPr txBox="1"/>
          <p:nvPr/>
        </p:nvSpPr>
        <p:spPr>
          <a:xfrm>
            <a:off x="6858000" y="6009937"/>
            <a:ext cx="5142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Zhao, M., Wang, N., Jiang, X. et al. (2024)</a:t>
            </a:r>
            <a:r>
              <a:rPr lang="en-US" sz="1000" dirty="0"/>
              <a:t> </a:t>
            </a:r>
            <a:r>
              <a:rPr lang="en-US" sz="1000" i="1" dirty="0"/>
              <a:t>An integrative data-driven model simulating C. elegans brain, body and environment interactions. </a:t>
            </a:r>
            <a:r>
              <a:rPr lang="de-DE" sz="1000" dirty="0"/>
              <a:t>Nat </a:t>
            </a:r>
            <a:r>
              <a:rPr lang="de-DE" sz="1000" dirty="0" err="1"/>
              <a:t>Comput</a:t>
            </a:r>
            <a:r>
              <a:rPr lang="de-DE" sz="1000" dirty="0"/>
              <a:t> </a:t>
            </a:r>
            <a:r>
              <a:rPr lang="de-DE" sz="1000" dirty="0" err="1"/>
              <a:t>Sci</a:t>
            </a:r>
            <a:r>
              <a:rPr lang="de-DE" sz="1000" dirty="0"/>
              <a:t> </a:t>
            </a:r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432"/>
          <a:stretch>
            <a:fillRect/>
          </a:stretch>
        </p:blipFill>
        <p:spPr bwMode="auto">
          <a:xfrm>
            <a:off x="330864" y="1108757"/>
            <a:ext cx="6527136" cy="2649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A859CB5-F991-BB16-B668-3F65019B8085}"/>
              </a:ext>
            </a:extLst>
          </p:cNvPr>
          <p:cNvSpPr txBox="1"/>
          <p:nvPr/>
        </p:nvSpPr>
        <p:spPr>
          <a:xfrm>
            <a:off x="7788362" y="1860270"/>
            <a:ext cx="3804198" cy="1666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Embedding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models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interactive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environments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reveal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neuronal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dynamics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biologically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realistic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not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isolated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networks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 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718AE01-8ABC-F42D-5729-84D0AEBEB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64" y="3716583"/>
            <a:ext cx="6530917" cy="278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228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6FCD-F6F4-8EBA-27B1-887CC9E76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170" y="1303347"/>
            <a:ext cx="6638290" cy="47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30372F5-DE2C-AFB5-98EB-BD5EAF8304CE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C07ACE5-0976-DB87-420B-8C84A396E7B7}"/>
              </a:ext>
            </a:extLst>
          </p:cNvPr>
          <p:cNvSpPr txBox="1"/>
          <p:nvPr/>
        </p:nvSpPr>
        <p:spPr>
          <a:xfrm>
            <a:off x="7231380" y="5648375"/>
            <a:ext cx="41833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Ji-An, L., Benna, M.K. &amp; Mattar, M.G. </a:t>
            </a:r>
            <a:r>
              <a:rPr lang="de-DE" sz="1000" dirty="0"/>
              <a:t>(2025)</a:t>
            </a:r>
            <a:r>
              <a:rPr lang="en-US" sz="1000" dirty="0"/>
              <a:t> </a:t>
            </a:r>
            <a:r>
              <a:rPr lang="en-US" sz="1000" i="1" dirty="0"/>
              <a:t>Discovering cognitive strategies with tiny recurrent neural networks. </a:t>
            </a:r>
            <a:r>
              <a:rPr lang="de-DE" sz="1000" dirty="0"/>
              <a:t>Nature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5A212BB-54D8-918D-0CEC-DA09E562A53C}"/>
              </a:ext>
            </a:extLst>
          </p:cNvPr>
          <p:cNvSpPr txBox="1"/>
          <p:nvPr/>
        </p:nvSpPr>
        <p:spPr>
          <a:xfrm>
            <a:off x="7987027" y="1563090"/>
            <a:ext cx="3804198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Tiny RNNs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complex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while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remaining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interpretable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20C7439-ADD5-C21E-ACD1-57E462A5BD40}"/>
              </a:ext>
            </a:extLst>
          </p:cNvPr>
          <p:cNvSpPr/>
          <p:nvPr/>
        </p:nvSpPr>
        <p:spPr>
          <a:xfrm>
            <a:off x="2902856" y="1173481"/>
            <a:ext cx="1585323" cy="2255520"/>
          </a:xfrm>
          <a:prstGeom prst="rect">
            <a:avLst/>
          </a:prstGeom>
          <a:noFill/>
          <a:ln w="76200"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3CBE251-C178-E26F-8CB2-399191E8E251}"/>
              </a:ext>
            </a:extLst>
          </p:cNvPr>
          <p:cNvSpPr/>
          <p:nvPr/>
        </p:nvSpPr>
        <p:spPr>
          <a:xfrm>
            <a:off x="2727596" y="5128259"/>
            <a:ext cx="1585323" cy="1065479"/>
          </a:xfrm>
          <a:prstGeom prst="rect">
            <a:avLst/>
          </a:prstGeom>
          <a:noFill/>
          <a:ln w="76200"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511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CD7-0515-87E1-F879-D8E6F1159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63BA22-3FDA-DC93-623E-40789EA53C10}"/>
              </a:ext>
            </a:extLst>
          </p:cNvPr>
          <p:cNvSpPr txBox="1"/>
          <p:nvPr/>
        </p:nvSpPr>
        <p:spPr>
          <a:xfrm>
            <a:off x="2667000" y="2397948"/>
            <a:ext cx="6858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/>
              <a:t>Can minimal </a:t>
            </a:r>
            <a:r>
              <a:rPr lang="de-DE" sz="3200" dirty="0" err="1"/>
              <a:t>embedded</a:t>
            </a:r>
            <a:r>
              <a:rPr lang="de-DE" sz="3200" dirty="0"/>
              <a:t> </a:t>
            </a:r>
            <a:r>
              <a:rPr lang="de-DE" sz="3200" dirty="0" err="1"/>
              <a:t>networks</a:t>
            </a:r>
            <a:r>
              <a:rPr lang="de-DE" sz="3200" dirty="0"/>
              <a:t> </a:t>
            </a:r>
            <a:r>
              <a:rPr lang="de-DE" sz="3200" dirty="0" err="1"/>
              <a:t>evolve</a:t>
            </a:r>
            <a:r>
              <a:rPr lang="de-DE" sz="3200" dirty="0"/>
              <a:t> internal </a:t>
            </a:r>
            <a:r>
              <a:rPr lang="de-DE" sz="3200" dirty="0" err="1"/>
              <a:t>dynamics</a:t>
            </a:r>
            <a:r>
              <a:rPr lang="de-DE" sz="3200" dirty="0"/>
              <a:t> </a:t>
            </a:r>
            <a:r>
              <a:rPr lang="de-DE" sz="3200" dirty="0" err="1"/>
              <a:t>that</a:t>
            </a:r>
            <a:r>
              <a:rPr lang="de-DE" sz="3200" dirty="0"/>
              <a:t> support </a:t>
            </a:r>
            <a:r>
              <a:rPr lang="de-DE" sz="3200" dirty="0" err="1"/>
              <a:t>adaptation</a:t>
            </a:r>
            <a:r>
              <a:rPr lang="de-DE" sz="3200" dirty="0"/>
              <a:t> </a:t>
            </a:r>
            <a:r>
              <a:rPr lang="de-DE" sz="3200" dirty="0" err="1"/>
              <a:t>to</a:t>
            </a:r>
            <a:r>
              <a:rPr lang="de-DE" sz="3200" dirty="0"/>
              <a:t> </a:t>
            </a:r>
            <a:r>
              <a:rPr lang="de-DE" sz="3200" dirty="0" err="1"/>
              <a:t>changing</a:t>
            </a:r>
            <a:r>
              <a:rPr lang="de-DE" sz="3200" dirty="0"/>
              <a:t> </a:t>
            </a:r>
            <a:r>
              <a:rPr lang="de-DE" sz="3200" dirty="0" err="1"/>
              <a:t>task</a:t>
            </a:r>
            <a:r>
              <a:rPr lang="de-DE" sz="3200" dirty="0"/>
              <a:t> </a:t>
            </a:r>
            <a:r>
              <a:rPr lang="de-DE" sz="3200" dirty="0" err="1"/>
              <a:t>rules</a:t>
            </a:r>
            <a:r>
              <a:rPr lang="de-DE" sz="32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0AF1FD7-937C-CB55-1139-4C0AEA462B49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OUR QUESTION</a:t>
            </a:r>
          </a:p>
        </p:txBody>
      </p:sp>
    </p:spTree>
    <p:extLst>
      <p:ext uri="{BB962C8B-B14F-4D97-AF65-F5344CB8AC3E}">
        <p14:creationId xmlns:p14="http://schemas.microsoft.com/office/powerpoint/2010/main" val="3529437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E9D00-F8AE-F935-7DBA-7185ABE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C52EB998-07DE-5005-CD98-5C727A8CE31B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435200-B34E-98F6-61A3-B2706F6E841F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Embedded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14" name="Grafik 13" descr="https://www.science.org/cms/10.1126/science.adp7478/asset/7e30f92a-0dc5-4cde-8cfe-c1993b7dd44f/assets/images/large/science.adp7478-f1.jpg">
            <a:extLst>
              <a:ext uri="{FF2B5EF4-FFF2-40B4-BE49-F238E27FC236}">
                <a16:creationId xmlns:a16="http://schemas.microsoft.com/office/drawing/2014/main" id="{2A95D4D0-1C61-98C2-1C71-BE66C39D6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00" y="1105364"/>
            <a:ext cx="9501800" cy="5247661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AECB09CD-AD64-21C9-47D4-74E15A40E590}"/>
              </a:ext>
            </a:extLst>
          </p:cNvPr>
          <p:cNvSpPr txBox="1"/>
          <p:nvPr/>
        </p:nvSpPr>
        <p:spPr>
          <a:xfrm>
            <a:off x="5667462" y="6348649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997956D-244F-9A34-30D2-9A03B24404A2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b="1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375F5D39-511A-B0F4-E1C4-467BD3BD1499}"/>
              </a:ext>
            </a:extLst>
          </p:cNvPr>
          <p:cNvSpPr/>
          <p:nvPr/>
        </p:nvSpPr>
        <p:spPr>
          <a:xfrm>
            <a:off x="1345100" y="1090513"/>
            <a:ext cx="6232650" cy="5258135"/>
          </a:xfrm>
          <a:custGeom>
            <a:avLst/>
            <a:gdLst>
              <a:gd name="csX0" fmla="*/ 0 w 6232650"/>
              <a:gd name="csY0" fmla="*/ 0 h 5190786"/>
              <a:gd name="csX1" fmla="*/ 6232650 w 6232650"/>
              <a:gd name="csY1" fmla="*/ 0 h 5190786"/>
              <a:gd name="csX2" fmla="*/ 6232650 w 6232650"/>
              <a:gd name="csY2" fmla="*/ 1693980 h 5190786"/>
              <a:gd name="csX3" fmla="*/ 3969284 w 6232650"/>
              <a:gd name="csY3" fmla="*/ 1693980 h 5190786"/>
              <a:gd name="csX4" fmla="*/ 3969284 w 6232650"/>
              <a:gd name="csY4" fmla="*/ 5190786 h 5190786"/>
              <a:gd name="csX5" fmla="*/ 0 w 6232650"/>
              <a:gd name="csY5" fmla="*/ 5190786 h 5190786"/>
              <a:gd name="csX6" fmla="*/ 0 w 6232650"/>
              <a:gd name="csY6" fmla="*/ 1693980 h 5190786"/>
              <a:gd name="csX7" fmla="*/ 0 w 6232650"/>
              <a:gd name="csY7" fmla="*/ 1558177 h 51907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232650" h="5190786">
                <a:moveTo>
                  <a:pt x="0" y="0"/>
                </a:moveTo>
                <a:lnTo>
                  <a:pt x="6232650" y="0"/>
                </a:lnTo>
                <a:lnTo>
                  <a:pt x="6232650" y="1693980"/>
                </a:lnTo>
                <a:lnTo>
                  <a:pt x="3969284" y="1693980"/>
                </a:lnTo>
                <a:lnTo>
                  <a:pt x="3969284" y="5190786"/>
                </a:lnTo>
                <a:lnTo>
                  <a:pt x="0" y="5190786"/>
                </a:lnTo>
                <a:lnTo>
                  <a:pt x="0" y="1693980"/>
                </a:lnTo>
                <a:lnTo>
                  <a:pt x="0" y="15581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2A21DD3F-2C59-AA84-E085-C709ACACF968}"/>
              </a:ext>
            </a:extLst>
          </p:cNvPr>
          <p:cNvSpPr/>
          <p:nvPr/>
        </p:nvSpPr>
        <p:spPr>
          <a:xfrm flipV="1">
            <a:off x="5007469" y="2548741"/>
            <a:ext cx="4797823" cy="4133999"/>
          </a:xfrm>
          <a:prstGeom prst="arc">
            <a:avLst>
              <a:gd name="adj1" fmla="val 10922231"/>
              <a:gd name="adj2" fmla="val 0"/>
            </a:avLst>
          </a:prstGeom>
          <a:noFill/>
          <a:ln w="304800">
            <a:solidFill>
              <a:srgbClr val="00336E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8E3B4250-0E79-D5A7-DD40-06A9DEC24226}"/>
              </a:ext>
            </a:extLst>
          </p:cNvPr>
          <p:cNvSpPr/>
          <p:nvPr/>
        </p:nvSpPr>
        <p:spPr>
          <a:xfrm flipH="1">
            <a:off x="5016734" y="2446020"/>
            <a:ext cx="4797823" cy="4133999"/>
          </a:xfrm>
          <a:prstGeom prst="arc">
            <a:avLst>
              <a:gd name="adj1" fmla="val 10922231"/>
              <a:gd name="adj2" fmla="val 0"/>
            </a:avLst>
          </a:prstGeom>
          <a:noFill/>
          <a:ln w="304800">
            <a:solidFill>
              <a:srgbClr val="00336E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F5215AD-25A0-C6AC-71ED-D0B31570EEE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A9E31A5-CBC2-E0AB-4E48-70443CBCCA6C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50986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" grpId="0"/>
      <p:bldP spid="15" grpId="0" animBg="1"/>
      <p:bldP spid="4" grpId="0" animBg="1"/>
      <p:bldP spid="4" grpId="1" animBg="1"/>
      <p:bldP spid="6" grpId="0" animBg="1"/>
      <p:bldP spid="6" grpId="1" animBg="1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745B-74BD-769E-7C5B-9D67B90F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C47A53C-4E65-0726-4E24-1CEB5ADAC8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36" y="1420324"/>
            <a:ext cx="9966927" cy="487183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F829D51-74B9-043F-DE5C-2B891B9E7320}"/>
              </a:ext>
            </a:extLst>
          </p:cNvPr>
          <p:cNvSpPr txBox="1"/>
          <p:nvPr/>
        </p:nvSpPr>
        <p:spPr>
          <a:xfrm>
            <a:off x="5060887" y="6292157"/>
            <a:ext cx="66905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Doncieux</a:t>
            </a:r>
            <a:r>
              <a:rPr lang="de-DE" sz="1000" dirty="0"/>
              <a:t> S, </a:t>
            </a:r>
            <a:r>
              <a:rPr lang="de-DE" sz="1000" dirty="0" err="1"/>
              <a:t>Bredeche</a:t>
            </a:r>
            <a:r>
              <a:rPr lang="de-DE" sz="1000" dirty="0"/>
              <a:t> N, Mouret J-B and Eiben AEG (2015) </a:t>
            </a:r>
            <a:r>
              <a:rPr lang="de-DE" sz="1000" i="1" dirty="0" err="1"/>
              <a:t>Evolutionary</a:t>
            </a:r>
            <a:r>
              <a:rPr lang="de-DE" sz="1000" i="1" dirty="0"/>
              <a:t> Robotics: </a:t>
            </a:r>
            <a:r>
              <a:rPr lang="de-DE" sz="1000" i="1" dirty="0" err="1"/>
              <a:t>What</a:t>
            </a:r>
            <a:r>
              <a:rPr lang="de-DE" sz="1000" i="1" dirty="0"/>
              <a:t>, Why, and </a:t>
            </a:r>
            <a:r>
              <a:rPr lang="de-DE" sz="1000" i="1" dirty="0" err="1"/>
              <a:t>Where</a:t>
            </a:r>
            <a:r>
              <a:rPr lang="de-DE" sz="1000" i="1" dirty="0"/>
              <a:t> </a:t>
            </a:r>
            <a:r>
              <a:rPr lang="de-DE" sz="1000" i="1" dirty="0" err="1"/>
              <a:t>to</a:t>
            </a:r>
            <a:r>
              <a:rPr lang="de-DE" sz="1000" i="1" dirty="0"/>
              <a:t>. </a:t>
            </a:r>
            <a:r>
              <a:rPr lang="de-DE" sz="1000" dirty="0"/>
              <a:t>Front. Robot. AI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3E149A-B5AB-0CE3-95D8-F84FE32DF0E9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8A17B56-A352-9D7C-C645-EAE7A279F560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2A490E3-0F45-7188-A74E-3210AC18CEB4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9909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616D-9FE5-AE7E-F2AB-CA3270F6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D522D7BF-ABB2-6CD2-1CDB-5427412F8ED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7224D6B-CAA5-5507-3492-8DD7521A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" y="1349721"/>
            <a:ext cx="6955333" cy="415855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5DF840-9422-8BA2-331C-7F1C46F6EEA1}"/>
              </a:ext>
            </a:extLst>
          </p:cNvPr>
          <p:cNvSpPr txBox="1"/>
          <p:nvPr/>
        </p:nvSpPr>
        <p:spPr>
          <a:xfrm>
            <a:off x="57350" y="5584270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943B92-50F8-7F83-2D47-35001C9577F0}"/>
              </a:ext>
            </a:extLst>
          </p:cNvPr>
          <p:cNvSpPr txBox="1"/>
          <p:nvPr/>
        </p:nvSpPr>
        <p:spPr>
          <a:xfrm>
            <a:off x="7180097" y="5507325"/>
            <a:ext cx="47833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Jiang, WC., </a:t>
            </a:r>
            <a:r>
              <a:rPr lang="de-DE" sz="1000" dirty="0" err="1"/>
              <a:t>Xu</a:t>
            </a:r>
            <a:r>
              <a:rPr lang="de-DE" sz="1000" dirty="0"/>
              <a:t>, S. &amp; Dudman, J.T. (2022) </a:t>
            </a:r>
            <a:r>
              <a:rPr lang="de-DE" sz="1000" i="1" dirty="0"/>
              <a:t>Hippocampal </a:t>
            </a:r>
            <a:r>
              <a:rPr lang="de-DE" sz="1000" i="1" dirty="0" err="1"/>
              <a:t>representations</a:t>
            </a:r>
            <a:r>
              <a:rPr lang="de-DE" sz="1000" i="1" dirty="0"/>
              <a:t>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foraging</a:t>
            </a:r>
            <a:r>
              <a:rPr lang="de-DE" sz="1000" i="1" dirty="0"/>
              <a:t> </a:t>
            </a:r>
            <a:r>
              <a:rPr lang="de-DE" sz="1000" i="1" dirty="0" err="1"/>
              <a:t>trajectories</a:t>
            </a:r>
            <a:r>
              <a:rPr lang="de-DE" sz="1000" i="1" dirty="0"/>
              <a:t> </a:t>
            </a:r>
            <a:r>
              <a:rPr lang="de-DE" sz="1000" i="1" dirty="0" err="1"/>
              <a:t>depend</a:t>
            </a:r>
            <a:r>
              <a:rPr lang="de-DE" sz="1000" i="1" dirty="0"/>
              <a:t> upon </a:t>
            </a:r>
            <a:r>
              <a:rPr lang="de-DE" sz="1000" i="1" dirty="0" err="1"/>
              <a:t>spatial</a:t>
            </a:r>
            <a:r>
              <a:rPr lang="de-DE" sz="1000" i="1" dirty="0"/>
              <a:t> </a:t>
            </a:r>
            <a:r>
              <a:rPr lang="de-DE" sz="1000" i="1" dirty="0" err="1"/>
              <a:t>context</a:t>
            </a:r>
            <a:r>
              <a:rPr lang="de-DE" sz="1000" i="1" dirty="0"/>
              <a:t>. </a:t>
            </a:r>
            <a:r>
              <a:rPr lang="de-DE" sz="1000" dirty="0"/>
              <a:t>Nat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D82E11A-6EF5-BB94-CCA8-3FF91BCD749F}"/>
              </a:ext>
            </a:extLst>
          </p:cNvPr>
          <p:cNvGrpSpPr/>
          <p:nvPr/>
        </p:nvGrpSpPr>
        <p:grpSpPr>
          <a:xfrm>
            <a:off x="7180097" y="1349720"/>
            <a:ext cx="5011903" cy="4158557"/>
            <a:chOff x="7180097" y="1349720"/>
            <a:chExt cx="5011903" cy="4158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C37FCF53-7D1F-656D-192D-A46F1480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097" y="1349720"/>
              <a:ext cx="5011903" cy="4158557"/>
            </a:xfrm>
            <a:prstGeom prst="rect">
              <a:avLst/>
            </a:prstGeom>
          </p:spPr>
        </p:pic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BCD14306-B807-43E0-9FCC-550E1274D6C3}"/>
                </a:ext>
              </a:extLst>
            </p:cNvPr>
            <p:cNvSpPr/>
            <p:nvPr/>
          </p:nvSpPr>
          <p:spPr>
            <a:xfrm>
              <a:off x="11856720" y="1349721"/>
              <a:ext cx="312420" cy="20792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30DFCA77-CB03-A12B-0098-9EC82565E7D5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FFF224-E14B-44C9-8D7F-D08586E7C14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1520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F827-1CE2-1688-D9BC-3D583D355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552BEF9-D46B-20A7-F18C-B6B4067944E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047D47C-4BED-84AB-5DE5-B2E6D167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11" y="1027508"/>
            <a:ext cx="4719789" cy="47197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3AC85F2-7193-28AC-3DDA-C20ED38B5D57}"/>
              </a:ext>
            </a:extLst>
          </p:cNvPr>
          <p:cNvSpPr txBox="1"/>
          <p:nvPr/>
        </p:nvSpPr>
        <p:spPr>
          <a:xfrm>
            <a:off x="5667462" y="1759473"/>
            <a:ext cx="5674176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 poison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Sensory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input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: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+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current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field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Output: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movement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+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stay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signal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forage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Task: 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Metabolic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+ Movement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energy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refill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A042E3D4-6634-DF9F-0596-682FEBB84128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396A18A-E1F0-AE53-C981-A2C7B6F0067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87903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D8B7-F7A5-78D7-A829-584FE45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7CD38AB6-792C-918F-99CD-D561EA60AB07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8FB2912-22DB-5331-3D79-8D9F4189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60" y="1120222"/>
            <a:ext cx="11586056" cy="446142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1F9B94B-E0E8-D3DE-90AE-DED58B2244DF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B74233C4-3139-EB54-35E9-FAB929DF864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FA8E58-CD21-EE8F-D084-4FB1D2F3450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83998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E3D-D935-F3AE-51B0-29D4CC4A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D990FBD-5D9E-6221-3B24-995E5137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pic>
        <p:nvPicPr>
          <p:cNvPr id="8" name="Grafik 7" descr="Recurrent Neural Network">
            <a:extLst>
              <a:ext uri="{FF2B5EF4-FFF2-40B4-BE49-F238E27FC236}">
                <a16:creationId xmlns:a16="http://schemas.microsoft.com/office/drawing/2014/main" id="{15F6E816-F0C4-F4B0-D608-091F091C9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120222"/>
            <a:ext cx="6035635" cy="44677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3F4250B-B81F-29FB-7422-B2232C50DD9D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372F6B6-F14D-8D59-207B-B24ECCEEA728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B1A7DD2-78F4-B1A5-3435-9E35C0211D24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F2C1B6-21AD-7CFA-0250-7D38EA2BB1BD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68410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490C3-2292-F4D9-F2DF-229229EE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B82A7626-6351-79D1-957D-C9728470771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Unstructured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Neuronal Networks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2BB333-9D09-648A-C794-CDD70663B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535D4A9-7CF0-A16D-81C8-B762BA74163A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9F73504-F8CF-6130-7705-14503768F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296" y="1203595"/>
            <a:ext cx="6214629" cy="44155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95F4664-A0AD-6A0B-421B-594063C63F72}"/>
              </a:ext>
            </a:extLst>
          </p:cNvPr>
          <p:cNvSpPr txBox="1"/>
          <p:nvPr/>
        </p:nvSpPr>
        <p:spPr>
          <a:xfrm>
            <a:off x="5377295" y="5614667"/>
            <a:ext cx="6214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A. Pathak, S.N. Menon, &amp; S. Sinha (2024) </a:t>
            </a:r>
            <a:r>
              <a:rPr lang="de-DE" sz="1000" i="1" dirty="0"/>
              <a:t>A </a:t>
            </a:r>
            <a:r>
              <a:rPr lang="de-DE" sz="1000" i="1" dirty="0" err="1"/>
              <a:t>hierarchy</a:t>
            </a:r>
            <a:r>
              <a:rPr lang="de-DE" sz="1000" i="1" dirty="0"/>
              <a:t> </a:t>
            </a:r>
            <a:r>
              <a:rPr lang="de-DE" sz="1000" i="1" dirty="0" err="1"/>
              <a:t>index</a:t>
            </a:r>
            <a:r>
              <a:rPr lang="de-DE" sz="1000" i="1" dirty="0"/>
              <a:t> </a:t>
            </a:r>
            <a:r>
              <a:rPr lang="de-DE" sz="1000" i="1" dirty="0" err="1"/>
              <a:t>for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in </a:t>
            </a:r>
            <a:r>
              <a:rPr lang="de-DE" sz="1000" i="1" dirty="0" err="1"/>
              <a:t>the</a:t>
            </a:r>
            <a:r>
              <a:rPr lang="de-DE" sz="1000" i="1" dirty="0"/>
              <a:t> </a:t>
            </a:r>
            <a:r>
              <a:rPr lang="de-DE" sz="1000" i="1" dirty="0" err="1"/>
              <a:t>brain</a:t>
            </a:r>
            <a:r>
              <a:rPr lang="de-DE" sz="1000" i="1" dirty="0"/>
              <a:t> </a:t>
            </a:r>
            <a:r>
              <a:rPr lang="de-DE" sz="1000" i="1" dirty="0" err="1"/>
              <a:t>reveals</a:t>
            </a:r>
            <a:r>
              <a:rPr lang="de-DE" sz="1000" i="1" dirty="0"/>
              <a:t> a </a:t>
            </a:r>
            <a:r>
              <a:rPr lang="de-DE" sz="1000" i="1" dirty="0" err="1"/>
              <a:t>complex</a:t>
            </a:r>
            <a:r>
              <a:rPr lang="de-DE" sz="1000" i="1" dirty="0"/>
              <a:t> </a:t>
            </a:r>
            <a:r>
              <a:rPr lang="de-DE" sz="1000" i="1" dirty="0" err="1"/>
              <a:t>entangled</a:t>
            </a:r>
            <a:r>
              <a:rPr lang="de-DE" sz="1000" i="1" dirty="0"/>
              <a:t> organizational </a:t>
            </a:r>
            <a:r>
              <a:rPr lang="de-DE" sz="1000" i="1" dirty="0" err="1"/>
              <a:t>structure</a:t>
            </a:r>
            <a:r>
              <a:rPr lang="de-DE" sz="1000" dirty="0"/>
              <a:t>, </a:t>
            </a:r>
            <a:r>
              <a:rPr lang="de-DE" sz="1000" dirty="0" err="1"/>
              <a:t>Proc</a:t>
            </a:r>
            <a:r>
              <a:rPr lang="de-DE" sz="1000" dirty="0"/>
              <a:t>. </a:t>
            </a:r>
            <a:r>
              <a:rPr lang="de-DE" sz="1000" dirty="0" err="1"/>
              <a:t>Natl</a:t>
            </a:r>
            <a:r>
              <a:rPr lang="de-DE" sz="1000" dirty="0"/>
              <a:t>. Acad. </a:t>
            </a:r>
            <a:r>
              <a:rPr lang="de-DE" sz="1000" dirty="0" err="1"/>
              <a:t>Sci</a:t>
            </a:r>
            <a:r>
              <a:rPr lang="de-DE" sz="1000" dirty="0"/>
              <a:t>. U.S.A.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0C7E1A-61D6-72CD-BAF9-6A050D77C5B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1AEB68F-A693-9B9D-9D07-3EBCCEDF8B4E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17056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23B9-E3A4-D16E-AD8C-DB7298DC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66033CFC-C0CA-82BE-E936-D2235327CACD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8495E11-51A3-6207-EDE3-27C62487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DA2B30D-EF04-2A3E-8BF3-B282C4658F02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32A42F5-0E91-16AC-5BE0-640F889466D9}"/>
              </a:ext>
            </a:extLst>
          </p:cNvPr>
          <p:cNvGrpSpPr/>
          <p:nvPr/>
        </p:nvGrpSpPr>
        <p:grpSpPr>
          <a:xfrm>
            <a:off x="2317288" y="2183655"/>
            <a:ext cx="2281872" cy="2161597"/>
            <a:chOff x="2317288" y="2183655"/>
            <a:chExt cx="2281872" cy="2161597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0915A880-BAEE-857A-AD83-AFD329308A49}"/>
                </a:ext>
              </a:extLst>
            </p:cNvPr>
            <p:cNvSpPr/>
            <p:nvPr/>
          </p:nvSpPr>
          <p:spPr>
            <a:xfrm>
              <a:off x="2317288" y="2823981"/>
              <a:ext cx="217559" cy="204970"/>
            </a:xfrm>
            <a:prstGeom prst="ellipse">
              <a:avLst/>
            </a:prstGeom>
            <a:noFill/>
            <a:ln w="38100"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de-DE" sz="4000" b="1">
                <a:solidFill>
                  <a:schemeClr val="tx1"/>
                </a:solidFill>
              </a:endParaRPr>
            </a:p>
          </p:txBody>
        </p: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4B63C75E-F780-20C9-A2E7-F1EF745EB49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2426068" y="2183655"/>
              <a:ext cx="2098928" cy="640326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49BC4549-4F4A-500A-6065-0D76B9D6A6C5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2426068" y="3028951"/>
              <a:ext cx="2173092" cy="1316301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/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200" b="0" dirty="0"/>
              </a:p>
              <a:p>
                <a:endParaRPr lang="de-DE" sz="3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284920E-FC3D-B0B3-7022-57DD8B0FA18C}"/>
              </a:ext>
            </a:extLst>
          </p:cNvPr>
          <p:cNvGrpSpPr/>
          <p:nvPr/>
        </p:nvGrpSpPr>
        <p:grpSpPr>
          <a:xfrm>
            <a:off x="5186714" y="1724000"/>
            <a:ext cx="5672553" cy="3329138"/>
            <a:chOff x="5186714" y="1724000"/>
            <a:chExt cx="5672553" cy="3329138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4BCB5E33-EF67-ADE9-D129-BD0CB1F235CC}"/>
                </a:ext>
              </a:extLst>
            </p:cNvPr>
            <p:cNvGrpSpPr/>
            <p:nvPr/>
          </p:nvGrpSpPr>
          <p:grpSpPr>
            <a:xfrm>
              <a:off x="5186714" y="1724000"/>
              <a:ext cx="5672553" cy="2820560"/>
              <a:chOff x="5186714" y="1724000"/>
              <a:chExt cx="5672553" cy="2820560"/>
            </a:xfrm>
          </p:grpSpPr>
          <p:grpSp>
            <p:nvGrpSpPr>
              <p:cNvPr id="33" name="Gruppieren 32">
                <a:extLst>
                  <a:ext uri="{FF2B5EF4-FFF2-40B4-BE49-F238E27FC236}">
                    <a16:creationId xmlns:a16="http://schemas.microsoft.com/office/drawing/2014/main" id="{4EDFD337-B00B-8B63-FC6C-45C1FA69DB35}"/>
                  </a:ext>
                </a:extLst>
              </p:cNvPr>
              <p:cNvGrpSpPr/>
              <p:nvPr/>
            </p:nvGrpSpPr>
            <p:grpSpPr>
              <a:xfrm>
                <a:off x="5186714" y="1724000"/>
                <a:ext cx="5672553" cy="459655"/>
                <a:chOff x="5186714" y="1724000"/>
                <a:chExt cx="5672553" cy="459655"/>
              </a:xfrm>
            </p:grpSpPr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ED2C7CD-6FAC-28D7-14F1-48671F23BCF4}"/>
                    </a:ext>
                  </a:extLst>
                </p:cNvPr>
                <p:cNvSpPr txBox="1"/>
                <p:nvPr/>
              </p:nvSpPr>
              <p:spPr>
                <a:xfrm>
                  <a:off x="5186714" y="1906656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Tonic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activation</a:t>
                  </a:r>
                  <a:r>
                    <a:rPr lang="de-DE" sz="1200" b="1" dirty="0">
                      <a:solidFill>
                        <a:srgbClr val="00336E"/>
                      </a:solidFill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bias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B33A397-EA73-06E6-F92E-916FC17E1EED}"/>
                    </a:ext>
                  </a:extLst>
                </p:cNvPr>
                <p:cNvSpPr txBox="1"/>
                <p:nvPr/>
              </p:nvSpPr>
              <p:spPr>
                <a:xfrm>
                  <a:off x="6949440" y="1724000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Weighted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sum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of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inputs</a:t>
                  </a:r>
                  <a:endParaRPr lang="de-DE" sz="1200" b="1" dirty="0">
                    <a:solidFill>
                      <a:srgbClr val="00336E"/>
                    </a:solidFill>
                    <a:ea typeface="Cormorant Garamond" pitchFamily="2" charset="0"/>
                    <a:cs typeface="Cormorant Garamond" pitchFamily="2" charset="0"/>
                  </a:endParaRP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18E8B0EC-94AF-6E2F-71BB-C4360C43C3CE}"/>
                    </a:ext>
                  </a:extLst>
                </p:cNvPr>
                <p:cNvSpPr txBox="1"/>
                <p:nvPr/>
              </p:nvSpPr>
              <p:spPr>
                <a:xfrm>
                  <a:off x="8888427" y="1906656"/>
                  <a:ext cx="197084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Random normal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noise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</p:grpSp>
          <p:grpSp>
            <p:nvGrpSpPr>
              <p:cNvPr id="43" name="Gruppieren 42">
                <a:extLst>
                  <a:ext uri="{FF2B5EF4-FFF2-40B4-BE49-F238E27FC236}">
                    <a16:creationId xmlns:a16="http://schemas.microsoft.com/office/drawing/2014/main" id="{E50F2E35-0FA3-ACFE-EF44-83F9369855F2}"/>
                  </a:ext>
                </a:extLst>
              </p:cNvPr>
              <p:cNvGrpSpPr/>
              <p:nvPr/>
            </p:nvGrpSpPr>
            <p:grpSpPr>
              <a:xfrm>
                <a:off x="5494941" y="4079625"/>
                <a:ext cx="4270991" cy="464935"/>
                <a:chOff x="5494941" y="4079625"/>
                <a:chExt cx="4270991" cy="464935"/>
              </a:xfrm>
            </p:grpSpPr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E67509C-E279-CBCA-1EE4-BB2176591876}"/>
                    </a:ext>
                  </a:extLst>
                </p:cNvPr>
                <p:cNvSpPr txBox="1"/>
                <p:nvPr/>
              </p:nvSpPr>
              <p:spPr>
                <a:xfrm>
                  <a:off x="5494941" y="4267561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Threshold</a:t>
                  </a:r>
                </a:p>
              </p:txBody>
            </p:sp>
            <p:cxnSp>
              <p:nvCxnSpPr>
                <p:cNvPr id="39" name="Gerade Verbindung mit Pfeil 38">
                  <a:extLst>
                    <a:ext uri="{FF2B5EF4-FFF2-40B4-BE49-F238E27FC236}">
                      <a16:creationId xmlns:a16="http://schemas.microsoft.com/office/drawing/2014/main" id="{F75640FB-8BBC-C581-2D6F-694FD8F1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50802" y="4079625"/>
                  <a:ext cx="196576" cy="265627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Gerade Verbindung mit Pfeil 39">
                  <a:extLst>
                    <a:ext uri="{FF2B5EF4-FFF2-40B4-BE49-F238E27FC236}">
                      <a16:creationId xmlns:a16="http://schemas.microsoft.com/office/drawing/2014/main" id="{1F778EDE-FD0C-DF56-6716-BC579DD543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58940" y="4130040"/>
                  <a:ext cx="3006992" cy="276020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2E5E92B3-F14F-D0FA-53ED-4361903B5EC4}"/>
                </a:ext>
              </a:extLst>
            </p:cNvPr>
            <p:cNvSpPr/>
            <p:nvPr/>
          </p:nvSpPr>
          <p:spPr>
            <a:xfrm>
              <a:off x="7142649" y="3687905"/>
              <a:ext cx="2077551" cy="548447"/>
            </a:xfrm>
            <a:prstGeom prst="rect">
              <a:avLst/>
            </a:prstGeom>
            <a:noFill/>
            <a:ln w="57150">
              <a:solidFill>
                <a:srgbClr val="B381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1A2CFFD2-3B55-FAAE-27F9-D2E060614E79}"/>
                </a:ext>
              </a:extLst>
            </p:cNvPr>
            <p:cNvSpPr txBox="1"/>
            <p:nvPr/>
          </p:nvSpPr>
          <p:spPr>
            <a:xfrm>
              <a:off x="6912187" y="4345252"/>
              <a:ext cx="253847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Meaningful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threshold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mapping</a:t>
              </a:r>
              <a:endParaRPr lang="de-DE" sz="2000" b="1" dirty="0">
                <a:solidFill>
                  <a:srgbClr val="B38117"/>
                </a:solidFill>
                <a:ea typeface="Cormorant Garamond" pitchFamily="2" charset="0"/>
                <a:cs typeface="Cormorant Garamond" pitchFamily="2" charset="0"/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30123C6-07BE-0B3C-E2D0-B303AEC4F20F}"/>
              </a:ext>
            </a:extLst>
          </p:cNvPr>
          <p:cNvSpPr txBox="1"/>
          <p:nvPr/>
        </p:nvSpPr>
        <p:spPr>
          <a:xfrm>
            <a:off x="8934451" y="5628739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Candadai</a:t>
            </a:r>
            <a:r>
              <a:rPr lang="de-DE" sz="1000" dirty="0"/>
              <a:t> M. et al. (2020)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78B07249-CD06-6AAD-314E-55F8BA6DF36C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74906E-046E-E5F6-CDB2-EE1B81239C0A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552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2FE6C-99B8-FD9C-3339-90E282BED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A01B4ADF-5A7C-924A-783C-7142458841ED}"/>
              </a:ext>
            </a:extLst>
          </p:cNvPr>
          <p:cNvSpPr txBox="1"/>
          <p:nvPr/>
        </p:nvSpPr>
        <p:spPr>
          <a:xfrm>
            <a:off x="3405088" y="565843"/>
            <a:ext cx="5381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through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training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perturbations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730DD86-8796-B05F-F791-1713C0B23840}"/>
              </a:ext>
            </a:extLst>
          </p:cNvPr>
          <p:cNvSpPr txBox="1"/>
          <p:nvPr/>
        </p:nvSpPr>
        <p:spPr>
          <a:xfrm>
            <a:off x="222408" y="426589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Chaudhury S., Yamasaki, T.  (2020) </a:t>
            </a:r>
            <a:r>
              <a:rPr lang="de-DE" sz="1000" i="1" dirty="0" err="1"/>
              <a:t>Investigating</a:t>
            </a:r>
            <a:r>
              <a:rPr lang="de-DE" sz="1000" i="1" dirty="0"/>
              <a:t> </a:t>
            </a:r>
            <a:r>
              <a:rPr lang="de-DE" sz="1000" i="1" dirty="0" err="1"/>
              <a:t>generalization</a:t>
            </a:r>
            <a:r>
              <a:rPr lang="de-DE" sz="1000" i="1" dirty="0"/>
              <a:t> in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</a:t>
            </a:r>
            <a:r>
              <a:rPr lang="de-DE" sz="1000" i="1" dirty="0" err="1"/>
              <a:t>under</a:t>
            </a:r>
            <a:r>
              <a:rPr lang="de-DE" sz="1000" i="1" dirty="0"/>
              <a:t> </a:t>
            </a:r>
            <a:r>
              <a:rPr lang="de-DE" sz="1000" i="1" dirty="0" err="1"/>
              <a:t>optimally</a:t>
            </a:r>
            <a:r>
              <a:rPr lang="de-DE" sz="1000" i="1" dirty="0"/>
              <a:t> </a:t>
            </a:r>
            <a:r>
              <a:rPr lang="de-DE" sz="1000" i="1" dirty="0" err="1"/>
              <a:t>evolved</a:t>
            </a:r>
            <a:r>
              <a:rPr lang="de-DE" sz="1000" i="1" dirty="0"/>
              <a:t> </a:t>
            </a:r>
            <a:r>
              <a:rPr lang="de-DE" sz="1000" i="1" dirty="0" err="1"/>
              <a:t>training</a:t>
            </a:r>
            <a:r>
              <a:rPr lang="de-DE" sz="1000" i="1" dirty="0"/>
              <a:t> </a:t>
            </a:r>
            <a:r>
              <a:rPr lang="de-DE" sz="1000" i="1" dirty="0" err="1"/>
              <a:t>perturbations</a:t>
            </a:r>
            <a:r>
              <a:rPr lang="de-DE" sz="1000" i="1" dirty="0"/>
              <a:t>. </a:t>
            </a:r>
            <a:r>
              <a:rPr lang="de-DE" sz="1000" dirty="0" err="1"/>
              <a:t>arXiv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E2A2B29E-F89E-2B94-EB7B-D134649B5DE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C267A44-3FCD-9943-C020-AD4E224B621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b="1" dirty="0" err="1"/>
              <a:t>adaptation</a:t>
            </a:r>
            <a:r>
              <a:rPr lang="de-DE" sz="1050" b="1" dirty="0"/>
              <a:t> </a:t>
            </a:r>
            <a:r>
              <a:rPr lang="de-DE" sz="1050" b="1" dirty="0" err="1"/>
              <a:t>to</a:t>
            </a:r>
            <a:r>
              <a:rPr lang="de-DE" sz="1050" b="1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734D234-2127-2CEE-CEE7-838E76F9F002}"/>
              </a:ext>
            </a:extLst>
          </p:cNvPr>
          <p:cNvSpPr txBox="1"/>
          <p:nvPr/>
        </p:nvSpPr>
        <p:spPr>
          <a:xfrm>
            <a:off x="13867366" y="1875235"/>
            <a:ext cx="64103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CHAUDHURY, Subhajit; YAMASAKI, Toshihiko. </a:t>
            </a:r>
            <a:r>
              <a:rPr lang="de-DE" dirty="0" err="1"/>
              <a:t>Investigating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r>
              <a:rPr lang="de-DE" dirty="0"/>
              <a:t> in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optimally</a:t>
            </a:r>
            <a:r>
              <a:rPr lang="de-DE" dirty="0"/>
              <a:t> </a:t>
            </a:r>
            <a:r>
              <a:rPr lang="de-DE" dirty="0" err="1"/>
              <a:t>evolved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perturbations</a:t>
            </a:r>
            <a:r>
              <a:rPr lang="de-DE" dirty="0"/>
              <a:t>. In: </a:t>
            </a:r>
            <a:r>
              <a:rPr lang="de-DE" i="1" dirty="0"/>
              <a:t>ICASSP 2020-2020 IEEE International Conference on Acoustics, Speech and Signal Processing (ICASSP)</a:t>
            </a:r>
            <a:r>
              <a:rPr lang="de-DE" dirty="0"/>
              <a:t>. IEEE, 2020. S. 3617-3612.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9E2E195-4726-D3A9-F2AC-6957A4F4F1D7}"/>
              </a:ext>
            </a:extLst>
          </p:cNvPr>
          <p:cNvSpPr txBox="1"/>
          <p:nvPr/>
        </p:nvSpPr>
        <p:spPr>
          <a:xfrm>
            <a:off x="13867366" y="3942732"/>
            <a:ext cx="6410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JACOBSEN, Jörn-Henrik, et al. </a:t>
            </a:r>
            <a:r>
              <a:rPr lang="de-DE" dirty="0" err="1"/>
              <a:t>Excessive</a:t>
            </a:r>
            <a:r>
              <a:rPr lang="de-DE" dirty="0"/>
              <a:t> </a:t>
            </a:r>
            <a:r>
              <a:rPr lang="de-DE" dirty="0" err="1"/>
              <a:t>invariance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</a:t>
            </a:r>
            <a:r>
              <a:rPr lang="de-DE" dirty="0" err="1"/>
              <a:t>adversarial</a:t>
            </a:r>
            <a:r>
              <a:rPr lang="de-DE" dirty="0"/>
              <a:t> </a:t>
            </a:r>
            <a:r>
              <a:rPr lang="de-DE" dirty="0" err="1"/>
              <a:t>vulnerability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arXiv:1811.00401</a:t>
            </a:r>
            <a:r>
              <a:rPr lang="de-DE" dirty="0"/>
              <a:t>, 2018.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65B01818-98E3-6E6C-F18B-77AACFB0A663}"/>
              </a:ext>
            </a:extLst>
          </p:cNvPr>
          <p:cNvSpPr txBox="1"/>
          <p:nvPr/>
        </p:nvSpPr>
        <p:spPr>
          <a:xfrm>
            <a:off x="13615569" y="5179232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https://proceedings.mlr.press/v97/arora19a.html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AA4CE68-FE01-91DC-93EC-DB0EB587788A}"/>
              </a:ext>
            </a:extLst>
          </p:cNvPr>
          <p:cNvSpPr txBox="1"/>
          <p:nvPr/>
        </p:nvSpPr>
        <p:spPr>
          <a:xfrm>
            <a:off x="14054138" y="6014777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https://arxiv.org/pdf/1802.08760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202AA44-2BC6-B795-1AB1-D84EF29A729F}"/>
              </a:ext>
            </a:extLst>
          </p:cNvPr>
          <p:cNvSpPr txBox="1"/>
          <p:nvPr/>
        </p:nvSpPr>
        <p:spPr>
          <a:xfrm>
            <a:off x="13867366" y="814040"/>
            <a:ext cx="29533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https://www.sciencedirect.com/science/article/pii/S0925231224014723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D2F1412-FEBF-5B86-1E82-504640C1F2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66" r="1479" b="65783"/>
          <a:stretch>
            <a:fillRect/>
          </a:stretch>
        </p:blipFill>
        <p:spPr>
          <a:xfrm>
            <a:off x="222408" y="1535963"/>
            <a:ext cx="4650074" cy="244737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A88D3A9-E540-F7E4-9F97-04E01AF6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19" t="34217" r="1479"/>
          <a:stretch>
            <a:fillRect/>
          </a:stretch>
        </p:blipFill>
        <p:spPr>
          <a:xfrm>
            <a:off x="5589036" y="1535963"/>
            <a:ext cx="5036777" cy="470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298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Static Task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21152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  <a:r>
              <a:rPr lang="en-US" sz="1200" b="1" dirty="0"/>
              <a:t> EA with perturbations</a:t>
            </a:r>
            <a:endParaRPr lang="en-US" sz="1200" b="1" noProof="0" dirty="0"/>
          </a:p>
          <a:p>
            <a:r>
              <a:rPr lang="en-US" sz="1200" dirty="0"/>
              <a:t>Train variants w/ perturbed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CDDE9-4B99-B313-FC64-23DE76F48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6200D9CE-6000-CFDA-BF4A-4F8DB82EEE12}"/>
              </a:ext>
            </a:extLst>
          </p:cNvPr>
          <p:cNvSpPr txBox="1"/>
          <p:nvPr/>
        </p:nvSpPr>
        <p:spPr>
          <a:xfrm>
            <a:off x="370804" y="1692847"/>
            <a:ext cx="328090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travel further from the origin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5CB08CA-8F6C-C492-05D5-9BED14918A41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</a:t>
            </a:r>
            <a:r>
              <a:rPr lang="en-US" sz="800" dirty="0"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≈ 0.000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0.1075 (medium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= 1*10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-50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0.499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p </a:t>
            </a:r>
            <a:r>
              <a:rPr lang="en-US" sz="800" dirty="0"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≈ 0.000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 	r = 0.992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1*10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-159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0.943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A477CB56-F876-0545-12BF-C3EB299DA9CE}"/>
              </a:ext>
            </a:extLst>
          </p:cNvPr>
          <p:cNvGrpSpPr/>
          <p:nvPr/>
        </p:nvGrpSpPr>
        <p:grpSpPr>
          <a:xfrm>
            <a:off x="5795963" y="1196059"/>
            <a:ext cx="4205287" cy="429366"/>
            <a:chOff x="5795963" y="1196059"/>
            <a:chExt cx="4205287" cy="429366"/>
          </a:xfrm>
        </p:grpSpPr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E4BE1CCE-897F-9F8E-E917-C9269294C9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153888"/>
              <a:chOff x="5795963" y="1196059"/>
              <a:chExt cx="4205287" cy="153888"/>
            </a:xfrm>
          </p:grpSpPr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BC5A095B-8B30-F80A-7F7A-A4D11CFC3C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95963" y="1295998"/>
                <a:ext cx="42052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diamond" w="sm" len="sm"/>
                <a:tailEnd type="diamond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69EB45C-1DA3-11ED-0FE0-EDD24F306C44}"/>
                  </a:ext>
                </a:extLst>
              </p:cNvPr>
              <p:cNvSpPr txBox="1"/>
              <p:nvPr/>
            </p:nvSpPr>
            <p:spPr>
              <a:xfrm>
                <a:off x="7770366" y="1196059"/>
                <a:ext cx="256480" cy="1538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spAutoFit/>
              </a:bodyPr>
              <a:lstStyle/>
              <a:p>
                <a:r>
                  <a:rPr lang="de-DE" sz="1000" dirty="0">
                    <a:latin typeface="+mj-lt"/>
                    <a:ea typeface="Cormorant Garamond" pitchFamily="2" charset="0"/>
                    <a:cs typeface="Cormorant Garamond" pitchFamily="2" charset="0"/>
                  </a:rPr>
                  <a:t>****</a:t>
                </a:r>
              </a:p>
            </p:txBody>
          </p:sp>
        </p:grp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B609BFDC-BCB1-F376-28A3-83498040E050}"/>
                </a:ext>
              </a:extLst>
            </p:cNvPr>
            <p:cNvGrpSpPr/>
            <p:nvPr/>
          </p:nvGrpSpPr>
          <p:grpSpPr>
            <a:xfrm>
              <a:off x="5795963" y="1471537"/>
              <a:ext cx="2095500" cy="153888"/>
              <a:chOff x="5795963" y="1471537"/>
              <a:chExt cx="2095500" cy="153888"/>
            </a:xfrm>
          </p:grpSpPr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852F184A-8625-3426-FA3A-BA0072A3586C}"/>
                  </a:ext>
                </a:extLst>
              </p:cNvPr>
              <p:cNvCxnSpPr/>
              <p:nvPr/>
            </p:nvCxnSpPr>
            <p:spPr>
              <a:xfrm>
                <a:off x="5795963" y="1567797"/>
                <a:ext cx="20955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diamond" w="sm" len="sm"/>
                <a:tailEnd type="diamond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18924662-55AE-0F0B-D309-D486C80692E4}"/>
                  </a:ext>
                </a:extLst>
              </p:cNvPr>
              <p:cNvSpPr txBox="1"/>
              <p:nvPr/>
            </p:nvSpPr>
            <p:spPr>
              <a:xfrm>
                <a:off x="6715473" y="1471537"/>
                <a:ext cx="256480" cy="1538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1000" dirty="0">
                    <a:latin typeface="+mj-lt"/>
                    <a:ea typeface="Cormorant Garamond" pitchFamily="2" charset="0"/>
                    <a:cs typeface="Cormorant Garamond" pitchFamily="2" charset="0"/>
                  </a:rPr>
                  <a:t>****</a:t>
                </a:r>
              </a:p>
            </p:txBody>
          </p: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92FB62A0-7A3F-3792-8026-B2E6E49A6D30}"/>
                </a:ext>
              </a:extLst>
            </p:cNvPr>
            <p:cNvGrpSpPr/>
            <p:nvPr/>
          </p:nvGrpSpPr>
          <p:grpSpPr>
            <a:xfrm>
              <a:off x="7891463" y="1327944"/>
              <a:ext cx="2109787" cy="153888"/>
              <a:chOff x="7891463" y="1327944"/>
              <a:chExt cx="2109787" cy="153888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DC06A6-9C2D-B35D-A5A8-80776AED7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1463" y="1432903"/>
                <a:ext cx="21097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diamond" w="sm" len="sm"/>
                <a:tailEnd type="diamond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D8696E3F-4D8D-F539-ED2B-918175E00FF1}"/>
                  </a:ext>
                </a:extLst>
              </p:cNvPr>
              <p:cNvSpPr txBox="1"/>
              <p:nvPr/>
            </p:nvSpPr>
            <p:spPr>
              <a:xfrm>
                <a:off x="8818116" y="1327944"/>
                <a:ext cx="256480" cy="1538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1000" dirty="0">
                    <a:latin typeface="+mj-lt"/>
                    <a:ea typeface="Cormorant Garamond" pitchFamily="2" charset="0"/>
                    <a:cs typeface="Cormorant Garamond" pitchFamily="2" charset="0"/>
                  </a:rPr>
                  <a:t>****</a:t>
                </a:r>
              </a:p>
            </p:txBody>
          </p: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54C2E03E-FEB7-0F06-9969-2FB8F92CE33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E8822DB-C0EF-8413-826D-1B40100BA012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CB7B7B1-DA3E-3A98-B08D-E5AEFA9FFFE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pic>
        <p:nvPicPr>
          <p:cNvPr id="7" name="Picture 37">
            <a:extLst>
              <a:ext uri="{FF2B5EF4-FFF2-40B4-BE49-F238E27FC236}">
                <a16:creationId xmlns:a16="http://schemas.microsoft.com/office/drawing/2014/main" id="{39D5D0A0-7C48-5A77-66E9-36500D222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74" y="740807"/>
            <a:ext cx="6950000" cy="486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22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3739F-C52D-5ACD-EE25-00B606AD1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075424F-F55C-1AA8-5BA8-9E4DDDBC8C6B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9CFC06C4-05F9-6B35-4BB1-9F1BEB5DFCD5}"/>
              </a:ext>
            </a:extLst>
          </p:cNvPr>
          <p:cNvSpPr txBox="1"/>
          <p:nvPr/>
        </p:nvSpPr>
        <p:spPr>
          <a:xfrm>
            <a:off x="673504" y="2411400"/>
            <a:ext cx="17198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Static Task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860562A7-C725-331F-5259-54373967DA4E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B628473-282C-D638-84C8-A382E255A767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DD7D01B1-C841-1040-DB12-3A63127B1C2E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1DAFA02B-2DCE-53E3-56E6-5D258DA9DED8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BFEC1CA-FEEF-2C94-1AE7-F4A0CBBCD4E0}"/>
              </a:ext>
            </a:extLst>
          </p:cNvPr>
          <p:cNvSpPr txBox="1"/>
          <p:nvPr/>
        </p:nvSpPr>
        <p:spPr>
          <a:xfrm>
            <a:off x="3715226" y="2411399"/>
            <a:ext cx="21152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  <a:r>
              <a:rPr lang="en-US" sz="1200" b="1" dirty="0"/>
              <a:t> EA with perturbations</a:t>
            </a:r>
            <a:endParaRPr lang="en-US" sz="1200" b="1" noProof="0" dirty="0"/>
          </a:p>
          <a:p>
            <a:r>
              <a:rPr lang="en-US" sz="1200" dirty="0"/>
              <a:t>Train variants w/ perturbed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DB08A17-6CA7-E3CA-4485-4675E4FED6A5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8CB49FE-6B81-DE8D-373B-25A41B8DD0C0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E24603B-5EAC-7C3B-5177-39DD39FB1034}"/>
              </a:ext>
            </a:extLst>
          </p:cNvPr>
          <p:cNvSpPr/>
          <p:nvPr/>
        </p:nvSpPr>
        <p:spPr>
          <a:xfrm>
            <a:off x="673504" y="2919230"/>
            <a:ext cx="1585323" cy="332715"/>
          </a:xfrm>
          <a:prstGeom prst="rect">
            <a:avLst/>
          </a:prstGeom>
          <a:noFill/>
          <a:ln w="76200"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789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1B94-09CE-8202-3AD9-6F33BFA2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8400048-3E07-99E7-8E96-28D1B92DAE67}"/>
              </a:ext>
            </a:extLst>
          </p:cNvPr>
          <p:cNvSpPr txBox="1"/>
          <p:nvPr/>
        </p:nvSpPr>
        <p:spPr>
          <a:xfrm>
            <a:off x="1377492" y="1802031"/>
            <a:ext cx="1046525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Big </a:t>
            </a:r>
            <a:r>
              <a:rPr lang="de-DE" sz="2400" dirty="0" err="1"/>
              <a:t>thank</a:t>
            </a:r>
            <a:r>
              <a:rPr lang="de-DE" sz="2400" dirty="0"/>
              <a:t> </a:t>
            </a:r>
            <a:r>
              <a:rPr lang="de-DE" sz="2400" dirty="0" err="1"/>
              <a:t>you</a:t>
            </a:r>
            <a:r>
              <a:rPr lang="de-DE" sz="2400" dirty="0"/>
              <a:t> also </a:t>
            </a:r>
            <a:r>
              <a:rPr lang="de-DE" sz="2400" dirty="0" err="1"/>
              <a:t>to</a:t>
            </a:r>
            <a:r>
              <a:rPr lang="de-DE" sz="2400" dirty="0"/>
              <a:t>:</a:t>
            </a:r>
          </a:p>
          <a:p>
            <a:endParaRPr lang="de-DE" sz="2400" dirty="0"/>
          </a:p>
          <a:p>
            <a:r>
              <a:rPr lang="de-DE" sz="2400" dirty="0"/>
              <a:t>AG Alzheimer</a:t>
            </a:r>
          </a:p>
          <a:p>
            <a:endParaRPr lang="de-DE" sz="2400" dirty="0"/>
          </a:p>
          <a:p>
            <a:r>
              <a:rPr lang="de-DE" sz="2400" dirty="0"/>
              <a:t>Computing power: </a:t>
            </a:r>
          </a:p>
          <a:p>
            <a:r>
              <a:rPr lang="de-DE" sz="2400" dirty="0"/>
              <a:t>AG Huth</a:t>
            </a:r>
          </a:p>
          <a:p>
            <a:endParaRPr lang="de-DE" sz="2400" dirty="0"/>
          </a:p>
          <a:p>
            <a:r>
              <a:rPr lang="de-DE" sz="2400" dirty="0"/>
              <a:t>Brain power:</a:t>
            </a:r>
          </a:p>
          <a:p>
            <a:r>
              <a:rPr lang="de-DE" sz="2400" dirty="0"/>
              <a:t>PD Dr. Dennis </a:t>
            </a:r>
            <a:r>
              <a:rPr lang="de-DE" sz="2400" dirty="0" err="1"/>
              <a:t>Toddenroth</a:t>
            </a:r>
            <a:r>
              <a:rPr lang="de-DE" sz="2400" dirty="0"/>
              <a:t>, Institute </a:t>
            </a:r>
            <a:r>
              <a:rPr lang="de-DE" sz="2400" dirty="0" err="1"/>
              <a:t>of</a:t>
            </a:r>
            <a:r>
              <a:rPr lang="de-DE" sz="2400" dirty="0"/>
              <a:t> Medical Data Science, FAU</a:t>
            </a:r>
          </a:p>
          <a:p>
            <a:r>
              <a:rPr lang="de-DE" sz="2400" dirty="0"/>
              <a:t>Muhammad </a:t>
            </a:r>
            <a:r>
              <a:rPr lang="de-DE" sz="2400" dirty="0" err="1"/>
              <a:t>Shaizal</a:t>
            </a:r>
            <a:r>
              <a:rPr lang="de-DE" sz="2400" dirty="0"/>
              <a:t> Yasin</a:t>
            </a:r>
          </a:p>
          <a:p>
            <a:r>
              <a:rPr lang="de-DE" sz="2400" dirty="0"/>
              <a:t>Metin Eren </a:t>
            </a:r>
            <a:r>
              <a:rPr lang="de-DE" sz="2400" dirty="0" err="1"/>
              <a:t>Heybet</a:t>
            </a:r>
            <a:endParaRPr lang="de-DE" sz="2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B022A2-E892-6127-F0C7-0CCEF7A69F85}"/>
              </a:ext>
            </a:extLst>
          </p:cNvPr>
          <p:cNvSpPr txBox="1"/>
          <p:nvPr/>
        </p:nvSpPr>
        <p:spPr>
          <a:xfrm>
            <a:off x="3280519" y="565843"/>
            <a:ext cx="56309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THANK YOU FOR YOUR TIME AND ATTENTION</a:t>
            </a:r>
          </a:p>
        </p:txBody>
      </p:sp>
    </p:spTree>
    <p:extLst>
      <p:ext uri="{BB962C8B-B14F-4D97-AF65-F5344CB8AC3E}">
        <p14:creationId xmlns:p14="http://schemas.microsoft.com/office/powerpoint/2010/main" val="426014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2037</Words>
  <Application>Microsoft Office PowerPoint</Application>
  <PresentationFormat>Breitbild</PresentationFormat>
  <Paragraphs>196</Paragraphs>
  <Slides>33</Slides>
  <Notes>8</Notes>
  <HiddenSlides>0</HiddenSlides>
  <MMClips>2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33</vt:i4>
      </vt:variant>
    </vt:vector>
  </HeadingPairs>
  <TitlesOfParts>
    <vt:vector size="44" baseType="lpstr">
      <vt:lpstr>MS Mincho</vt:lpstr>
      <vt:lpstr>Aptos</vt:lpstr>
      <vt:lpstr>Arial</vt:lpstr>
      <vt:lpstr>Bell MT</vt:lpstr>
      <vt:lpstr>Calibri</vt:lpstr>
      <vt:lpstr>Cambria Math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95</cp:revision>
  <dcterms:created xsi:type="dcterms:W3CDTF">2026-05-06T11:26:19Z</dcterms:created>
  <dcterms:modified xsi:type="dcterms:W3CDTF">2026-06-29T11:20:05Z</dcterms:modified>
</cp:coreProperties>
</file>